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38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সবাইকে স্বাগত জানান। আজকের বিষয়: পাইথন ফাংশন। শুরুতে প্রশ্ন করুন: "একই কোড বারবার লিখতে হলে তোমরা কী করবে?" উত্তর শুনে ফাংশনের প্রয়োজনীয়তায় যান।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এই অধ্যায়ের ৮টি অংশ দেখান। বলুন, কয়েক ক্লাসে ভাগ করে শেষ করব। শেষে ১৫টি প্রোগ্রাম নিজেরা করবে।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প্রোগ্রাম বড় হলে কোড জটিল হয়। ফাংশন হলো ম্যাজিশিয়ানের ম্যাজিকের মতো: শুধু নাম ধরে কল করলেই কাজ হয়ে যায়। প্রশ্ন: ১০ জায়গায় একই হিসাব লাগলে কী করবে?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ফাংশন হলো একটি নির্দিষ্ট নামের কোড ব্লক যা একটি কাজ করে। উপমা: জুসার মেশিন। ফল দিলে (input) জুস পাওয়া যায় (output)। প্যারামিটার থাকতেও পারে, নাও পারে।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চারটি নিয়ম বোর্ডে লিখে বোঝান। কোলন (:) ও ইনডেন্টেশন ভুলে গেলে error আসে। return না লিখলেও চলে।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কোডের প্রতিটি অংশ আঙুল দিয়ে দেখান। a, b হলো Parameter; 15, 16 হলো Argument। প্রশ্ন: parameter আর argument-এর পার্থক্য কী?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একবার লিখে বহুবার ব্যবহার, এটাই ফাংশনের শক্তি। ক্লাস অ্যাক্টিভিটি: ছাত্রদের নিজের দুটি সংখ্যা দিয়ে কল করতে বলুন।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দুই প্রকার: বিল্ট-ইন (আগে থেকে দেওয়া) ও ইউজার ডিফাইন (আমরা বানাই)। print() বিল্ট-ইন, add_fun() ইউজার ডিফাইন।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প্রতিটি সুবিধা একটি করে বাস্তব উদাহরণ দিয়ে বলুন। পরীক্ষায় এই ৫টি পয়েন্ট আসে।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টেবিলের প্রতিটি সারি পড়ে বোঝান। পরীক্ষায় "পার্থক্য লিখ" প্রশ্ন আসে।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সব ৬৮টি মুখস্থ করাতে হবে না। print, input, int, float, len, max, min, sum, range, type, sorted আগে ব্যবহার করে দেখান।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সব ৬৮টি মুখস্থ করাতে হবে না। print, input, int, float, len, max, min, sum, range, type, sorted আগে ব্যবহার করে দেখান।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সব ৬৮টি মুখস্থ করাতে হবে না। print, input, int, float, len, max, min, sum, range, type, sorted আগে ব্যবহার করে দেখান।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সব ৬৮টি মুখস্থ করাতে হবে না। print, input, int, float, len, max, min, sum, range, type, sorted আগে ব্যবহার করে দেখান।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দুটি উদাহরণ লাইভ টাইপ করে দেখান। দ্বিতীয়টিতে return নেই, শুধু print আছে।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নিয়মগুলো বলুন, তারপর একটি ভুল কোড দেখিয়ে ছাত্রদের ভুল খুঁজতে বলুন (কোলন বাদ দিয়ে)।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প্রথমটিতে welcome() দুইবার কল করায় দুইবার প্রিন্ট। দ্বিতীয়টিতে square(5)+square(5)=25+25=50।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ফাংশন ডিফাইন করলেই চলে না; নাম ধরে কল করতে হয়। কল করলে তবেই ভেতরের স্টেটমেন্ট চলে।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মানে ফাংশন থেকে মান ফেরত পাঠানো। মান না দিলে None রিটার্ন হয়, return আর return None একই।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return-এর পরের লাইন কখনো চলে না। ছাত্রদের জিজ্ঞেস করুন: "This won't be printed" কেন ছাপা হবে না?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ভ্যালু = কপি পাঠানো, মূল ডাটা অপরিবর্তিত। রেফারেন্স = অ্যাড্রেস পাঠানো, ভেতরে পরিবর্তন বাইরেও দেখা যায়। পাইথনে আসলে "pass by object reference"।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পাইথনে দুটো আলাদা নেই; অবজেক্ট রেফারেন্স পাস হয়। Immutable বদলানো যায় না, তাই value-এর মতো; Mutable বদলায়, তাই reference-এর মতো।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append() একই লিস্ট অবজেক্টকে বদলায়, তাই বাইরের mylist-ও বদলে গেছে।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mylist = [1,2,3,4] নতুন লিস্ট তৈরি করে লোকাল নামে বাঁধে, মূল লিস্ট অপরিবর্তিত থাকে। দুই উদাহরণের পার্থক্য ছাত্রদের বলতে বলুন।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পরীক্ষার জন্য টেবিলটি খাতায় তুলতে বলুন।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= ডিফাইনের সময় বন্ধনীর ভেতরের ভেরিয়েবল। Argument = কলের সময় পাঠানো মান। প্যারামিটার ফাংশনের লোকাল ভেরিয়েবলের মতো কাজ করে।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চারটি প্রকার পরপর দেখাব: Required, Keyword, Default, Variable length।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ঠিক ক্রমে ও ঠিক সংখ্যায় দিতে হয়। বাম পাশের কোড চালিয়ে TypeError দেখান, তারপর ডানটি।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নাম দিয়ে মান দিলে ক্রম মানতে হয় না। x=2, z=4, y=3 ক্রম উল্টোপাল্টা হলেও ফল 9।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কল করার সময় মান না দিলে ডিফল্ট মান ব্যবহার হয়। ডিফল্ট প্যারামিটার সবসময় ডানদিকে থাকবে।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*args টাপল হিসেবে, **kwargs ডিকশনারি হিসেবে মান ধরে। নাম args/kwargs না হয়ে অন্য নামও হতে পারে।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পাঁচটি মডিউলের কাজ বলুন। প্রশ্ন: আজকের তারিখ জানতে কোন মডিউল লাগবে?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localtime() দিয়ে struct_time পাওয়া যায়। আউটপুটের তারিখ আপনার কম্পিউটারের সময় অনুযায়ী ভিন্ন হবে।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sleep() ও time() সবচেয়ে বেশি ব্যবহার হয়। time.clock() পাইথন ৩.৮ থেকে বাদ, এখন perf_counter() ব্যবহার করা হয়।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date.today() আজকের তারিখ দেয়। timedelta(days=1) যোগ-বিয়োগ করে গতকাল ও আগামীকাল পাওয়া যায়।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now(), today(), utcnow() তিনটিতে সময়ের পার্থক্য দেখান। utcnow() পাইথন ৩.১২ থেকে deprecated; নতুন কোডে datetime.now(timezone.utc) ভালো।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timedelta দিয়ে দুই সময়ের পার্থক্য ও যোগ-বিয়োগ। tzinfo দিয়ে টাইম জোন, বাংলাদেশ UTC+6।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প্রথমে ছাত্রদের লজিক বলতে বলুন, তারপর কোড লিখুন ও রান করে দেখান। ইনপুট বদলে আবার চালান।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প্রতিটি কার্ডের পয়েন্ট ছাত্রদের দিয়ে বলান। শেষে পরের ক্লাসের জন্য অনুশীলন দিন।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জোড়ায় জোড়ায় ৫ মিনিটে করতে দিন। উত্তর: cube(x) এ return x**3; greet(name="Student"); average(*nums) এ sum(nums)/len(nums)।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97280" cy="10972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155802"/>
            <a:ext cx="614477" cy="61447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1945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</a:t>
            </a:r>
            <a:endParaRPr lang="en-US" sz="1800" dirty="0"/>
          </a:p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অধ্যায়-১: পাইথন ফাংশনস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Application Development Using Python  |  Diploma in Engineering, 3CST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Ruhul Amin  •  Junior Instructor, CST  •  Kushtia Government Polytechnic Institute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Roadmap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এই অধ্যায়ে আমরা কী শিখব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1168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1.0–1.1 Function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ভূমিকা ও ফাংশন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2571750" y="123444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5463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272" y="152796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54630" y="2011680"/>
            <a:ext cx="15673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Library vs User-defined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লাইব্রেরি ও ইউজার ডিফাইন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686300" y="123444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8691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822" y="152796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69180" y="201168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Calling &amp; Return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কল ও রিটার্ন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800850" y="123444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98373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4372" y="152796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83730" y="201168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Pass by Value / Reference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পাস বাই ভ্যালু / রেফারেন্স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457200" y="297180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" y="3265322"/>
            <a:ext cx="281635" cy="28163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" y="374904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Arguments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আরগুমেন্টের প্রকারভেদ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2571750" y="297180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2754630" y="31546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5272" y="3265322"/>
            <a:ext cx="281635" cy="28163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754630" y="374904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Date &amp; Time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তারিখ ও সময় ফাংশন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4686300" y="297180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4869180" y="31546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9822" y="3265322"/>
            <a:ext cx="281635" cy="28163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869180" y="374904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১৫টি প্রোগ্রাম</a:t>
            </a:r>
            <a:endParaRPr lang="en-US" sz="1500" dirty="0"/>
          </a:p>
        </p:txBody>
      </p:sp>
      <p:sp>
        <p:nvSpPr>
          <p:cNvPr id="34" name="Shape 23"/>
          <p:cNvSpPr/>
          <p:nvPr/>
        </p:nvSpPr>
        <p:spPr>
          <a:xfrm>
            <a:off x="6800850" y="2971800"/>
            <a:ext cx="188595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6983730" y="31546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4372" y="3265322"/>
            <a:ext cx="281635" cy="28163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983730" y="3749040"/>
            <a:ext cx="1520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রিক্যাপ ও অনুশীলন</a:t>
            </a:r>
            <a:endParaRPr lang="en-US" sz="15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Introduction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ভূমিকা: ফাংশন কেন দরকার?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371600"/>
            <a:ext cx="2590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66512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1488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একই কোড বারবার ব্যবহার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276600" y="1371600"/>
            <a:ext cx="2590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59480" y="15544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22" y="166512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59480" y="21488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Structure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প্রোগ্রাম গোছানো থাকে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096000" y="1371600"/>
            <a:ext cx="2590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278880" y="155448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522" y="166512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78880" y="21488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সময় বাঁচে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def  =  keyword to declare a function in Python  |  পাইথনে ফাংশন ডিক্লেয়ার করতে def ব্যবহার হয়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What is a Function?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কী?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block of organized, reusable code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নির্দিষ্ট নামের, গোছানো ও পুনঃব্যবহারযোগ্য কোড ব্লক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debugging, testing, maintenance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ডিবাগিং, টেস্টিং, মেইনটেন্যান্স সহজ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() after its name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নামের শেষে এক জোড়া প্রথম বন্ধনী ()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31520" y="3566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প্যারামিটার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651760" y="3840480"/>
            <a:ext cx="731520" cy="365760"/>
          </a:xfrm>
          <a:prstGeom prst="rightArrow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74720" y="3566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347472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Function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394960" y="3840480"/>
            <a:ext cx="731520" cy="365760"/>
          </a:xfrm>
          <a:prstGeom prst="rightArrow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3566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21792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return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Syntax &amp; Rules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তৈরির সিনট্যাক্স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function_name(parameters):</a:t>
            </a:r>
            <a:endParaRPr lang="en-US" sz="14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# function body</a:t>
            </a:r>
            <a:endParaRPr lang="en-US" sz="14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endParaRPr lang="en-US" sz="14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with def keyword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def দিয়ে শুরু করতে হয়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Meaningful name + ( )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অর্থবোধক নাম ও প্যারামিটার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Colon ( : ) after ( )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বন্ধনীর পর কোলন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sends the result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return ফলাফল ফেরত দেয় (ঐচ্ছিক)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31104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08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no return needed if nothing to send back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কিছু রিটার্ন না করলে return না লিখলেও চলে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একটি ফাংশনের গঠন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270744" cy="17373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add_fun(a, b):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c = a + b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c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print("Addition A &amp; B =", add_fun(15, 16))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3200400"/>
            <a:ext cx="4270744" cy="8229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Addition A &amp; B = 31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0" y="128016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6CC"/>
          </a:solidFill>
          <a:ln w="9525">
            <a:solidFill>
              <a:srgbClr val="30699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6636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9"/>
                </a:solidFill>
                <a:latin typeface="Hind Siliguri" panose="02000000000000000000" pitchFamily="2" charset="0"/>
                <a:ea typeface="Calibri" pitchFamily="34" charset="-122"/>
                <a:cs typeface="Hind Siliguri" panose="02000000000000000000" pitchFamily="2" charset="0"/>
              </a:rPr>
              <a:t>Function name </a:t>
            </a:r>
            <a:r>
              <a:rPr lang="en-US" sz="1100" dirty="0">
                <a:solidFill>
                  <a:srgbClr val="5B6B82"/>
                </a:solidFill>
                <a:latin typeface="Hind Siliguri" panose="02000000000000000000" pitchFamily="2" charset="0"/>
                <a:ea typeface="Hind Siliguri" pitchFamily="34" charset="-122"/>
                <a:cs typeface="Hind Siliguri" panose="02000000000000000000" pitchFamily="2" charset="0"/>
              </a:rPr>
              <a:t>ফাংশনের নাম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06998"/>
                </a:solidFill>
                <a:latin typeface="Hind Siliguri" panose="02000000000000000000" pitchFamily="2" charset="0"/>
                <a:ea typeface="Courier New" pitchFamily="34" charset="-122"/>
                <a:cs typeface="Hind Siliguri" panose="02000000000000000000" pitchFamily="2" charset="0"/>
              </a:rPr>
              <a:t>add_fun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029200" y="2057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30699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6636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9"/>
                </a:solidFill>
                <a:latin typeface="Hind Siliguri" panose="02000000000000000000" pitchFamily="2" charset="0"/>
                <a:ea typeface="Calibri" pitchFamily="34" charset="-122"/>
                <a:cs typeface="Hind Siliguri" panose="02000000000000000000" pitchFamily="2" charset="0"/>
              </a:rPr>
              <a:t>Parameters </a:t>
            </a:r>
            <a:r>
              <a:rPr lang="en-US" sz="1100" dirty="0">
                <a:solidFill>
                  <a:srgbClr val="5B6B82"/>
                </a:solidFill>
                <a:latin typeface="Hind Siliguri" panose="02000000000000000000" pitchFamily="2" charset="0"/>
                <a:ea typeface="Hind Siliguri" pitchFamily="34" charset="-122"/>
                <a:cs typeface="Hind Siliguri" panose="02000000000000000000" pitchFamily="2" charset="0"/>
              </a:rPr>
              <a:t>প্যারামিটার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06998"/>
                </a:solidFill>
                <a:latin typeface="Hind Siliguri" panose="02000000000000000000" pitchFamily="2" charset="0"/>
                <a:ea typeface="Courier New" pitchFamily="34" charset="-122"/>
                <a:cs typeface="Hind Siliguri" panose="02000000000000000000" pitchFamily="2" charset="0"/>
              </a:rPr>
              <a:t>a, b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029200" y="28346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6CC"/>
          </a:solidFill>
          <a:ln w="9525">
            <a:solidFill>
              <a:srgbClr val="30699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6636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9"/>
                </a:solidFill>
                <a:latin typeface="Hind Siliguri" panose="02000000000000000000" pitchFamily="2" charset="0"/>
                <a:ea typeface="Calibri" pitchFamily="34" charset="-122"/>
                <a:cs typeface="Hind Siliguri" panose="02000000000000000000" pitchFamily="2" charset="0"/>
              </a:rPr>
              <a:t>Arguments </a:t>
            </a:r>
            <a:r>
              <a:rPr lang="en-US" sz="1100" dirty="0">
                <a:solidFill>
                  <a:srgbClr val="5B6B82"/>
                </a:solidFill>
                <a:latin typeface="Hind Siliguri" panose="02000000000000000000" pitchFamily="2" charset="0"/>
                <a:ea typeface="Hind Siliguri" pitchFamily="34" charset="-122"/>
                <a:cs typeface="Hind Siliguri" panose="02000000000000000000" pitchFamily="2" charset="0"/>
              </a:rPr>
              <a:t>আরগুমেন্ট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06998"/>
                </a:solidFill>
                <a:latin typeface="Hind Siliguri" panose="02000000000000000000" pitchFamily="2" charset="0"/>
                <a:ea typeface="Courier New" pitchFamily="34" charset="-122"/>
                <a:cs typeface="Hind Siliguri" panose="02000000000000000000" pitchFamily="2" charset="0"/>
              </a:rPr>
              <a:t>15, 16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029200" y="36118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30699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6636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9"/>
                </a:solidFill>
                <a:latin typeface="Hind Siliguri" panose="02000000000000000000" pitchFamily="2" charset="0"/>
                <a:ea typeface="Calibri" pitchFamily="34" charset="-122"/>
                <a:cs typeface="Hind Siliguri" panose="02000000000000000000" pitchFamily="2" charset="0"/>
              </a:rPr>
              <a:t>Function calling </a:t>
            </a:r>
            <a:r>
              <a:rPr lang="en-US" sz="1100" dirty="0">
                <a:solidFill>
                  <a:srgbClr val="5B6B82"/>
                </a:solidFill>
                <a:latin typeface="Hind Siliguri" panose="02000000000000000000" pitchFamily="2" charset="0"/>
                <a:ea typeface="Hind Siliguri" pitchFamily="34" charset="-122"/>
                <a:cs typeface="Hind Siliguri" panose="02000000000000000000" pitchFamily="2" charset="0"/>
              </a:rPr>
              <a:t>ফাংশন কল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06998"/>
                </a:solidFill>
                <a:latin typeface="Hind Siliguri" panose="02000000000000000000" pitchFamily="2" charset="0"/>
                <a:ea typeface="Courier New" pitchFamily="34" charset="-122"/>
                <a:cs typeface="Hind Siliguri" panose="02000000000000000000" pitchFamily="2" charset="0"/>
              </a:rPr>
              <a:t>add_fun(15, 16)</a:t>
            </a:r>
            <a:endParaRPr lang="en-US" sz="13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Function Many Times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একটি ফাংশন বারবার কল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754880" cy="21945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add_fun(a, b):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c = a + b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c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print("Addition A &amp; B =", add_fun(15, 16))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print("Addition A &amp; B =", add_fun(25, 16))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print("Addition A &amp; B =", add_fun(25, 26))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200400" cy="137160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Addition A &amp; B = 31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Addition A &amp; B = 41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Addition A &amp; B = 51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0" y="28346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0" y="30175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922" y="312816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6928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unlimited times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একবার লিখে অসংখ্যবার কল করা যায়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Functions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ফাংশনের প্রকারভেদ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5740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Standard Library / Built-in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ডেভেলপার কর্তৃক আগে থেকে দেওয়া।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যেমন</a:t>
            </a: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print(), 	input(), 	int(), 	float(),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sqrt(), 	sum(), 	max(), 	min(),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len</a:t>
            </a: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(), 	sorted(), 	count()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402" y="157368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37760" y="205740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User-defined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প্রোগ্রামার নিজের প্রয়োজনে তৈরি করে।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যেমন</a:t>
            </a: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add_fun</a:t>
            </a: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(), 	show(), 	calc()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Functions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ব্যবহারের সুবিধা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repetition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একই কোড বারবার লিখতে হয় না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2766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594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22" y="152796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594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programs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প্রোগ্রাম আকারে ছোট হয়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0960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2788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522" y="152796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788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সহজে বুঝা যায়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572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" y="331104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400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development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দ্রুত অ্যাপ্লিকেশন ডেভেলপ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32766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4594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0122" y="3311042"/>
            <a:ext cx="281635" cy="28163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4594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 &amp; test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ডিবাগিং, টেস্টিং, আপডেট সহজ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0960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62788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522" y="3311042"/>
            <a:ext cx="281635" cy="28163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2788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library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লাইব্রেরিতে জমা রেখে পুনঃব্যবহার</a:t>
            </a:r>
            <a:endParaRPr lang="en-US" sz="15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Library vs User-defined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লাইব্রেরি ও ইউজার ডিফাইন ফাংশনের তুলনা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2841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Library Function / লাইব্রেরি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User-defined / ইউজার ডিফাইন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Comes with the interpreter / কম্পাইলারের সাথে দেওয়া থাকে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Created by the user as needed / ইউজার প্রয়োজনে তৈরি করে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Made by Python developers / ডেভেলপার তৈরি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Made by the programmer / প্রোগ্রামার তৈরি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Ready to use for coding ease / আগে থেকে দেওয়া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User creates on his own / নিজস্ব প্রয়োজনে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Works as soon as it is called / কল করলেই কাজ করে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Works when called after it is defined / ডিফাইনের পর কল করলে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Named by developers / নামকরণ ডেভেলপারের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Named by the programmer / নামকরণ প্রোগ্রামারের</a:t>
                      </a:r>
                      <a:endParaRPr lang="en-US" sz="11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max(), min(), sum(), len(), print(), int(), input()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show(), circlearea(), f2c(), calc(), add_fun()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(1/4)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পাইথনের বিল্ট-ইন ফাংশন তালিকা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20624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value of a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elements are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any element is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Printable string representation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to binary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a value to 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bytearray()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of given byte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bytes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callable()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if object is callable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06240" cy="30449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from an 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classmethod()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method for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code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complex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delattr()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attribute from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dictionary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of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divmod()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of quotient and remainder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(2/4)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পাইথনের বিল্ট-ইন ফাংশন তালিকা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20624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an enumerate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code within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dynamic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 of elements which are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point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Formatted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frozenset()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frozenset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getattr()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named 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of global symbol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06240" cy="30449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hasattr()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named attribute?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value of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help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to hexadecimal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of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 line of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from number or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isinstance()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of a class?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(3/4)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পাইথনের বিল্ট-ইন ফাংশন তালিকা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20624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issubclass()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 of a class?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 for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of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of local symbol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function to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memoryview()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view of an argument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06240" cy="30449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element from iterator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featureless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to octal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file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 code point of character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to the power of 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the given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property 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Functions (4/4)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পাইথনের বিল্ট-ইন ফাংশন তালিকা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20624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integers start to 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Printable representation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 iterator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 float to n digits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setattr()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attribute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slice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list from iterable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staticmethod()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method from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206240" cy="304495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representation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items of an iterable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 to parent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tuple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__dict__ of a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 of tuples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__import__()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by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Defining a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তৈরি (Function Definition)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02336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FunctionName(Parameters):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Statements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[expression]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mul(x, y):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x * y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print(mul(10, 15))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div(x, y):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z = x / y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print(z)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div(10, 5)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754880" y="2468880"/>
            <a:ext cx="3931920" cy="10058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4754880" y="3657600"/>
            <a:ext cx="3931920" cy="10058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754880" y="1280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402" y="1573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97741" y="1464875"/>
            <a:ext cx="3057924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def + name + ( ) + :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সিনট্যাক্স: def, নাম, ( ), কোলন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Defining a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তৈরির নিয়মকানুন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1885950" cy="31089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57400"/>
            <a:ext cx="152019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def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def দিয়ে শুরু; নাম identifier-এর নিয়মে, _ দিয়ে শুরু করা যায়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2571750" y="1280160"/>
            <a:ext cx="1885950" cy="31089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5463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272" y="157368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54630" y="2057400"/>
            <a:ext cx="152019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inside ( 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 বা একাধিক প্যারামিটার কমা দিয়ে, না-ও থাকতে পারে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686300" y="1280160"/>
            <a:ext cx="1885950" cy="31089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8691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822" y="157368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69180" y="2057400"/>
            <a:ext cx="152019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( : ) after ( 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প্যারেনথেসিসের পর কোলন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800850" y="1280160"/>
            <a:ext cx="1885950" cy="31089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98373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4372" y="157368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83730" y="2057400"/>
            <a:ext cx="152019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Indented body + return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সব স্টেটমেন্ট ইনডেন্টেড; return দিয়ে এক্সিকিউশন শেষ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Without &amp; With return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রিটার্ন ছাড়া ও রিটার্নসহ উদাহরণ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return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রিটার্ন ছাড়া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welcome():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print("Welcome to Computer Technology")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welcome()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welcome()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3108960"/>
            <a:ext cx="4023360" cy="10058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Welcome to Computer Technology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Welcome to Computer Technology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return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রিটার্নসহ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square(x):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y = x * x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y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print(square(5) + square(5))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108960"/>
            <a:ext cx="4023360" cy="10058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কলিং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023360" cy="8229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FunctionName()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FunctionName(arguments)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2286000"/>
            <a:ext cx="4023360" cy="2423160"/>
          </a:xfrm>
          <a:prstGeom prst="rect">
            <a:avLst/>
          </a:prstGeom>
          <a:noFill/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alone does not run it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শুধু ডিফাইন করলে কাজ হয় না, কল করতে হয়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as many times as needed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যতবার ইচ্ছা কল করা যায়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প্যারামিটার ছাড়া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1554480"/>
            <a:ext cx="4023360" cy="8229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show():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print("Do not adopt unfair means")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show()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466344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parameters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প্যারামিটারসহ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926080"/>
            <a:ext cx="4023360" cy="118872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(a + b)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print(add(40, 17))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print(add(278, 157))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print(add(35, 95))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663440" y="4160520"/>
            <a:ext cx="4023360" cy="5486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27432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57   435   130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of a Function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ফাংশনের রিটার্ন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my_func1():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print("Hello World")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my_func2():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print("Hello World")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my_func3():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print("Hello World")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846320" y="1280160"/>
            <a:ext cx="3840480" cy="118872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add(a, b, c):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(a + b + c)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temp = add(10, 25, 30)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print(temp)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846320" y="2651760"/>
            <a:ext cx="384048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Syntax: return   or   return (returnValue)   |   মান না দিলে None রিটার্ন হয়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return Statement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রিটার্ন স্টেটমেন্টের কাজ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389120" cy="17373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add_numbers(x, y):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total = x + y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print("This won't be printed")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print(add_numbers(15, 25))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3200400"/>
            <a:ext cx="438912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120640" y="118872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stops at return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return-এ ফাংশনের এক্সিকিউশন বন্ধ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goes back to caller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কন্ট্রোল কলিং ফাংশনে ফেরে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return value, variable, expression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মান, ভেরিয়েবল বা এক্সপ্রেশন: return(x*y)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Pass by Value vs Pass by Reference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পাস বাই ভ্যালু বনাম পাস বাই রেফারেন্স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574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Value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আরগুমেন্টের কপি তৈরি হয়। ফাংশনের ভেতরের পরিবর্তন মূল ভ্যালুতে পড়ে না। বেশি মেমরি ও সময় লাগে।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402" y="157368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37760" y="20574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Reference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প্রকৃত ডাটার অ্যাড্রেস পাঠানো হয়। ভেতরের পরিবর্তন মূল ভ্যালুতে প্রতিফলিত হয়। কম মেমরি ও সময় লাগে।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Actually Passes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পাইথনে বাস্তবে কীভাবে হয়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574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→ acts like value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String, Integer, Tuple ফাংশনের ভেতরে পরিবর্তন করা যায় না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402" y="157368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37760" y="20574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→ acts like reference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List ফাংশনে পাস করলে ভেতরের পরিবর্তন কলিং ফাংশনেও প্রভাব ফেলে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List Modified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উদাহরণ-১: রেফারেন্সের মতো আচরণ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846320" cy="23774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changeme(mylist):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print("This changes a passed list")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mylist.append([1, 2, 3, 4])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print("Inside:", mylist)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mylist = [10, 20, 30]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changeme(mylist)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print("Outside:", mylist)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200400" cy="14630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Inside: [10, 20, 30, [1, 2, 3, 4]]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Outside: [10, 20, 30, [1, 2, 3, 4]]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New Reference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উদাহরণ-২: ভ্যালুর মতো আচরণ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846320" cy="23774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changeme(mylist):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print("This changes a passed list")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mylist = [1, 2, 3, 4]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print("Inside:", mylist)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mylist = [10, 20, 30]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changeme(mylist)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print("Outside:", mylist)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200400" cy="14630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Inside: [1, 2, 3, 4]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Outside: [10, 20, 30]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Value vs Reference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পাস বাই ভ্যালু ও রেফারেন্সের পার্থক্য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Pass by Value / ভ্যালু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Pass by Reference / রেফারেন্স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Copies value to parameter / ভ্যালু কপি হয়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Passes the actual parameter / প্রকৃত প্যারামিটার পাস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Changes not reflected in original / মূল ভ্যালু বদলায় না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Changes reflected in original / মূল ভ্যালু বদলায়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Creates a copy / কপি তৈরি করে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Passes the address / অ্যাড্রেস পাস করে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More memory needed / বেশি মেমরি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Less memory needed / কম মেমরি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More time (copying) / বেশি সময়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Less time (no copy) / কম সময়</a:t>
                      </a:r>
                      <a:endParaRPr lang="en-US" sz="12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Parameter vs Argument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প্যারামিটার ও আরগুমেন্ট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574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(in definition)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ডিফাইনের বন্ধনীর ভেতরের ভেরিয়েবল, কমা দিয়ে আলাদা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75488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402" y="157368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37760" y="20574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(in call)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কল করার সময় যে মান পাঠানো হয়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457200" y="3566159"/>
            <a:ext cx="8229600" cy="899515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add(a, b):      # a, b = parameters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add(5, 7)          # 5, 7 = arguments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Arguments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আরগুমেন্টের ৪টি প্রকার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463040"/>
            <a:ext cx="1885950" cy="2377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75656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240280"/>
            <a:ext cx="152019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রিকোয়ার্ড (পজিশনাল)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2571750" y="1463040"/>
            <a:ext cx="1885950" cy="2377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54630" y="16459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272" y="175656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54630" y="2240280"/>
            <a:ext cx="152019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কী-ওয়ার্ড আরগুমেন্ট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686300" y="1463040"/>
            <a:ext cx="1885950" cy="2377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869180" y="16459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822" y="175656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69180" y="2240280"/>
            <a:ext cx="152019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ডিফল্ট আরগুমেন্ট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800850" y="1463040"/>
            <a:ext cx="1885950" cy="237744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983730" y="16459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4372" y="175656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83730" y="2240280"/>
            <a:ext cx="152019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*args ও **kwargs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Arguments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রিকোয়ার্ড আরগুমেন্ট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argument → error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কম আরগুমেন্ট দিলে error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54480"/>
            <a:ext cx="402336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Number(x, y, z):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print(x, y, z)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Number(x=10, y=20)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4023360" cy="12801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TypeError: Number() missing 1 required positional argument: 'z'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given → works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তিনটিই দিলে ঠিক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554480"/>
            <a:ext cx="402336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Number(x, y, z):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print(x, y, z)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Number(10, 20, 30)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2743200"/>
            <a:ext cx="402336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10 20 30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Arguments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কী-ওয়ার্ড আরগুমেন্ট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4572000" cy="13716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add(x, y, z):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x + y + z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print(add(x=2, z=4, y=3))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2834640"/>
            <a:ext cx="457200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303520" y="1280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passed by name, not position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পজিশন নয়, নাম দিয়ে মান পাস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does not matter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ধারাবাহিকতা রক্ষা করতে হয় না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ডিফল্ট আরগুমেন্ট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উদাহরণ-১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54480"/>
            <a:ext cx="4023360" cy="118872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Number(x, y=30, z=20):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print(x, y, z)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Number(10)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2926080"/>
            <a:ext cx="402336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10 30 20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override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উদাহরণ-২: মান বদল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Number(x, y=30, z=20):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print(x, y, z)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Number(50, 60, 70)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2926080"/>
            <a:ext cx="402336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50 60 70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Rule: default parameters must come from the right side  |  ডিফল্ট প্যারামিটার ডানদিক থেকে শুরু হবে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 Arguments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ভেরিয়েবল লেংথ আরগুমেন্ট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 → tuple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নন কী-ওয়ার্ড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Show(*Numbers):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print(type(Numbers))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print(Numbers)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Show(50, 60, 70, 80, 90)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3108960"/>
            <a:ext cx="4023360" cy="91440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&lt;class 'tuple'&gt;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(50, 60, 70, 80, 90)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 → dict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কী-ওয়ার্ড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Show(**Numbers):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print(type(Numbers))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print(Numbers)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Show(x=50, y=60, z=70)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108960"/>
            <a:ext cx="4023360" cy="91440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&lt;class 'dict'&gt;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{'x': 50, 'y': 60, 'z': 70}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Date &amp; Time Modules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তারিখ ও সময় ফাংশন: ৫টি মডিউল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Use / বিবরণ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tzinfo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Work with a time zone / টাইম জোন নিয়ে কাজ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Month, day, year only / শুধু তারিখ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Date + time together / তারিখ ও সময় একত্রে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Hour, minute, second, microsecond / সময়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9"/>
                          </a:solidFill>
                          <a:latin typeface="Hind Siliguri" pitchFamily="34" charset="0"/>
                          <a:ea typeface="Hind Siliguri" pitchFamily="34" charset="-122"/>
                          <a:cs typeface="Hind Siliguri" pitchFamily="34" charset="-120"/>
                        </a:rPr>
                        <a:t>Duration of time / নির্দিষ্ট ডিউরেশন</a:t>
                      </a:r>
                      <a:endParaRPr lang="en-US" sz="1300" dirty="0">
                        <a:latin typeface="Hind Siliguri" charset="0"/>
                        <a:ea typeface="Hind Siliguri" charset="0"/>
                        <a:cs typeface="Hind Siligu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Module: Current Time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টাইম মডিউল: বর্তমান সময়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localtime = time.localtime(time.time())</a:t>
            </a:r>
            <a:endParaRPr lang="en-US" sz="13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print("Local current time is:", localtime)</a:t>
            </a:r>
            <a:endParaRPr lang="en-US" sz="13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Local current time is: time.struct_time(tm_year=2023, tm_mon=8, tm_mday=31, tm_hour=4, tm_min=21, tm_sec=0, tm_wday=6, tm_yday=212, tm_isdst=0)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 time Module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টাইম মডিউলের মেথডসমূহ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time.tzset()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time conversion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time.asctime([tupletime])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Time-tuple to readable 24-char 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time.ctime([secs])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asctime(localtime(secs))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time.gmtime([secs])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since epoch to UTC time-tuple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time.localtime([secs])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since epoch to local time-tuple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time.mktime(tupletime)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time-tuple to seconds since epoch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time.altzone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of local DST timezone (secs west of UTC)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time.sleep(secs)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Suspends calling thread for secs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time.strftime(fmt[,tupletime])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Time-tuple to string by format fmt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time.strptime(str,fmt)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 string to time-tuple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time.clock()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time in seconds (old 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time.time()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time in seconds since epoch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Module: Today, Yesterday, Tomorrow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তারিখ মডিউল: আজ, গতকাল, আগামীকাল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আজকের তারিখ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463040"/>
            <a:ext cx="2651760" cy="109728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today = date.today()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print(today)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2651760" cy="64008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2023-08-31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324612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গতকাল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1463040"/>
            <a:ext cx="2651760" cy="17373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from datetime import date, timedelta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yesterday():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t = date.today()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t - timedelta(days=1)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print(yesterday())</a:t>
            </a:r>
            <a:endParaRPr lang="en-US" sz="95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246120" y="3383280"/>
            <a:ext cx="2651760" cy="64008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2023-08-30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03504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আগামীকাল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1463040"/>
            <a:ext cx="2651760" cy="17373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from datetime import date, timedelta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tomorrow():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date.today() + timedelta(days=1)</a:t>
            </a:r>
            <a:endParaRPr lang="en-US" sz="95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print(tomorrow())</a:t>
            </a:r>
            <a:endParaRPr lang="en-US" sz="950" dirty="0">
              <a:latin typeface="Monaco" panose="020B0500000000000000" pitchFamily="34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035040" y="3383280"/>
            <a:ext cx="2651760" cy="64008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2023-09-01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Module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ডেইট টাইম মডিউল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206240" cy="14630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datetime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 = datetime.datetime.now()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 = datetime.datetime.today()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u = datetime.datetime.utcnow()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print("Now:", n)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print("UTC now:", u)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57200" y="2834640"/>
            <a:ext cx="4206240" cy="8229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Now: 2023-08-31 12:33:41.369818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UTC now: 2023-08-31 06:33:41.369837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datetime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 = datetime.time(12, 46, 30)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 = datetime.date.today()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dt = datetime.datetime.combine(d, t)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print(dt)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846320" y="2834640"/>
            <a:ext cx="3840480" cy="8229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2023-08-31 12:46:30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timedelta &amp; tzinfo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টাইম ডেল্টা ও টাইম জোন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timedelta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সময়ের পার্থক্য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463040"/>
            <a:ext cx="4023360" cy="18288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from datetime import timedelta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 = timedelta(days=1)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b = timedelta(hours=1)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c = a - b</a:t>
            </a:r>
            <a:endParaRPr lang="en-US" sz="12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print(c)</a:t>
            </a:r>
            <a:endParaRPr lang="en-US" sz="12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57200" y="3474720"/>
            <a:ext cx="402336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23:00:00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tzinfo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টাইম জোন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datetime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plus6 = datetime.timezone(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datetime.timedelta(hours=6))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 = datetime.datetime.now(plus6)</a:t>
            </a:r>
            <a:endParaRPr lang="en-US" sz="11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print(plus6, ":", d)</a:t>
            </a:r>
            <a:endParaRPr lang="en-US" sz="11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474720"/>
            <a:ext cx="4023360" cy="73152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UTC+06:00 : 2023-08-31 12:07:50+06:00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1 &amp; 2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Rectangle Area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আয়তক্ষেত্রের ক্ষেত্রফল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0515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Area():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l = float(input("Length: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w = float(input("Width: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print("Area:", l * w)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Area()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2606040"/>
            <a:ext cx="4114800" cy="882928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Length: 8.5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Width: 5.5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Area: 46.75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Largest of Two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বৃহত্তম সংখ্যা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517904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Largest():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a = int(input("1st: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b = int(input("2nd: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if a &lt; b: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print("Largest:", b)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print("Largest:", a)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Largest()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072384"/>
            <a:ext cx="4114800" cy="882928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1st: 586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2nd: 985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Largest: 985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3 &amp; 4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Product of Numbers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কতগুলো সংখ্যার গুণফল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207008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multiply(numbers):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result =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x in numbers: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result = result * x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print(multiply((8, 2, 3, 12, 5)))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2761488"/>
            <a:ext cx="4114800" cy="5486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2880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Factorial (Recursion)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ফ্যাক্টোরিয়াল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8288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if n ==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n * factorial(n - 1)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 = int(input("Enter: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if n &lt;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print("Negative, try again!")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print(n, "! =", factorial(n))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383280"/>
            <a:ext cx="4114800" cy="7086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Enter: 7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7 ! = 5040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5 &amp; 6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Prime Check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মৌলিক সংখ্যা যাচাই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2139696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Test_Prime(n):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if n == 1: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elif n == 2: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for x in range(2, 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    if n % x ==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        return 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 = int(input("Number: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print("Prime" if Test_Prime(n) else "Not prime")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3694175"/>
            <a:ext cx="4114800" cy="726983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Number: 59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Prime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Reverse a String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স্ট্রিং রিভার্স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517904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str_rev(s):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 = ""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index = len(s)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while index &gt;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 += s[index - 1]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index = index - 1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r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print(str_rev(input("String: ")))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072383"/>
            <a:ext cx="4114800" cy="726983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String: python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nohtyp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7 &amp; 8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Triangle Area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ত্রিভুজের ক্ষেত্রফল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984248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Triangle():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a = int(input("a: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b = int(input("b: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c = int(input("c: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if (a+b)&gt;c and (b+c)&gt;a and (a+c)&gt;b: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s = (a + b + c) / 2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print(math.sqrt(s*(s-a)*(s-b)*(s-c)))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print("Triangle is not possible")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Triangle()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3538728"/>
            <a:ext cx="4114800" cy="795528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a: 3  b: 4  c: 5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Circle Area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বৃত্তের ক্ষেত্রফল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05156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CircleArea():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 = float(input("Radius: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print("Area:", math.pi * r ** 2)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CircleArea()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2606040"/>
            <a:ext cx="4114800" cy="795528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Radius: 5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Area: 78.53981633974483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9 &amp; 10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Sum of Odd (1-100)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বিজোড় সংখ্যার যোগফল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517904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summation():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n in range(100):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if n % 2 ==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total += n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print("Summation:", summation())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3072384"/>
            <a:ext cx="4114800" cy="5486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Summation: 2500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Fibonacci Series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ফিবোনাক্কি সিরিজ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362456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fibo(n):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return fibo(n-1) + fibo(n-2)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for i in range(10):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print(fibo(i), end=" ")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2916936"/>
            <a:ext cx="4114800" cy="54864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0 1 1 2 3 5 8 13 21 34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11 &amp; 12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Sum of 5 List Numbers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লিস্টের ৫টি সংখ্যার যোগ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362456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add_numbers():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numbers = []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i in range(5):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num = float(input("Number: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numbers.append(num)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print("Sum:", sum(numbers))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add_numbers()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2916936"/>
            <a:ext cx="4114800" cy="786384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(inputs 22, 36, 56, 98, 12)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Sum: 224.0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Count Digits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ডিজিট গণনা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517904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count_digits(n):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while n &gt;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n //= 10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count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 = int(input("Number: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print("Total digits:", count_digits(num))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072384"/>
            <a:ext cx="4114800" cy="786384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Number: 1234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Total digits: 4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13 &amp; 14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Palindrome Check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প্যালিনড্রোম যাচাই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828800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is_palindrome(word):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rev = ""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ch in word: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rev = ch + rev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word == rev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 = input("Word: ")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if is_palindrome(w):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print("Palindrome")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print("Not Palindrome")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3383280"/>
            <a:ext cx="4114800" cy="708660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Word: madam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Palindrome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Even Numbers from List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লিস্ট থেকে জোড় সংখ্যা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417320"/>
            <a:ext cx="4114800" cy="1517904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extract_even(lst):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evens = []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n in lst: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if n % 2 ==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    evens.append(n)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evens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nums = [1, 2, 3, 4, 5, 6, 7, 8]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print("Even:", extract_even(nums))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63440" y="3072384"/>
            <a:ext cx="4114800" cy="616226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Even: [2, 4, 6, 8]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Program 15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ইউজার ডিফাইন ফাংশন দিয়ে প্রোগ্রাম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Perfect Number  </a:t>
            </a:r>
            <a:r>
              <a:rPr lang="en-US" sz="12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পারফেক্ট নাম্বার (৬ = ১+২+৩)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1417320"/>
            <a:ext cx="4114800" cy="1682896"/>
          </a:xfrm>
          <a:prstGeom prst="rect">
            <a:avLst/>
          </a:prstGeom>
          <a:solidFill>
            <a:srgbClr val="1B2A49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def is_perfect(n):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for i in range(1, n):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if n % i == 0: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        total += i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    return total == n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 = int(input("Number: "))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E6EDF7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print("Perfect" if is_perfect(num) else "Not Perfect")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65760" y="3242504"/>
            <a:ext cx="4114800" cy="699517"/>
          </a:xfrm>
          <a:prstGeom prst="rect">
            <a:avLst/>
          </a:prstGeom>
          <a:solidFill>
            <a:srgbClr val="0F3D33"/>
          </a:solidFill>
          <a:ln/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D43B"/>
                </a:solidFill>
                <a:latin typeface="Monaco" panose="020B0500000000000000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Number: 6</a:t>
            </a:r>
            <a:endParaRPr lang="en-US" sz="1000" dirty="0">
              <a:latin typeface="Monaco" panose="020B0500000000000000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Monaco" panose="020B0500000000000000" pitchFamily="34" charset="0"/>
                <a:ea typeface="Courier New" pitchFamily="34" charset="-122"/>
                <a:cs typeface="Courier New" pitchFamily="34" charset="-120"/>
              </a:rPr>
              <a:t>Perfect</a:t>
            </a:r>
            <a:endParaRPr lang="en-US" sz="1000" dirty="0">
              <a:latin typeface="Monaco" panose="020B0500000000000000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Recap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অধ্যায়ের সারসংক্ষেপ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name(params):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ফাংশন তৈরি: def, নাম, কোলন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2766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594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22" y="152796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4594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মান ফেরত; না থাকলে None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096000" y="123444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2788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522" y="152796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78880" y="201168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List বদলায়, String/Tuple বদলায় না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572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" y="331104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400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argument types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Required, Keyword, Default, *args/**kwargs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32766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4594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0122" y="3311042"/>
            <a:ext cx="281635" cy="28163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4594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datetime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তারিখ ও সময় ম্যানেজ করা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096000" y="3017520"/>
            <a:ext cx="2590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62788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522" y="3311042"/>
            <a:ext cx="281635" cy="28163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278880" y="3794760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১৫টি প্রোগ্রাম নিজে করা</a:t>
            </a:r>
            <a:endParaRPr lang="en-US" sz="15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0" cy="64008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3426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2600" dirty="0"/>
          </a:p>
          <a:p>
            <a:pPr marL="0" indent="0">
              <a:buNone/>
            </a:pPr>
            <a:r>
              <a:rPr lang="en-US" sz="1500" dirty="0">
                <a:solidFill>
                  <a:srgbClr val="306998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ক্লাস অ্যাক্টিভিটি: নিজে করো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40005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201168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cube(x)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একটি সংখ্যার ঘন (cube) রিটার্ন করো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4686300" y="1234440"/>
            <a:ext cx="40005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869180" y="141732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822" y="1527962"/>
            <a:ext cx="281635" cy="28163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869180" y="201168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greet(name="Student")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ডিফল্ট আরগুমেন্টসহ শুভেচ্ছা ফাংশন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57200" y="3017520"/>
            <a:ext cx="40005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" y="331104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0080" y="379476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average(*nums)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যেকোনো সংখ্যক সংখ্যার গড় বের করো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686300" y="3017520"/>
            <a:ext cx="40005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869180" y="3200400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9822" y="3311042"/>
            <a:ext cx="281635" cy="2816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69180" y="379476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days_left(date)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Hind Siliguri" pitchFamily="34" charset="0"/>
                <a:ea typeface="Hind Siliguri" pitchFamily="34" charset="-122"/>
                <a:cs typeface="Hind Siliguri" pitchFamily="34" charset="-120"/>
              </a:rPr>
              <a:t>timedelta দিয়ে আজ থেকে একটি তারিখ পর্যন্ত দিন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5530</Words>
  <Application>Microsoft Office PowerPoint</Application>
  <PresentationFormat>On-screen Show (16:9)</PresentationFormat>
  <Paragraphs>1066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Hind Siliguri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 - Chapter 1</dc:title>
  <dc:subject>PptxGenJS Presentation</dc:subject>
  <dc:creator>PptxGenJS</dc:creator>
  <cp:lastModifiedBy>Ruhul Amin</cp:lastModifiedBy>
  <cp:revision>23</cp:revision>
  <dcterms:created xsi:type="dcterms:W3CDTF">2026-10-01T03:52:44Z</dcterms:created>
  <dcterms:modified xsi:type="dcterms:W3CDTF">2026-10-06T04:16:05Z</dcterms:modified>
</cp:coreProperties>
</file>