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শুরু" id="{891A6B16-368E-D036-90DA-35958D78374F}">
          <p14:sldIdLst>
            <p14:sldId id="256"/>
          </p14:sldIdLst>
        </p14:section>
        <p14:section name="এনভায়রনমেন্ট ও রিকোয়ারমেন্ট" id="{1FFEBF67-28DF-506D-1CDF-FF75E75FCF48}">
          <p14:sldIdLst>
            <p14:sldId id="257"/>
            <p14:sldId id="258"/>
            <p14:sldId id="259"/>
            <p14:sldId id="260"/>
          </p14:sldIdLst>
        </p14:section>
        <p14:section name="১০টি প্রোগ্রামিং প্রব্লেম" id="{DCC7F68E-60D8-A947-CD3C-B1A825BA20D9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সমাপ্তি" id="{E44466E4-D3E8-AD36-1DFA-F637D39F7A5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16" y="4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648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091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মোঃ রুহুল আমিন  |  কুষ্টিয়া সরকারী পলিটেকনিক ইনস্টিটিউট, কুষ্টিয়া</a:t>
            </a:r>
            <a:endParaRPr lang="en-US" sz="1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ine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জাভা প্রোগ্রামিং  •  সম্পূর্ণ নতুনদের জন্য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Deck title"/>
          <p:cNvSpPr txBox="1"/>
          <p:nvPr/>
        </p:nvSpPr>
        <p:spPr>
          <a:xfrm>
            <a:off x="548640" y="9753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Programming</a:t>
            </a:r>
            <a:endParaRPr lang="en-US" sz="4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ubtitle"/>
          <p:cNvSpPr txBox="1"/>
          <p:nvPr/>
        </p:nvSpPr>
        <p:spPr>
          <a:xfrm>
            <a:off x="548640" y="1859280"/>
            <a:ext cx="4572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তারিখঃ</a:t>
            </a:r>
            <a:r>
              <a:rPr lang="en-US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০৬ – ১০ – ২০২৬ </a:t>
            </a:r>
          </a:p>
          <a:p>
            <a:pPr marL="0" indent="0">
              <a:buNone/>
            </a:pPr>
            <a:r>
              <a:rPr lang="en-US" sz="1800" b="1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জব</a:t>
            </a:r>
            <a:r>
              <a:rPr lang="en-US" sz="18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</a:t>
            </a:r>
            <a:r>
              <a:rPr lang="en-US" sz="1800" b="1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ন</a:t>
            </a:r>
            <a:r>
              <a:rPr lang="en-US" b="1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ংঃ</a:t>
            </a:r>
            <a:r>
              <a:rPr lang="en-US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০১</a:t>
            </a:r>
          </a:p>
          <a:p>
            <a:r>
              <a:rPr lang="en-US" b="1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জবের</a:t>
            </a:r>
            <a:r>
              <a:rPr lang="en-US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নামঃ</a:t>
            </a:r>
            <a:r>
              <a:rPr lang="en-US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এনভায়রনমেন্ট</a:t>
            </a:r>
            <a:r>
              <a:rPr lang="en-US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সেটআপ</a:t>
            </a:r>
            <a:r>
              <a:rPr lang="en-US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ও ১০টি </a:t>
            </a:r>
            <a:r>
              <a:rPr lang="en-US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বিগিনার</a:t>
            </a:r>
            <a:r>
              <a:rPr lang="en-US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প্রোগ্রামিং</a:t>
            </a:r>
            <a:r>
              <a:rPr lang="en-US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</a:t>
            </a:r>
            <a:endParaRPr lang="en-US" dirty="0">
              <a:solidFill>
                <a:schemeClr val="bg1"/>
              </a:solidFill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5" name="Hero code card"/>
          <p:cNvSpPr/>
          <p:nvPr/>
        </p:nvSpPr>
        <p:spPr>
          <a:xfrm>
            <a:off x="5577840" y="914400"/>
            <a:ext cx="3017520" cy="164592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/>
        </p:spPr>
      </p:sp>
      <p:sp>
        <p:nvSpPr>
          <p:cNvPr id="6" name="Hero code"/>
          <p:cNvSpPr txBox="1"/>
          <p:nvPr/>
        </p:nvSpPr>
        <p:spPr>
          <a:xfrm>
            <a:off x="5806440" y="128016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System.out.println(</a:t>
            </a:r>
            <a:endParaRPr lang="en-US" sz="1400" dirty="0"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"Hello, Java!"</a:t>
            </a:r>
            <a:endParaRPr lang="en-US" sz="1400" dirty="0"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);</a:t>
            </a:r>
            <a:endParaRPr lang="en-US" sz="14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7" name="Presenter label"/>
          <p:cNvSpPr txBox="1"/>
          <p:nvPr/>
        </p:nvSpPr>
        <p:spPr>
          <a:xfrm>
            <a:off x="548640" y="30708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উপস্থাপনায়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D7CB11E-8D97-9910-B4C0-CD90F882F673}"/>
              </a:ext>
            </a:extLst>
          </p:cNvPr>
          <p:cNvGrpSpPr/>
          <p:nvPr/>
        </p:nvGrpSpPr>
        <p:grpSpPr>
          <a:xfrm>
            <a:off x="548640" y="3451861"/>
            <a:ext cx="5212080" cy="1551848"/>
            <a:chOff x="822960" y="2468880"/>
            <a:chExt cx="5212080" cy="1551848"/>
          </a:xfrm>
        </p:grpSpPr>
        <p:sp>
          <p:nvSpPr>
            <p:cNvPr id="13" name="Info name">
              <a:extLst>
                <a:ext uri="{FF2B5EF4-FFF2-40B4-BE49-F238E27FC236}">
                  <a16:creationId xmlns:a16="http://schemas.microsoft.com/office/drawing/2014/main" id="{613D0F84-885F-94FD-CF8D-0A5B72414E4D}"/>
                </a:ext>
              </a:extLst>
            </p:cNvPr>
            <p:cNvSpPr txBox="1"/>
            <p:nvPr/>
          </p:nvSpPr>
          <p:spPr>
            <a:xfrm>
              <a:off x="822960" y="2468880"/>
              <a:ext cx="5212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মোঃ রুহুল আমিন</a:t>
              </a:r>
              <a:endParaRPr lang="en-US" sz="2400" dirty="0">
                <a:latin typeface="Hind Siliguri" panose="02000000000000000000" pitchFamily="2" charset="0"/>
                <a:cs typeface="Hind Siliguri" panose="02000000000000000000" pitchFamily="2" charset="0"/>
              </a:endParaRPr>
            </a:p>
          </p:txBody>
        </p:sp>
        <p:sp>
          <p:nvSpPr>
            <p:cNvPr id="14" name="Info designation">
              <a:extLst>
                <a:ext uri="{FF2B5EF4-FFF2-40B4-BE49-F238E27FC236}">
                  <a16:creationId xmlns:a16="http://schemas.microsoft.com/office/drawing/2014/main" id="{11C98F4A-7527-85B6-ACB7-99D62B221BD2}"/>
                </a:ext>
              </a:extLst>
            </p:cNvPr>
            <p:cNvSpPr txBox="1"/>
            <p:nvPr/>
          </p:nvSpPr>
          <p:spPr>
            <a:xfrm>
              <a:off x="822960" y="2879702"/>
              <a:ext cx="52120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dirty="0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জুনিয়র ইন্সট্রাক্টর (টেক / কম্পিউটার)</a:t>
              </a:r>
              <a:endParaRPr lang="en-US" sz="1600" dirty="0">
                <a:latin typeface="Hind Siliguri" panose="02000000000000000000" pitchFamily="2" charset="0"/>
                <a:cs typeface="Hind Siliguri" panose="02000000000000000000" pitchFamily="2" charset="0"/>
              </a:endParaRPr>
            </a:p>
          </p:txBody>
        </p:sp>
        <p:sp>
          <p:nvSpPr>
            <p:cNvPr id="15" name="Info institute">
              <a:extLst>
                <a:ext uri="{FF2B5EF4-FFF2-40B4-BE49-F238E27FC236}">
                  <a16:creationId xmlns:a16="http://schemas.microsoft.com/office/drawing/2014/main" id="{F6D5B3A0-7FA0-13D7-8A5D-9E4727B31478}"/>
                </a:ext>
              </a:extLst>
            </p:cNvPr>
            <p:cNvSpPr txBox="1"/>
            <p:nvPr/>
          </p:nvSpPr>
          <p:spPr>
            <a:xfrm>
              <a:off x="822960" y="3199084"/>
              <a:ext cx="52120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dirty="0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কুষ্টিয়া সরকারী পলিটেকনিক ইনস্টিটিউট, কুষ্টিয়া।</a:t>
              </a:r>
              <a:endParaRPr lang="en-US" sz="1600" dirty="0">
                <a:latin typeface="Hind Siliguri" panose="02000000000000000000" pitchFamily="2" charset="0"/>
                <a:cs typeface="Hind Siliguri" panose="02000000000000000000" pitchFamily="2" charset="0"/>
              </a:endParaRPr>
            </a:p>
          </p:txBody>
        </p:sp>
        <p:sp>
          <p:nvSpPr>
            <p:cNvPr id="16" name="Info institute">
              <a:extLst>
                <a:ext uri="{FF2B5EF4-FFF2-40B4-BE49-F238E27FC236}">
                  <a16:creationId xmlns:a16="http://schemas.microsoft.com/office/drawing/2014/main" id="{472BFA40-296D-C792-35BA-1EF9A9468186}"/>
                </a:ext>
              </a:extLst>
            </p:cNvPr>
            <p:cNvSpPr txBox="1"/>
            <p:nvPr/>
          </p:nvSpPr>
          <p:spPr>
            <a:xfrm>
              <a:off x="822960" y="3518466"/>
              <a:ext cx="52120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dirty="0" err="1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মোবাইল</a:t>
              </a:r>
              <a:r>
                <a:rPr lang="en-US" sz="1600" dirty="0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 </a:t>
              </a:r>
              <a:r>
                <a:rPr lang="en-US" sz="1600" dirty="0" err="1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নংঃ</a:t>
              </a:r>
              <a:r>
                <a:rPr lang="en-US" sz="1600" dirty="0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 ০১৮২৩২০৮৫৩৩</a:t>
              </a:r>
              <a:endParaRPr lang="en-US" sz="1600" dirty="0">
                <a:latin typeface="Hind Siliguri" panose="02000000000000000000" pitchFamily="2" charset="0"/>
                <a:cs typeface="Hind Siliguri" panose="02000000000000000000" pitchFamily="2" charset="0"/>
              </a:endParaRPr>
            </a:p>
          </p:txBody>
        </p:sp>
        <p:sp>
          <p:nvSpPr>
            <p:cNvPr id="17" name="Info institute">
              <a:extLst>
                <a:ext uri="{FF2B5EF4-FFF2-40B4-BE49-F238E27FC236}">
                  <a16:creationId xmlns:a16="http://schemas.microsoft.com/office/drawing/2014/main" id="{C7515FFC-C18B-FB99-ABCA-FF3B8C3C3620}"/>
                </a:ext>
              </a:extLst>
            </p:cNvPr>
            <p:cNvSpPr txBox="1"/>
            <p:nvPr/>
          </p:nvSpPr>
          <p:spPr>
            <a:xfrm>
              <a:off x="822960" y="3837848"/>
              <a:ext cx="52120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dirty="0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ই-</a:t>
              </a:r>
              <a:r>
                <a:rPr lang="en-US" sz="1600" dirty="0" err="1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মেইলঃ</a:t>
              </a:r>
              <a:r>
                <a:rPr lang="en-US" sz="1600" dirty="0">
                  <a:solidFill>
                    <a:schemeClr val="bg1"/>
                  </a:solidFill>
                  <a:latin typeface="Hind Siliguri" panose="02000000000000000000" pitchFamily="2" charset="0"/>
                  <a:cs typeface="Hind Siliguri" panose="02000000000000000000" pitchFamily="2" charset="0"/>
                </a:rPr>
                <a:t> ruhul.computer12@gmail.com</a:t>
              </a:r>
              <a:endParaRPr lang="en-US" sz="1600" dirty="0">
                <a:latin typeface="Hind Siliguri" panose="02000000000000000000" pitchFamily="2" charset="0"/>
                <a:cs typeface="Hind Siliguri" panose="02000000000000000000" pitchFamily="2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কী কী লাগবে? রিকোয়ারমেন্ট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Req card 1"/>
          <p:cNvSpPr/>
          <p:nvPr/>
        </p:nvSpPr>
        <p:spPr>
          <a:xfrm>
            <a:off x="457200" y="1280160"/>
            <a:ext cx="2624328" cy="3200400"/>
          </a:xfrm>
          <a:prstGeom prst="roundRect">
            <a:avLst>
              <a:gd name="adj" fmla="val 4181"/>
            </a:avLst>
          </a:prstGeom>
          <a:solidFill>
            <a:schemeClr val="bg2"/>
          </a:solidFill>
          <a:ln/>
        </p:spPr>
      </p:sp>
      <p:sp>
        <p:nvSpPr>
          <p:cNvPr id="4" name="Req badge 1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HW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5" name="Req head 1"/>
          <p:cNvSpPr txBox="1"/>
          <p:nvPr/>
        </p:nvSpPr>
        <p:spPr>
          <a:xfrm>
            <a:off x="640080" y="2148840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হার্ডওয়্যার</a:t>
            </a:r>
            <a:endParaRPr lang="en-US" sz="18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Req list 1"/>
          <p:cNvSpPr txBox="1"/>
          <p:nvPr/>
        </p:nvSpPr>
        <p:spPr>
          <a:xfrm>
            <a:off x="640080" y="2606040"/>
            <a:ext cx="22585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RAM: ন্যূনতম ৪ GB (৮ GB হলে ভালো)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ফাঁকা ডিস্ক: কমপক্ষে ২ GB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যেকোনো আধুনিক প্রসেসর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Req card 2"/>
          <p:cNvSpPr/>
          <p:nvPr/>
        </p:nvSpPr>
        <p:spPr>
          <a:xfrm>
            <a:off x="3264408" y="1280160"/>
            <a:ext cx="2624328" cy="3200400"/>
          </a:xfrm>
          <a:prstGeom prst="roundRect">
            <a:avLst>
              <a:gd name="adj" fmla="val 4181"/>
            </a:avLst>
          </a:prstGeom>
          <a:solidFill>
            <a:schemeClr val="bg2"/>
          </a:solidFill>
          <a:ln/>
        </p:spPr>
      </p:sp>
      <p:sp>
        <p:nvSpPr>
          <p:cNvPr id="8" name="Req badge 2"/>
          <p:cNvSpPr/>
          <p:nvPr/>
        </p:nvSpPr>
        <p:spPr>
          <a:xfrm>
            <a:off x="344728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OS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Req head 2"/>
          <p:cNvSpPr txBox="1"/>
          <p:nvPr/>
        </p:nvSpPr>
        <p:spPr>
          <a:xfrm>
            <a:off x="3447288" y="2148840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অপারেটিং সিস্টেম</a:t>
            </a:r>
            <a:endParaRPr lang="en-US" sz="18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0" name="Req list 2"/>
          <p:cNvSpPr txBox="1"/>
          <p:nvPr/>
        </p:nvSpPr>
        <p:spPr>
          <a:xfrm>
            <a:off x="3447288" y="2606040"/>
            <a:ext cx="22585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Windows 10 / 11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macOS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Linux (যেমন Ubuntu)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Req card 3"/>
          <p:cNvSpPr/>
          <p:nvPr/>
        </p:nvSpPr>
        <p:spPr>
          <a:xfrm>
            <a:off x="6071616" y="1280160"/>
            <a:ext cx="2624328" cy="3200400"/>
          </a:xfrm>
          <a:prstGeom prst="roundRect">
            <a:avLst>
              <a:gd name="adj" fmla="val 4181"/>
            </a:avLst>
          </a:prstGeom>
          <a:solidFill>
            <a:schemeClr val="bg2"/>
          </a:solidFill>
          <a:ln/>
        </p:spPr>
      </p:sp>
      <p:sp>
        <p:nvSpPr>
          <p:cNvPr id="12" name="Req badge 3"/>
          <p:cNvSpPr/>
          <p:nvPr/>
        </p:nvSpPr>
        <p:spPr>
          <a:xfrm>
            <a:off x="6254496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NET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3" name="Req head 3"/>
          <p:cNvSpPr txBox="1"/>
          <p:nvPr/>
        </p:nvSpPr>
        <p:spPr>
          <a:xfrm>
            <a:off x="6254496" y="2148840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ইন্টারনেট ও মানসিকতা</a:t>
            </a:r>
            <a:endParaRPr lang="en-US" sz="18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Req list 3"/>
          <p:cNvSpPr txBox="1"/>
          <p:nvPr/>
        </p:nvSpPr>
        <p:spPr>
          <a:xfrm>
            <a:off x="6254496" y="2606040"/>
            <a:ext cx="22585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JDK ও IDE ডাউনলোডের জন্য ইন্টারনেট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ইনস্টলের জন্য অ্যাডমিন অ্যাক্সেস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ধৈর্য ও নিয়মিত অনুশীলন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2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সফটওয়্যার ও এনভায়রনমেন্ট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Soft card 1"/>
          <p:cNvSpPr/>
          <p:nvPr/>
        </p:nvSpPr>
        <p:spPr>
          <a:xfrm>
            <a:off x="457200" y="1280160"/>
            <a:ext cx="39776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Soft badge 1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JDK</a:t>
            </a:r>
            <a:endParaRPr lang="en-US" sz="11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5" name="Soft head 1"/>
          <p:cNvSpPr txBox="1"/>
          <p:nvPr/>
        </p:nvSpPr>
        <p:spPr>
          <a:xfrm>
            <a:off x="1325880" y="144475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JDK (Java Development Kit)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oft desc 1"/>
          <p:cNvSpPr txBox="1"/>
          <p:nvPr/>
        </p:nvSpPr>
        <p:spPr>
          <a:xfrm>
            <a:off x="1325880" y="1810512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জাভা কোড কম্পাইল ও রান করার মূল টুল। এতে JRE ও JVM-ও থাকে।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Soft card 2"/>
          <p:cNvSpPr/>
          <p:nvPr/>
        </p:nvSpPr>
        <p:spPr>
          <a:xfrm>
            <a:off x="4709160" y="1280160"/>
            <a:ext cx="39776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8" name="Soft badge 2"/>
          <p:cNvSpPr/>
          <p:nvPr/>
        </p:nvSpPr>
        <p:spPr>
          <a:xfrm>
            <a:off x="48920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JVM</a:t>
            </a:r>
            <a:endParaRPr lang="en-US" sz="11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Soft head 2"/>
          <p:cNvSpPr txBox="1"/>
          <p:nvPr/>
        </p:nvSpPr>
        <p:spPr>
          <a:xfrm>
            <a:off x="5577840" y="144475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JRE ও JVM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0" name="Soft desc 2"/>
          <p:cNvSpPr txBox="1"/>
          <p:nvPr/>
        </p:nvSpPr>
        <p:spPr>
          <a:xfrm>
            <a:off x="5577840" y="1810512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JVM জাভা প্রোগ্রাম চালায়; JRE = JVM + লাইব্রেরি।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Soft card 3"/>
          <p:cNvSpPr/>
          <p:nvPr/>
        </p:nvSpPr>
        <p:spPr>
          <a:xfrm>
            <a:off x="457200" y="2926080"/>
            <a:ext cx="39776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2" name="Soft badge 3"/>
          <p:cNvSpPr/>
          <p:nvPr/>
        </p:nvSpPr>
        <p:spPr>
          <a:xfrm>
            <a:off x="64008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IDE</a:t>
            </a:r>
            <a:endParaRPr lang="en-US" sz="11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3" name="Soft head 3"/>
          <p:cNvSpPr txBox="1"/>
          <p:nvPr/>
        </p:nvSpPr>
        <p:spPr>
          <a:xfrm>
            <a:off x="1325880" y="309067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কোড এডিটর / IDE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Soft desc 3"/>
          <p:cNvSpPr txBox="1"/>
          <p:nvPr/>
        </p:nvSpPr>
        <p:spPr>
          <a:xfrm>
            <a:off x="1325880" y="3456432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IntelliJ IDEA, Eclipse, NetBeans বা VS Code – কোড লেখা সহজ করে।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5" name="Soft card 4"/>
          <p:cNvSpPr/>
          <p:nvPr/>
        </p:nvSpPr>
        <p:spPr>
          <a:xfrm>
            <a:off x="4709160" y="2926080"/>
            <a:ext cx="39776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6" name="Soft badge 4"/>
          <p:cNvSpPr/>
          <p:nvPr/>
        </p:nvSpPr>
        <p:spPr>
          <a:xfrm>
            <a:off x="48920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CMD</a:t>
            </a:r>
            <a:endParaRPr lang="en-US" sz="11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7" name="Soft head 4"/>
          <p:cNvSpPr txBox="1"/>
          <p:nvPr/>
        </p:nvSpPr>
        <p:spPr>
          <a:xfrm>
            <a:off x="5577840" y="309067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Terminal / Command Prompt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8" name="Soft desc 4"/>
          <p:cNvSpPr txBox="1"/>
          <p:nvPr/>
        </p:nvSpPr>
        <p:spPr>
          <a:xfrm>
            <a:off x="5577840" y="3456432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javac ও java কমান্ড চালিয়ে প্রোগ্রাম কম্পাইল ও রান করা যায়।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3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সেটআপের ধাপ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Step row 1"/>
          <p:cNvSpPr/>
          <p:nvPr/>
        </p:nvSpPr>
        <p:spPr>
          <a:xfrm>
            <a:off x="457200" y="1234440"/>
            <a:ext cx="822960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4" name="Step badge 1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১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5" name="Step head 1"/>
          <p:cNvSpPr txBox="1"/>
          <p:nvPr/>
        </p:nvSpPr>
        <p:spPr>
          <a:xfrm>
            <a:off x="1234440" y="1234440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JDK ডাউনলোড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ep desc 1"/>
          <p:cNvSpPr txBox="1"/>
          <p:nvPr/>
        </p:nvSpPr>
        <p:spPr>
          <a:xfrm>
            <a:off x="3474720" y="123444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Oracle JDK বা Adoptium (OpenJDK) থেকে LTS ভার্সন (যেমন 17 / 21)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Step row 2"/>
          <p:cNvSpPr/>
          <p:nvPr/>
        </p:nvSpPr>
        <p:spPr>
          <a:xfrm>
            <a:off x="457200" y="1911096"/>
            <a:ext cx="822960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8" name="Step badge 2"/>
          <p:cNvSpPr/>
          <p:nvPr/>
        </p:nvSpPr>
        <p:spPr>
          <a:xfrm>
            <a:off x="640080" y="20025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২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Step head 2"/>
          <p:cNvSpPr txBox="1"/>
          <p:nvPr/>
        </p:nvSpPr>
        <p:spPr>
          <a:xfrm>
            <a:off x="1234440" y="1911096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JDK ইনস্টল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0" name="Step desc 2"/>
          <p:cNvSpPr txBox="1"/>
          <p:nvPr/>
        </p:nvSpPr>
        <p:spPr>
          <a:xfrm>
            <a:off x="3474720" y="1911096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ইনস্টলার চালিয়ে Next → Next → Finish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Step row 3"/>
          <p:cNvSpPr/>
          <p:nvPr/>
        </p:nvSpPr>
        <p:spPr>
          <a:xfrm>
            <a:off x="457200" y="2587752"/>
            <a:ext cx="822960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12" name="Step badge 3"/>
          <p:cNvSpPr/>
          <p:nvPr/>
        </p:nvSpPr>
        <p:spPr>
          <a:xfrm>
            <a:off x="640080" y="26791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৩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3" name="Step head 3"/>
          <p:cNvSpPr txBox="1"/>
          <p:nvPr/>
        </p:nvSpPr>
        <p:spPr>
          <a:xfrm>
            <a:off x="1234440" y="2587752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PATH সেট করা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Step desc 3"/>
          <p:cNvSpPr txBox="1"/>
          <p:nvPr/>
        </p:nvSpPr>
        <p:spPr>
          <a:xfrm>
            <a:off x="3474720" y="2587752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JAVA_HOME ও Path এনভায়রনমেন্ট ভ্যারিয়েবল সেট করো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5" name="Step row 4"/>
          <p:cNvSpPr/>
          <p:nvPr/>
        </p:nvSpPr>
        <p:spPr>
          <a:xfrm>
            <a:off x="457200" y="3264408"/>
            <a:ext cx="822960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16" name="Step badge 4"/>
          <p:cNvSpPr/>
          <p:nvPr/>
        </p:nvSpPr>
        <p:spPr>
          <a:xfrm>
            <a:off x="640080" y="33558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৪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7" name="Step head 4"/>
          <p:cNvSpPr txBox="1"/>
          <p:nvPr/>
        </p:nvSpPr>
        <p:spPr>
          <a:xfrm>
            <a:off x="1234440" y="3264408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ভার্সন যাচাই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8" name="Step desc 4"/>
          <p:cNvSpPr txBox="1"/>
          <p:nvPr/>
        </p:nvSpPr>
        <p:spPr>
          <a:xfrm>
            <a:off x="3474720" y="3264408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Terminal-এ java -version ও javac -version লিখে দেখো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9" name="Step row 5"/>
          <p:cNvSpPr/>
          <p:nvPr/>
        </p:nvSpPr>
        <p:spPr>
          <a:xfrm>
            <a:off x="457200" y="3941064"/>
            <a:ext cx="822960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20" name="Step badge 5"/>
          <p:cNvSpPr/>
          <p:nvPr/>
        </p:nvSpPr>
        <p:spPr>
          <a:xfrm>
            <a:off x="640080" y="4032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৫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21" name="Step head 5"/>
          <p:cNvSpPr txBox="1"/>
          <p:nvPr/>
        </p:nvSpPr>
        <p:spPr>
          <a:xfrm>
            <a:off x="1234440" y="3941064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IDE ইনস্টল</a:t>
            </a:r>
            <a:endParaRPr lang="en-US" sz="16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22" name="Step desc 5"/>
          <p:cNvSpPr txBox="1"/>
          <p:nvPr/>
        </p:nvSpPr>
        <p:spPr>
          <a:xfrm>
            <a:off x="3474720" y="3941064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IntelliJ IDEA Community বা VS Code ইনস্টল করো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4</a:t>
            </a:fld>
            <a:endParaRPr lang="en-US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প্রথম জাভা প্রোগ্রাম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Hello code card"/>
          <p:cNvSpPr/>
          <p:nvPr/>
        </p:nvSpPr>
        <p:spPr>
          <a:xfrm>
            <a:off x="457200" y="1280160"/>
            <a:ext cx="4572000" cy="3200400"/>
          </a:xfrm>
          <a:prstGeom prst="roundRect">
            <a:avLst>
              <a:gd name="adj" fmla="val 3429"/>
            </a:avLst>
          </a:prstGeom>
          <a:solidFill>
            <a:schemeClr val="tx1"/>
          </a:solidFill>
          <a:ln/>
        </p:spPr>
      </p:sp>
      <p:sp>
        <p:nvSpPr>
          <p:cNvPr id="4" name="Hello code"/>
          <p:cNvSpPr txBox="1"/>
          <p:nvPr/>
        </p:nvSpPr>
        <p:spPr>
          <a:xfrm>
            <a:off x="685800" y="150876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Hello {</a:t>
            </a:r>
            <a:endParaRPr lang="en-US" sz="1200" dirty="0"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args) {</a:t>
            </a:r>
            <a:endParaRPr lang="en-US" sz="1200" dirty="0"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System.out.println("Hello, Java!");</a:t>
            </a:r>
            <a:endParaRPr lang="en-US" sz="1200" dirty="0"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  <a:endParaRPr lang="en-US" sz="1200" dirty="0"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12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5" name="Hello caption"/>
          <p:cNvSpPr txBox="1"/>
          <p:nvPr/>
        </p:nvSpPr>
        <p:spPr>
          <a:xfrm>
            <a:off x="685800" y="352044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main() মেথড থেকেই জাভা প্রোগ্রাম শুরু হয়।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Run card 1"/>
          <p:cNvSpPr/>
          <p:nvPr/>
        </p:nvSpPr>
        <p:spPr>
          <a:xfrm>
            <a:off x="5257800" y="1280160"/>
            <a:ext cx="3429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7" name="Run head 1"/>
          <p:cNvSpPr txBox="1"/>
          <p:nvPr/>
        </p:nvSpPr>
        <p:spPr>
          <a:xfrm>
            <a:off x="544068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১. ফাইল সেভ করো</a:t>
            </a:r>
            <a:endParaRPr lang="en-US" sz="15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8" name="Run body 1"/>
          <p:cNvSpPr txBox="1"/>
          <p:nvPr/>
        </p:nvSpPr>
        <p:spPr>
          <a:xfrm>
            <a:off x="5440680" y="16916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Hello.java নামে (ক্লাসের নামের সাথে মিল)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Run card 2"/>
          <p:cNvSpPr/>
          <p:nvPr/>
        </p:nvSpPr>
        <p:spPr>
          <a:xfrm>
            <a:off x="5257800" y="2423160"/>
            <a:ext cx="3429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0" name="Run head 2"/>
          <p:cNvSpPr txBox="1"/>
          <p:nvPr/>
        </p:nvSpPr>
        <p:spPr>
          <a:xfrm>
            <a:off x="5440680" y="2514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২. কম্পাইল করো</a:t>
            </a:r>
            <a:endParaRPr lang="en-US" sz="15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Run body 2"/>
          <p:cNvSpPr txBox="1"/>
          <p:nvPr/>
        </p:nvSpPr>
        <p:spPr>
          <a:xfrm>
            <a:off x="5440680" y="28346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javac Hello.java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Run card 3"/>
          <p:cNvSpPr/>
          <p:nvPr/>
        </p:nvSpPr>
        <p:spPr>
          <a:xfrm>
            <a:off x="5257800" y="3566160"/>
            <a:ext cx="3429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3" name="Run head 3"/>
          <p:cNvSpPr txBox="1"/>
          <p:nvPr/>
        </p:nvSpPr>
        <p:spPr>
          <a:xfrm>
            <a:off x="5440680" y="3657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৩. রান করো</a:t>
            </a:r>
            <a:endParaRPr lang="en-US" sz="15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Run body 3"/>
          <p:cNvSpPr txBox="1"/>
          <p:nvPr/>
        </p:nvSpPr>
        <p:spPr>
          <a:xfrm>
            <a:off x="5440680" y="39776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Hello  →  Hello, Java!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5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যোগফল নির্ণয়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১/১০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দুটি সংখ্যার যোগফল নির্ণয়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10 20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 Sum = 30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যোগফল = a + b। ক্লাসের উপরে import java.util.Scanner; লিখো।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709928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SumOfTwoNumbers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("Enter first number: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    double a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("Enter second number: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    double b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    double sum = a + b;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("Sum = " + sum);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cs typeface="Hind Siliguri" panose="02000000000000000000" pitchFamily="2" charset="0"/>
              </a:rPr>
              <a:t>}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6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আয়তক্ষেত্রের ক্ষেত্রফল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২/১০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একটি আয়তক্ষেত্রের ক্ষেত্রফল নির্ণয়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5 3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 Area = 15.0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ক্ষেত্রফল = দৈর্ঘ্য × প্রস্থ। দশমিক হতে পারে, তাই double ব্যবহার করো।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645920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RectangleArea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length: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length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width: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width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area = length * width;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("Area of Rectangle = " + area);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10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7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বর্গের ক্ষেত্রফল</a:t>
            </a:r>
            <a:endParaRPr lang="en-US" sz="3000" dirty="0"/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প্রব্লেম ৩/১০</a:t>
            </a:r>
            <a:endParaRPr lang="en-US" sz="1200" dirty="0"/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সমস্যা</a:t>
            </a:r>
            <a:endParaRPr lang="en-US" sz="1400" dirty="0"/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Java Program ব্যবহার করে একটি বর্গের ক্ষেত্রফল নির্ণয় কর।</a:t>
            </a:r>
            <a:endParaRPr lang="en-US" sz="1400" dirty="0"/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ইনপুট: 4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আউটপুট: Area = 16</a:t>
            </a:r>
            <a:endParaRPr lang="en-US" sz="1300" dirty="0"/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আইডিয়া</a:t>
            </a:r>
            <a:endParaRPr lang="en-US" sz="1400" dirty="0"/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ক্ষেত্রফল = বাহু × বাহু।</a:t>
            </a:r>
            <a:endParaRPr lang="en-US" sz="1400" dirty="0"/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Java কোড (main মেথডের ভেতরে)</a:t>
            </a:r>
            <a:endParaRPr lang="en-US" sz="1200" dirty="0"/>
          </a:p>
        </p:txBody>
      </p:sp>
      <p:sp>
        <p:nvSpPr>
          <p:cNvPr id="14" name="Code"/>
          <p:cNvSpPr txBox="1"/>
          <p:nvPr/>
        </p:nvSpPr>
        <p:spPr>
          <a:xfrm>
            <a:off x="4663440" y="1600200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SquareArea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("Enter side: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double side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double area = side * side;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("Area of Square = " + area);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সমকোণী ত্রিভুজের ক্ষেত্রফল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৪/১০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একটি সমকোণী ত্রিভুজের ক্ষেত্রফল নির্ণয়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6 4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 Area = 12.0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ক্ষেত্রফল = ½ × ভূমি × উচ্চতা। 1/2 নয়, 0.5 লিখো।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600200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RightTriangleArea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base: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base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height: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height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area = 0.5 * base * height;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("Area of Right Triangle = " + area);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10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9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Celsius → Fahrenheit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৫/১০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Celsius থেকে Fahrenheit-এ তাপমাত্রা রূপান্তর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100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 Fahrenheit = 212.0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F = C × 9/5 + 32। 9.0 / 5 লিখো, নাহলে ভাগফল পূর্ণসংখ্যা হবে।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615440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CelsiusToFahrenheit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temperature in Celsius: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celsius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fahrenheit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= (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celsius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* 9 / 5) + 32;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("Temperature in Fahrenheit = " +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fahrenheit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10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10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মিনিট → ঘণ্টা ও মিনিট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৬/১০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মোট মিনিটকে ঘণ্টা ও মিনিটে রূপান্তর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135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Hours = 2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Minutes = 15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ঘণ্টা = মোট / ৬০ (ভাগফল), মিনিট = মোট % ৬০ (ভাগশেষ)।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709928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MinutesToHours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total minutes: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int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totalMinutes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int hours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totalMinutes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/ 60;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int minutes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totalMinutes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% 60;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("Hours = " + hours);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("Minutes = " + minutes);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10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11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তিনটি সংখ্যার গড়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৭/১০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তিনটি সংখ্যার গড় নির্ণয়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4 5 6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 Average = 5.0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গড় = (a + b + c) / 3.0। 3.0 লিখলে দশমিকসহ ফলাফল আসবে।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600200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endParaRPr lang="en-US" sz="9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AverageOfThreeNumbers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{</a:t>
            </a: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args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 {</a:t>
            </a: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Scanner input = new Scanner(System.in);</a:t>
            </a:r>
          </a:p>
          <a:p>
            <a:endParaRPr lang="en-US" sz="9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first number: ");</a:t>
            </a: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a =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endParaRPr lang="en-US" sz="9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second number: ");</a:t>
            </a: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b =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endParaRPr lang="en-US" sz="9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third number: ");</a:t>
            </a: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c =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endParaRPr lang="en-US" sz="9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average = (a + b + c) / 3;</a:t>
            </a:r>
          </a:p>
          <a:p>
            <a:endParaRPr lang="en-US" sz="9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9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("Average = " + average);</a:t>
            </a:r>
          </a:p>
          <a:p>
            <a:endParaRPr lang="en-US" sz="9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</a:p>
          <a:p>
            <a:r>
              <a:rPr lang="en-US" sz="9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9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12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বৃত্তের ক্ষেত্রফল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৮/১০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একটি বৃত্তের ক্ষেত্রফল নির্ণয়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7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 Area ≈ 153.94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ক্ষেত্রফল = π × r²। π-র জন্য Math.PI ব্যবহার করো।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645920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CircleArea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radius: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radius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area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Math.PI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* radius * radius;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("Area of Circle = " + area);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input.close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10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13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আয়তক্ষেত্রের পরিসীমা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৯/১০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একটি আয়তক্ষেত্রের পরিসীমা নির্ণয়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5 3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 Perimeter = 16.0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পরিসীমা = ২ × (দৈর্ঘ্য + প্রস্থ)। যোগ আগে করতে বন্ধনী দাও।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620012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RectanglePerimeter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length: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length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width: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width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perimeter = 2 * (length + width);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("Perimeter of Rectangle = " + perimeter);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input.close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10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14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Kilometer → Meter</a:t>
            </a:r>
            <a:endParaRPr lang="en-US" sz="30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3" name="Problem badge"/>
          <p:cNvSpPr/>
          <p:nvPr/>
        </p:nvSpPr>
        <p:spPr>
          <a:xfrm>
            <a:off x="7406640" y="411480"/>
            <a:ext cx="12801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প্রব্লেম ১০/১০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4" name="Statement card"/>
          <p:cNvSpPr/>
          <p:nvPr/>
        </p:nvSpPr>
        <p:spPr>
          <a:xfrm>
            <a:off x="457200" y="12344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Statement label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সমস্যা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6" name="Statement"/>
          <p:cNvSpPr txBox="1"/>
          <p:nvPr/>
        </p:nvSpPr>
        <p:spPr>
          <a:xfrm>
            <a:off x="640080" y="162763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Program ব্যবহার করে Kilometer-কে Meter-এ রূপান্তর কর।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7" name="IO card"/>
          <p:cNvSpPr/>
          <p:nvPr/>
        </p:nvSpPr>
        <p:spPr>
          <a:xfrm>
            <a:off x="457200" y="256032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IO text"/>
          <p:cNvSpPr txBox="1"/>
          <p:nvPr/>
        </p:nvSpPr>
        <p:spPr>
          <a:xfrm>
            <a:off x="640080" y="26334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ইনপুট: 2.5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আউটপুট: Meter = 2500.0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9" name="Hint card"/>
          <p:cNvSpPr/>
          <p:nvPr/>
        </p:nvSpPr>
        <p:spPr>
          <a:xfrm>
            <a:off x="457200" y="361188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Hint label"/>
          <p:cNvSpPr txBox="1"/>
          <p:nvPr/>
        </p:nvSpPr>
        <p:spPr>
          <a:xfrm>
            <a:off x="6400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আইডিয়া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1" name="Hint"/>
          <p:cNvSpPr txBox="1"/>
          <p:nvPr/>
        </p:nvSpPr>
        <p:spPr>
          <a:xfrm>
            <a:off x="6400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১ কিলোমিটার = ১০০০ মিটার, তাই km × 1000।</a:t>
            </a:r>
            <a:endParaRPr lang="en-US" sz="14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Code card"/>
          <p:cNvSpPr/>
          <p:nvPr/>
        </p:nvSpPr>
        <p:spPr>
          <a:xfrm>
            <a:off x="4480560" y="1234440"/>
            <a:ext cx="4206240" cy="329184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/>
        </p:spPr>
      </p:sp>
      <p:sp>
        <p:nvSpPr>
          <p:cNvPr id="13" name="Code label"/>
          <p:cNvSpPr txBox="1"/>
          <p:nvPr/>
        </p:nvSpPr>
        <p:spPr>
          <a:xfrm>
            <a:off x="46634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  <a:latin typeface="Hind Siliguri" panose="02000000000000000000" pitchFamily="2" charset="0"/>
                <a:cs typeface="Hind Siliguri" panose="02000000000000000000" pitchFamily="2" charset="0"/>
              </a:rPr>
              <a:t>Java কোড (main মেথডের ভেতরে)</a:t>
            </a:r>
            <a:endParaRPr lang="en-US" sz="12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Code"/>
          <p:cNvSpPr txBox="1"/>
          <p:nvPr/>
        </p:nvSpPr>
        <p:spPr>
          <a:xfrm>
            <a:off x="4663440" y="1607820"/>
            <a:ext cx="3886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import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java.util.Scanner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public class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KilometerToMeter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public static void main(String[]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args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) {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Scanner input = new Scanner(System.in);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("Enter distance in kilometer: ");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kilometer =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input.nextDouble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double meter = kilometer * 1000;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System.out.println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("Distance in Meter = " + meter);</a:t>
            </a: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  <a:latin typeface="Monaco" panose="020B0500000000000000" pitchFamily="34" charset="0"/>
              <a:ea typeface="Courier New" pitchFamily="34" charset="-122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    </a:t>
            </a:r>
            <a:r>
              <a:rPr lang="en-US" sz="1000" dirty="0" err="1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input.close</a:t>
            </a: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();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    }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aco" panose="020B0500000000000000" pitchFamily="34" charset="0"/>
                <a:ea typeface="Courier New" pitchFamily="34" charset="-122"/>
                <a:cs typeface="Hind Siliguri" panose="02000000000000000000" pitchFamily="2" charset="0"/>
              </a:rPr>
              <a:t>}</a:t>
            </a:r>
            <a:endParaRPr lang="en-US" sz="1000" dirty="0">
              <a:latin typeface="Monaco" panose="020B0500000000000000" pitchFamily="34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latin typeface="Hind Siliguri" panose="02000000000000000000" pitchFamily="2" charset="0"/>
                <a:cs typeface="Hind Siliguri" panose="02000000000000000000" pitchFamily="2" charset="0"/>
              </a:rPr>
              <a:t>15</a:t>
            </a:fld>
            <a:endParaRPr lang="en-US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C5484C0-EBC7-90C1-A328-9A5E6EDC16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Java Beginner">
  <a:themeElements>
    <a:clrScheme name="Java Beginner">
      <a:dk1>
        <a:srgbClr val="1F2933"/>
      </a:dk1>
      <a:lt1>
        <a:srgbClr val="FFFFFF"/>
      </a:lt1>
      <a:dk2>
        <a:srgbClr val="0B3C5D"/>
      </a:dk2>
      <a:lt2>
        <a:srgbClr val="EEF3F8"/>
      </a:lt2>
      <a:accent1>
        <a:srgbClr val="E76F00"/>
      </a:accent1>
      <a:accent2>
        <a:srgbClr val="0B3C5D"/>
      </a:accent2>
      <a:accent3>
        <a:srgbClr val="2A9D8F"/>
      </a:accent3>
      <a:accent4>
        <a:srgbClr val="F4A261"/>
      </a:accent4>
      <a:accent5>
        <a:srgbClr val="5C6BC0"/>
      </a:accent5>
      <a:accent6>
        <a:srgbClr val="6B7280"/>
      </a:accent6>
      <a:hlink>
        <a:srgbClr val="0B3C5D"/>
      </a:hlink>
      <a:folHlink>
        <a:srgbClr val="6B7280"/>
      </a:folHlink>
    </a:clrScheme>
    <a:fontScheme name="Java Beginner">
      <a:majorFont>
        <a:latin typeface="Nirmala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irmala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1805</Words>
  <Application>Microsoft Office PowerPoint</Application>
  <PresentationFormat>On-screen Show (16:9)</PresentationFormat>
  <Paragraphs>361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Hind Siliguri</vt:lpstr>
      <vt:lpstr>Monaco</vt:lpstr>
      <vt:lpstr>Nirmala UI</vt:lpstr>
      <vt:lpstr>Java Beginner</vt:lpstr>
      <vt:lpstr>PowerPoint Presentation</vt:lpstr>
      <vt:lpstr>কী কী লাগবে? রিকোয়ারমেন্ট</vt:lpstr>
      <vt:lpstr>সফটওয়্যার ও এনভায়রনমেন্ট</vt:lpstr>
      <vt:lpstr>সেটআপের ধাপ</vt:lpstr>
      <vt:lpstr>প্রথম জাভা প্রোগ্রাম</vt:lpstr>
      <vt:lpstr>যোগফল নির্ণয়</vt:lpstr>
      <vt:lpstr>আয়তক্ষেত্রের ক্ষেত্রফল</vt:lpstr>
      <vt:lpstr>বর্গের ক্ষেত্রফল</vt:lpstr>
      <vt:lpstr>সমকোণী ত্রিভুজের ক্ষেত্রফল</vt:lpstr>
      <vt:lpstr>Celsius → Fahrenheit</vt:lpstr>
      <vt:lpstr>মিনিট → ঘণ্টা ও মিনিট</vt:lpstr>
      <vt:lpstr>তিনটি সংখ্যার গড়</vt:lpstr>
      <vt:lpstr>বৃত্তের ক্ষেত্রফল</vt:lpstr>
      <vt:lpstr>আয়তক্ষেত্রের পরিসীমা</vt:lpstr>
      <vt:lpstr>Kilometer → Meter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জাভা প্রোগ্রামিং – নতুনদের জন্য</dc:title>
  <dc:subject>PptxGenJS Presentation</dc:subject>
  <dc:creator>মোঃ রুহুল আমিন</dc:creator>
  <cp:lastModifiedBy>Ruhul Amin</cp:lastModifiedBy>
  <cp:revision>25</cp:revision>
  <dcterms:created xsi:type="dcterms:W3CDTF">2026-10-06T03:16:53Z</dcterms:created>
  <dcterms:modified xsi:type="dcterms:W3CDTF">2026-10-06T04:05:24Z</dcterms:modified>
</cp:coreProperties>
</file>