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18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</p:sldIdLst>
  <p:sldSz cx="9144000" cy="5143500" type="screen16x9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521415D9-36F7-43E2-AB2F-B90AF26B5E84}">
      <p14:sectionLst xmlns:p14="http://schemas.microsoft.com/office/powerpoint/2010/main">
        <p14:section name="শুরু" id="{891A6B16-368E-D036-90DA-35958D78374F}">
          <p14:sldIdLst>
            <p14:sldId id="256"/>
          </p14:sldIdLst>
        </p14:section>
        <p14:section name="এনভায়রনমেন্ট ও রিকোয়ারমেন্ট" id="{1FFEBF67-28DF-506D-1CDF-FF75E75FCF48}">
          <p14:sldIdLst>
            <p14:sldId id="257"/>
            <p14:sldId id="258"/>
            <p14:sldId id="259"/>
            <p14:sldId id="260"/>
          </p14:sldIdLst>
        </p14:section>
        <p14:section name="১০টি প্রোগ্রামিং প্রব্লেম" id="{DCC7F68E-60D8-A947-CD3C-B1A825BA20D9}">
          <p14:sldIdLst>
            <p14:sldId id="261"/>
            <p14:sldId id="262"/>
            <p14:sldId id="263"/>
            <p14:sldId id="264"/>
            <p14:sldId id="265"/>
            <p14:sldId id="266"/>
            <p14:sldId id="267"/>
            <p14:sldId id="268"/>
            <p14:sldId id="269"/>
            <p14:sldId id="270"/>
          </p14:sldIdLst>
        </p14:section>
        <p14:section name="সমাপ্তি" id="{E44466E4-D3E8-AD36-1DFA-F637D39F7A56}">
          <p14:sldIdLst>
            <p14:sldId id="271"/>
          </p14:sldIdLst>
        </p14:section>
      </p14:sectionLst>
    </p:ex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5611"/>
    <p:restoredTop sz="94610"/>
  </p:normalViewPr>
  <p:slideViewPr>
    <p:cSldViewPr snapToGrid="0" snapToObjects="1">
      <p:cViewPr>
        <p:scale>
          <a:sx n="125" d="100"/>
          <a:sy n="125" d="100"/>
        </p:scale>
        <p:origin x="1116" y="43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notesMaster" Target="notesMasters/notesMaster1.xml"/><Relationship Id="rId3" Type="http://schemas.openxmlformats.org/officeDocument/2006/relationships/slide" Target="slides/slide2.xml"/><Relationship Id="rId21" Type="http://schemas.openxmlformats.org/officeDocument/2006/relationships/theme" Target="theme/theme1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10" Type="http://schemas.openxmlformats.org/officeDocument/2006/relationships/slide" Target="slides/slide9.xml"/><Relationship Id="rId19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56648529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>
            <a:spLocks noGrp="1"/>
          </p:cNvSpPr>
          <p:nvPr>
            <p:ph type="title" idx="100" hasCustomPrompt="1"/>
          </p:nvPr>
        </p:nvSpPr>
        <p:spPr>
          <a:xfrm>
            <a:off x="457200" y="274320"/>
            <a:ext cx="8229600" cy="731520"/>
          </a:xfrm>
          <a:prstGeom prst="rect">
            <a:avLst/>
          </a:prstGeom>
          <a:noFill/>
          <a:ln/>
        </p:spPr>
        <p:txBody>
          <a:bodyPr wrap="square" rtlCol="0"/>
          <a:lstStyle>
            <a:lvl1pPr marL="0" indent="0" algn="l">
              <a:buNone/>
              <a:defRPr lang="en-US" sz="3000" b="1" dirty="0">
                <a:solidFill>
                  <a:schemeClr val="tx2"/>
                </a:solidFill>
              </a:defRPr>
            </a:lvl1pPr>
          </a:lstStyle>
          <a:p>
            <a:pPr marL="0" indent="0" algn="l">
              <a:buNone/>
            </a:pPr>
            <a:endParaRPr lang="en-US" sz="3000" dirty="0"/>
          </a:p>
        </p:txBody>
      </p:sp>
      <p:sp>
        <p:nvSpPr>
          <p:cNvPr id="3" name="Text 0"/>
          <p:cNvSpPr/>
          <p:nvPr/>
        </p:nvSpPr>
        <p:spPr>
          <a:xfrm>
            <a:off x="457200" y="4709160"/>
            <a:ext cx="6858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chemeClr val="accent6"/>
                </a:solidFill>
                <a:latin typeface="Hind Siliguri" panose="02000000000000000000" pitchFamily="2" charset="0"/>
                <a:cs typeface="Hind Siliguri" panose="02000000000000000000" pitchFamily="2" charset="0"/>
              </a:rPr>
              <a:t>মোঃ রুহুল আমিন  |  কুষ্টিয়া সরকারী পলিটেকনিক ইনস্টিটিউট, কুষ্টিয়া</a:t>
            </a:r>
            <a:endParaRPr lang="en-US" sz="1000" dirty="0">
              <a:latin typeface="Hind Siliguri" panose="02000000000000000000" pitchFamily="2" charset="0"/>
              <a:cs typeface="Hind Siliguri" panose="02000000000000000000" pitchFamily="2" charset="0"/>
            </a:endParaRPr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70916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=""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6"/>
                </a:solidFill>
              </a:defRPr>
            </a:lvl1pPr>
          </a:lstStyle>
          <a:p>
            <a:pPr algn="l"/>
            <a:fld id="{F7021451-1387-4CA6-816F-3879F97B5CBC}" type="slidenum">
              <a:rPr lang="en-US" b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AR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chemeClr val="tx2"/>
          </a:solidFill>
          <a:ln/>
        </p:spPr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4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70916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=""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6"/>
                </a:solidFill>
              </a:defRPr>
            </a:lvl1pPr>
          </a:lstStyle>
          <a:p>
            <a:pPr algn="l"/>
            <a:fld id="{F7021451-1387-4CA6-816F-3879F97B5CBC}" type="slidenum">
              <a:rPr lang="en-US" b="0"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3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3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agline"/>
          <p:cNvSpPr txBox="1"/>
          <p:nvPr/>
        </p:nvSpPr>
        <p:spPr>
          <a:xfrm>
            <a:off x="548640" y="502920"/>
            <a:ext cx="7315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600" b="1" dirty="0">
                <a:solidFill>
                  <a:schemeClr val="accent4"/>
                </a:solidFill>
                <a:latin typeface="Hind Siliguri" panose="02000000000000000000" pitchFamily="2" charset="0"/>
                <a:cs typeface="Hind Siliguri" panose="02000000000000000000" pitchFamily="2" charset="0"/>
              </a:rPr>
              <a:t>জাভা প্রোগ্রামিং  •  সম্পূর্ণ নতুনদের জন্য</a:t>
            </a:r>
            <a:endParaRPr lang="en-US" sz="1600" dirty="0">
              <a:latin typeface="Hind Siliguri" panose="02000000000000000000" pitchFamily="2" charset="0"/>
              <a:cs typeface="Hind Siliguri" panose="02000000000000000000" pitchFamily="2" charset="0"/>
            </a:endParaRPr>
          </a:p>
        </p:txBody>
      </p:sp>
      <p:sp>
        <p:nvSpPr>
          <p:cNvPr id="3" name="Deck title"/>
          <p:cNvSpPr txBox="1"/>
          <p:nvPr/>
        </p:nvSpPr>
        <p:spPr>
          <a:xfrm>
            <a:off x="548640" y="975360"/>
            <a:ext cx="475488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4400" b="1" dirty="0">
                <a:solidFill>
                  <a:schemeClr val="bg1"/>
                </a:solidFill>
                <a:latin typeface="Hind Siliguri" panose="02000000000000000000" pitchFamily="2" charset="0"/>
                <a:cs typeface="Hind Siliguri" panose="02000000000000000000" pitchFamily="2" charset="0"/>
              </a:rPr>
              <a:t>Java Programming</a:t>
            </a:r>
            <a:endParaRPr lang="en-US" sz="4400" dirty="0">
              <a:latin typeface="Hind Siliguri" panose="02000000000000000000" pitchFamily="2" charset="0"/>
              <a:cs typeface="Hind Siliguri" panose="02000000000000000000" pitchFamily="2" charset="0"/>
            </a:endParaRPr>
          </a:p>
        </p:txBody>
      </p:sp>
      <p:sp>
        <p:nvSpPr>
          <p:cNvPr id="4" name="Subtitle"/>
          <p:cNvSpPr txBox="1"/>
          <p:nvPr/>
        </p:nvSpPr>
        <p:spPr>
          <a:xfrm>
            <a:off x="548640" y="1859280"/>
            <a:ext cx="4572000" cy="11049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dirty="0" err="1">
                <a:solidFill>
                  <a:schemeClr val="bg1"/>
                </a:solidFill>
                <a:latin typeface="Hind Siliguri" panose="02000000000000000000" pitchFamily="2" charset="0"/>
                <a:cs typeface="Hind Siliguri" panose="02000000000000000000" pitchFamily="2" charset="0"/>
              </a:rPr>
              <a:t>তারিখঃ</a:t>
            </a:r>
            <a:r>
              <a:rPr lang="en-US" dirty="0">
                <a:solidFill>
                  <a:schemeClr val="bg1"/>
                </a:solidFill>
                <a:latin typeface="Hind Siliguri" panose="02000000000000000000" pitchFamily="2" charset="0"/>
                <a:cs typeface="Hind Siliguri" panose="02000000000000000000" pitchFamily="2" charset="0"/>
              </a:rPr>
              <a:t> ০৬ – ১০ – ২০২৬ </a:t>
            </a:r>
          </a:p>
          <a:p>
            <a:pPr marL="0" indent="0">
              <a:buNone/>
            </a:pPr>
            <a:r>
              <a:rPr lang="en-US" sz="1800" b="1" dirty="0" err="1">
                <a:solidFill>
                  <a:schemeClr val="bg1"/>
                </a:solidFill>
                <a:latin typeface="Hind Siliguri" panose="02000000000000000000" pitchFamily="2" charset="0"/>
                <a:cs typeface="Hind Siliguri" panose="02000000000000000000" pitchFamily="2" charset="0"/>
              </a:rPr>
              <a:t>জব</a:t>
            </a:r>
            <a:r>
              <a:rPr lang="en-US" sz="1800" b="1" dirty="0">
                <a:solidFill>
                  <a:schemeClr val="bg1"/>
                </a:solidFill>
                <a:latin typeface="Hind Siliguri" panose="02000000000000000000" pitchFamily="2" charset="0"/>
                <a:cs typeface="Hind Siliguri" panose="02000000000000000000" pitchFamily="2" charset="0"/>
              </a:rPr>
              <a:t> </a:t>
            </a:r>
            <a:r>
              <a:rPr lang="en-US" sz="1800" b="1" dirty="0" err="1">
                <a:solidFill>
                  <a:schemeClr val="bg1"/>
                </a:solidFill>
                <a:latin typeface="Hind Siliguri" panose="02000000000000000000" pitchFamily="2" charset="0"/>
                <a:cs typeface="Hind Siliguri" panose="02000000000000000000" pitchFamily="2" charset="0"/>
              </a:rPr>
              <a:t>ন</a:t>
            </a:r>
            <a:r>
              <a:rPr lang="en-US" b="1" dirty="0" err="1">
                <a:solidFill>
                  <a:schemeClr val="bg1"/>
                </a:solidFill>
                <a:latin typeface="Hind Siliguri" panose="02000000000000000000" pitchFamily="2" charset="0"/>
                <a:cs typeface="Hind Siliguri" panose="02000000000000000000" pitchFamily="2" charset="0"/>
              </a:rPr>
              <a:t>ংঃ</a:t>
            </a:r>
            <a:r>
              <a:rPr lang="en-US" b="1" dirty="0">
                <a:solidFill>
                  <a:schemeClr val="bg1"/>
                </a:solidFill>
                <a:latin typeface="Hind Siliguri" panose="02000000000000000000" pitchFamily="2" charset="0"/>
                <a:cs typeface="Hind Siliguri" panose="02000000000000000000" pitchFamily="2" charset="0"/>
              </a:rPr>
              <a:t> ০১</a:t>
            </a:r>
          </a:p>
          <a:p>
            <a:r>
              <a:rPr lang="en-US" b="1" dirty="0" err="1">
                <a:solidFill>
                  <a:schemeClr val="bg1"/>
                </a:solidFill>
                <a:latin typeface="Hind Siliguri" panose="02000000000000000000" pitchFamily="2" charset="0"/>
                <a:cs typeface="Hind Siliguri" panose="02000000000000000000" pitchFamily="2" charset="0"/>
              </a:rPr>
              <a:t>জবের</a:t>
            </a:r>
            <a:r>
              <a:rPr lang="en-US" b="1" dirty="0">
                <a:solidFill>
                  <a:schemeClr val="bg1"/>
                </a:solidFill>
                <a:latin typeface="Hind Siliguri" panose="02000000000000000000" pitchFamily="2" charset="0"/>
                <a:cs typeface="Hind Siliguri" panose="02000000000000000000" pitchFamily="2" charset="0"/>
              </a:rPr>
              <a:t> </a:t>
            </a:r>
            <a:r>
              <a:rPr lang="en-US" b="1" dirty="0" err="1">
                <a:solidFill>
                  <a:schemeClr val="bg1"/>
                </a:solidFill>
                <a:latin typeface="Hind Siliguri" panose="02000000000000000000" pitchFamily="2" charset="0"/>
                <a:cs typeface="Hind Siliguri" panose="02000000000000000000" pitchFamily="2" charset="0"/>
              </a:rPr>
              <a:t>নামঃ</a:t>
            </a:r>
            <a:r>
              <a:rPr lang="en-US" b="1" dirty="0">
                <a:solidFill>
                  <a:schemeClr val="bg1"/>
                </a:solidFill>
                <a:latin typeface="Hind Siliguri" panose="02000000000000000000" pitchFamily="2" charset="0"/>
                <a:cs typeface="Hind Siliguri" panose="02000000000000000000" pitchFamily="2" charset="0"/>
              </a:rPr>
              <a:t> </a:t>
            </a:r>
            <a:r>
              <a:rPr lang="en-US" dirty="0" err="1">
                <a:solidFill>
                  <a:schemeClr val="bg1"/>
                </a:solidFill>
                <a:latin typeface="Hind Siliguri" panose="02000000000000000000" pitchFamily="2" charset="0"/>
                <a:cs typeface="Hind Siliguri" panose="02000000000000000000" pitchFamily="2" charset="0"/>
              </a:rPr>
              <a:t>এনভায়রনমেন্ট</a:t>
            </a:r>
            <a:r>
              <a:rPr lang="en-US" dirty="0">
                <a:solidFill>
                  <a:schemeClr val="bg1"/>
                </a:solidFill>
                <a:latin typeface="Hind Siliguri" panose="02000000000000000000" pitchFamily="2" charset="0"/>
                <a:cs typeface="Hind Siliguri" panose="02000000000000000000" pitchFamily="2" charset="0"/>
              </a:rPr>
              <a:t> </a:t>
            </a:r>
            <a:r>
              <a:rPr lang="en-US" dirty="0" err="1">
                <a:solidFill>
                  <a:schemeClr val="bg1"/>
                </a:solidFill>
                <a:latin typeface="Hind Siliguri" panose="02000000000000000000" pitchFamily="2" charset="0"/>
                <a:cs typeface="Hind Siliguri" panose="02000000000000000000" pitchFamily="2" charset="0"/>
              </a:rPr>
              <a:t>সেটআপ</a:t>
            </a:r>
            <a:r>
              <a:rPr lang="en-US" dirty="0">
                <a:solidFill>
                  <a:schemeClr val="bg1"/>
                </a:solidFill>
                <a:latin typeface="Hind Siliguri" panose="02000000000000000000" pitchFamily="2" charset="0"/>
                <a:cs typeface="Hind Siliguri" panose="02000000000000000000" pitchFamily="2" charset="0"/>
              </a:rPr>
              <a:t> ও ১০টি </a:t>
            </a:r>
            <a:r>
              <a:rPr lang="en-US" dirty="0" err="1">
                <a:solidFill>
                  <a:schemeClr val="bg1"/>
                </a:solidFill>
                <a:latin typeface="Hind Siliguri" panose="02000000000000000000" pitchFamily="2" charset="0"/>
                <a:cs typeface="Hind Siliguri" panose="02000000000000000000" pitchFamily="2" charset="0"/>
              </a:rPr>
              <a:t>বিগিনার</a:t>
            </a:r>
            <a:r>
              <a:rPr lang="en-US" dirty="0">
                <a:solidFill>
                  <a:schemeClr val="bg1"/>
                </a:solidFill>
                <a:latin typeface="Hind Siliguri" panose="02000000000000000000" pitchFamily="2" charset="0"/>
                <a:cs typeface="Hind Siliguri" panose="02000000000000000000" pitchFamily="2" charset="0"/>
              </a:rPr>
              <a:t> </a:t>
            </a:r>
            <a:r>
              <a:rPr lang="en-US" dirty="0" err="1">
                <a:solidFill>
                  <a:schemeClr val="bg1"/>
                </a:solidFill>
                <a:latin typeface="Hind Siliguri" panose="02000000000000000000" pitchFamily="2" charset="0"/>
                <a:cs typeface="Hind Siliguri" panose="02000000000000000000" pitchFamily="2" charset="0"/>
              </a:rPr>
              <a:t>প্রোগ্রামিং</a:t>
            </a:r>
            <a:r>
              <a:rPr lang="en-US" dirty="0">
                <a:solidFill>
                  <a:schemeClr val="bg1"/>
                </a:solidFill>
                <a:latin typeface="Hind Siliguri" panose="02000000000000000000" pitchFamily="2" charset="0"/>
                <a:cs typeface="Hind Siliguri" panose="02000000000000000000" pitchFamily="2" charset="0"/>
              </a:rPr>
              <a:t> </a:t>
            </a:r>
            <a:r>
              <a:rPr lang="en-US" dirty="0" err="1">
                <a:solidFill>
                  <a:schemeClr val="bg1"/>
                </a:solidFill>
                <a:latin typeface="Hind Siliguri" panose="02000000000000000000" pitchFamily="2" charset="0"/>
                <a:cs typeface="Hind Siliguri" panose="02000000000000000000" pitchFamily="2" charset="0"/>
              </a:rPr>
              <a:t>প্রব্লেম</a:t>
            </a:r>
            <a:endParaRPr lang="en-US" dirty="0">
              <a:solidFill>
                <a:schemeClr val="bg1"/>
              </a:solidFill>
              <a:latin typeface="Hind Siliguri" panose="02000000000000000000" pitchFamily="2" charset="0"/>
              <a:cs typeface="Hind Siliguri" panose="02000000000000000000" pitchFamily="2" charset="0"/>
            </a:endParaRPr>
          </a:p>
        </p:txBody>
      </p:sp>
      <p:sp>
        <p:nvSpPr>
          <p:cNvPr id="5" name="Hero code card"/>
          <p:cNvSpPr/>
          <p:nvPr/>
        </p:nvSpPr>
        <p:spPr>
          <a:xfrm>
            <a:off x="5577840" y="914400"/>
            <a:ext cx="3017520" cy="1645920"/>
          </a:xfrm>
          <a:prstGeom prst="roundRect">
            <a:avLst>
              <a:gd name="adj" fmla="val 6667"/>
            </a:avLst>
          </a:prstGeom>
          <a:solidFill>
            <a:schemeClr val="tx1"/>
          </a:solidFill>
          <a:ln/>
        </p:spPr>
      </p:sp>
      <p:sp>
        <p:nvSpPr>
          <p:cNvPr id="6" name="Hero code"/>
          <p:cNvSpPr txBox="1"/>
          <p:nvPr/>
        </p:nvSpPr>
        <p:spPr>
          <a:xfrm>
            <a:off x="5806440" y="1280160"/>
            <a:ext cx="265176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400" dirty="0">
                <a:solidFill>
                  <a:schemeClr val="accent4"/>
                </a:solidFill>
                <a:latin typeface="Monaco" panose="020B0500000000000000" pitchFamily="34" charset="0"/>
                <a:ea typeface="Courier New" pitchFamily="34" charset="-122"/>
                <a:cs typeface="Hind Siliguri" panose="02000000000000000000" pitchFamily="2" charset="0"/>
              </a:rPr>
              <a:t>System.out.println(</a:t>
            </a:r>
            <a:endParaRPr lang="en-US" sz="1400" dirty="0">
              <a:latin typeface="Monaco" panose="020B0500000000000000" pitchFamily="34" charset="0"/>
              <a:cs typeface="Hind Siliguri" panose="02000000000000000000" pitchFamily="2" charset="0"/>
            </a:endParaRPr>
          </a:p>
          <a:p>
            <a:pPr marL="0" indent="0">
              <a:buNone/>
            </a:pPr>
            <a:r>
              <a:rPr lang="en-US" sz="1400" dirty="0">
                <a:solidFill>
                  <a:schemeClr val="accent4"/>
                </a:solidFill>
                <a:latin typeface="Monaco" panose="020B0500000000000000" pitchFamily="34" charset="0"/>
                <a:ea typeface="Courier New" pitchFamily="34" charset="-122"/>
                <a:cs typeface="Hind Siliguri" panose="02000000000000000000" pitchFamily="2" charset="0"/>
              </a:rPr>
              <a:t>    "Hello, Java!"</a:t>
            </a:r>
            <a:endParaRPr lang="en-US" sz="1400" dirty="0">
              <a:latin typeface="Monaco" panose="020B0500000000000000" pitchFamily="34" charset="0"/>
              <a:cs typeface="Hind Siliguri" panose="02000000000000000000" pitchFamily="2" charset="0"/>
            </a:endParaRPr>
          </a:p>
          <a:p>
            <a:pPr marL="0" indent="0">
              <a:buNone/>
            </a:pPr>
            <a:r>
              <a:rPr lang="en-US" sz="1400" dirty="0">
                <a:solidFill>
                  <a:schemeClr val="accent4"/>
                </a:solidFill>
                <a:latin typeface="Monaco" panose="020B0500000000000000" pitchFamily="34" charset="0"/>
                <a:ea typeface="Courier New" pitchFamily="34" charset="-122"/>
                <a:cs typeface="Hind Siliguri" panose="02000000000000000000" pitchFamily="2" charset="0"/>
              </a:rPr>
              <a:t>);</a:t>
            </a:r>
            <a:endParaRPr lang="en-US" sz="1400" dirty="0">
              <a:latin typeface="Monaco" panose="020B0500000000000000" pitchFamily="34" charset="0"/>
              <a:cs typeface="Hind Siliguri" panose="02000000000000000000" pitchFamily="2" charset="0"/>
            </a:endParaRPr>
          </a:p>
        </p:txBody>
      </p:sp>
      <p:sp>
        <p:nvSpPr>
          <p:cNvPr id="7" name="Presenter label"/>
          <p:cNvSpPr txBox="1"/>
          <p:nvPr/>
        </p:nvSpPr>
        <p:spPr>
          <a:xfrm>
            <a:off x="548640" y="3070860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200" b="1" dirty="0">
                <a:solidFill>
                  <a:schemeClr val="accent4"/>
                </a:solidFill>
                <a:latin typeface="Hind Siliguri" panose="02000000000000000000" pitchFamily="2" charset="0"/>
                <a:cs typeface="Hind Siliguri" panose="02000000000000000000" pitchFamily="2" charset="0"/>
              </a:rPr>
              <a:t>উপস্থাপনায়</a:t>
            </a:r>
            <a:endParaRPr lang="en-US" sz="1200" dirty="0">
              <a:latin typeface="Hind Siliguri" panose="02000000000000000000" pitchFamily="2" charset="0"/>
              <a:cs typeface="Hind Siliguri" panose="02000000000000000000" pitchFamily="2" charset="0"/>
            </a:endParaRPr>
          </a:p>
        </p:txBody>
      </p:sp>
      <p:grpSp>
        <p:nvGrpSpPr>
          <p:cNvPr id="12" name="Group 11">
            <a:extLst>
              <a:ext uri="{FF2B5EF4-FFF2-40B4-BE49-F238E27FC236}">
                <a16:creationId xmlns:a16="http://schemas.microsoft.com/office/drawing/2014/main" id="{ED7CB11E-8D97-9910-B4C0-CD90F882F673}"/>
              </a:ext>
            </a:extLst>
          </p:cNvPr>
          <p:cNvGrpSpPr/>
          <p:nvPr/>
        </p:nvGrpSpPr>
        <p:grpSpPr>
          <a:xfrm>
            <a:off x="548640" y="3451861"/>
            <a:ext cx="5212080" cy="1551848"/>
            <a:chOff x="822960" y="2468880"/>
            <a:chExt cx="5212080" cy="1551848"/>
          </a:xfrm>
        </p:grpSpPr>
        <p:sp>
          <p:nvSpPr>
            <p:cNvPr id="13" name="Info name">
              <a:extLst>
                <a:ext uri="{FF2B5EF4-FFF2-40B4-BE49-F238E27FC236}">
                  <a16:creationId xmlns:a16="http://schemas.microsoft.com/office/drawing/2014/main" id="{613D0F84-885F-94FD-CF8D-0A5B72414E4D}"/>
                </a:ext>
              </a:extLst>
            </p:cNvPr>
            <p:cNvSpPr txBox="1"/>
            <p:nvPr/>
          </p:nvSpPr>
          <p:spPr>
            <a:xfrm>
              <a:off x="822960" y="2468880"/>
              <a:ext cx="5212080" cy="27432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t"/>
            <a:lstStyle/>
            <a:p>
              <a:pPr marL="0" indent="0">
                <a:buNone/>
              </a:pPr>
              <a:r>
                <a:rPr lang="en-US" sz="2400" b="1" dirty="0">
                  <a:solidFill>
                    <a:schemeClr val="bg1"/>
                  </a:solidFill>
                  <a:latin typeface="Hind Siliguri" panose="02000000000000000000" pitchFamily="2" charset="0"/>
                  <a:cs typeface="Hind Siliguri" panose="02000000000000000000" pitchFamily="2" charset="0"/>
                </a:rPr>
                <a:t>মোঃ রুহুল আমিন</a:t>
              </a:r>
              <a:endParaRPr lang="en-US" sz="2400" dirty="0">
                <a:latin typeface="Hind Siliguri" panose="02000000000000000000" pitchFamily="2" charset="0"/>
                <a:cs typeface="Hind Siliguri" panose="02000000000000000000" pitchFamily="2" charset="0"/>
              </a:endParaRPr>
            </a:p>
          </p:txBody>
        </p:sp>
        <p:sp>
          <p:nvSpPr>
            <p:cNvPr id="14" name="Info designation">
              <a:extLst>
                <a:ext uri="{FF2B5EF4-FFF2-40B4-BE49-F238E27FC236}">
                  <a16:creationId xmlns:a16="http://schemas.microsoft.com/office/drawing/2014/main" id="{11C98F4A-7527-85B6-ACB7-99D62B221BD2}"/>
                </a:ext>
              </a:extLst>
            </p:cNvPr>
            <p:cNvSpPr txBox="1"/>
            <p:nvPr/>
          </p:nvSpPr>
          <p:spPr>
            <a:xfrm>
              <a:off x="822960" y="2879702"/>
              <a:ext cx="5212080" cy="18288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t"/>
            <a:lstStyle/>
            <a:p>
              <a:pPr marL="0" indent="0">
                <a:buNone/>
              </a:pPr>
              <a:r>
                <a:rPr lang="en-US" sz="1600" dirty="0">
                  <a:solidFill>
                    <a:schemeClr val="bg1"/>
                  </a:solidFill>
                  <a:latin typeface="Hind Siliguri" panose="02000000000000000000" pitchFamily="2" charset="0"/>
                  <a:cs typeface="Hind Siliguri" panose="02000000000000000000" pitchFamily="2" charset="0"/>
                </a:rPr>
                <a:t>জুনিয়র ইন্সট্রাক্টর (টেক / কম্পিউটার)</a:t>
              </a:r>
              <a:endParaRPr lang="en-US" sz="1600" dirty="0">
                <a:latin typeface="Hind Siliguri" panose="02000000000000000000" pitchFamily="2" charset="0"/>
                <a:cs typeface="Hind Siliguri" panose="02000000000000000000" pitchFamily="2" charset="0"/>
              </a:endParaRPr>
            </a:p>
          </p:txBody>
        </p:sp>
        <p:sp>
          <p:nvSpPr>
            <p:cNvPr id="15" name="Info institute">
              <a:extLst>
                <a:ext uri="{FF2B5EF4-FFF2-40B4-BE49-F238E27FC236}">
                  <a16:creationId xmlns:a16="http://schemas.microsoft.com/office/drawing/2014/main" id="{F6D5B3A0-7FA0-13D7-8A5D-9E4727B31478}"/>
                </a:ext>
              </a:extLst>
            </p:cNvPr>
            <p:cNvSpPr txBox="1"/>
            <p:nvPr/>
          </p:nvSpPr>
          <p:spPr>
            <a:xfrm>
              <a:off x="822960" y="3199084"/>
              <a:ext cx="5212080" cy="18288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t"/>
            <a:lstStyle/>
            <a:p>
              <a:pPr marL="0" indent="0">
                <a:buNone/>
              </a:pPr>
              <a:r>
                <a:rPr lang="en-US" sz="1600" dirty="0">
                  <a:solidFill>
                    <a:schemeClr val="bg1"/>
                  </a:solidFill>
                  <a:latin typeface="Hind Siliguri" panose="02000000000000000000" pitchFamily="2" charset="0"/>
                  <a:cs typeface="Hind Siliguri" panose="02000000000000000000" pitchFamily="2" charset="0"/>
                </a:rPr>
                <a:t>কুষ্টিয়া সরকারী পলিটেকনিক ইনস্টিটিউট, কুষ্টিয়া।</a:t>
              </a:r>
              <a:endParaRPr lang="en-US" sz="1600" dirty="0">
                <a:latin typeface="Hind Siliguri" panose="02000000000000000000" pitchFamily="2" charset="0"/>
                <a:cs typeface="Hind Siliguri" panose="02000000000000000000" pitchFamily="2" charset="0"/>
              </a:endParaRPr>
            </a:p>
          </p:txBody>
        </p:sp>
        <p:sp>
          <p:nvSpPr>
            <p:cNvPr id="16" name="Info institute">
              <a:extLst>
                <a:ext uri="{FF2B5EF4-FFF2-40B4-BE49-F238E27FC236}">
                  <a16:creationId xmlns:a16="http://schemas.microsoft.com/office/drawing/2014/main" id="{472BFA40-296D-C792-35BA-1EF9A9468186}"/>
                </a:ext>
              </a:extLst>
            </p:cNvPr>
            <p:cNvSpPr txBox="1"/>
            <p:nvPr/>
          </p:nvSpPr>
          <p:spPr>
            <a:xfrm>
              <a:off x="822960" y="3518466"/>
              <a:ext cx="5212080" cy="18288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t"/>
            <a:lstStyle/>
            <a:p>
              <a:pPr marL="0" indent="0">
                <a:buNone/>
              </a:pPr>
              <a:r>
                <a:rPr lang="en-US" sz="1600" dirty="0" err="1">
                  <a:solidFill>
                    <a:schemeClr val="bg1"/>
                  </a:solidFill>
                  <a:latin typeface="Hind Siliguri" panose="02000000000000000000" pitchFamily="2" charset="0"/>
                  <a:cs typeface="Hind Siliguri" panose="02000000000000000000" pitchFamily="2" charset="0"/>
                </a:rPr>
                <a:t>মোবাইল</a:t>
              </a:r>
              <a:r>
                <a:rPr lang="en-US" sz="1600" dirty="0">
                  <a:solidFill>
                    <a:schemeClr val="bg1"/>
                  </a:solidFill>
                  <a:latin typeface="Hind Siliguri" panose="02000000000000000000" pitchFamily="2" charset="0"/>
                  <a:cs typeface="Hind Siliguri" panose="02000000000000000000" pitchFamily="2" charset="0"/>
                </a:rPr>
                <a:t> </a:t>
              </a:r>
              <a:r>
                <a:rPr lang="en-US" sz="1600" dirty="0" err="1">
                  <a:solidFill>
                    <a:schemeClr val="bg1"/>
                  </a:solidFill>
                  <a:latin typeface="Hind Siliguri" panose="02000000000000000000" pitchFamily="2" charset="0"/>
                  <a:cs typeface="Hind Siliguri" panose="02000000000000000000" pitchFamily="2" charset="0"/>
                </a:rPr>
                <a:t>নংঃ</a:t>
              </a:r>
              <a:r>
                <a:rPr lang="en-US" sz="1600" dirty="0">
                  <a:solidFill>
                    <a:schemeClr val="bg1"/>
                  </a:solidFill>
                  <a:latin typeface="Hind Siliguri" panose="02000000000000000000" pitchFamily="2" charset="0"/>
                  <a:cs typeface="Hind Siliguri" panose="02000000000000000000" pitchFamily="2" charset="0"/>
                </a:rPr>
                <a:t> ০১৮২৩২০৮৫৩৩</a:t>
              </a:r>
              <a:endParaRPr lang="en-US" sz="1600" dirty="0">
                <a:latin typeface="Hind Siliguri" panose="02000000000000000000" pitchFamily="2" charset="0"/>
                <a:cs typeface="Hind Siliguri" panose="02000000000000000000" pitchFamily="2" charset="0"/>
              </a:endParaRPr>
            </a:p>
          </p:txBody>
        </p:sp>
        <p:sp>
          <p:nvSpPr>
            <p:cNvPr id="17" name="Info institute">
              <a:extLst>
                <a:ext uri="{FF2B5EF4-FFF2-40B4-BE49-F238E27FC236}">
                  <a16:creationId xmlns:a16="http://schemas.microsoft.com/office/drawing/2014/main" id="{C7515FFC-C18B-FB99-ABCA-FF3B8C3C3620}"/>
                </a:ext>
              </a:extLst>
            </p:cNvPr>
            <p:cNvSpPr txBox="1"/>
            <p:nvPr/>
          </p:nvSpPr>
          <p:spPr>
            <a:xfrm>
              <a:off x="822960" y="3837848"/>
              <a:ext cx="5212080" cy="18288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t"/>
            <a:lstStyle/>
            <a:p>
              <a:pPr marL="0" indent="0">
                <a:buNone/>
              </a:pPr>
              <a:r>
                <a:rPr lang="en-US" sz="1600" dirty="0">
                  <a:solidFill>
                    <a:schemeClr val="bg1"/>
                  </a:solidFill>
                  <a:latin typeface="Hind Siliguri" panose="02000000000000000000" pitchFamily="2" charset="0"/>
                  <a:cs typeface="Hind Siliguri" panose="02000000000000000000" pitchFamily="2" charset="0"/>
                </a:rPr>
                <a:t>ই-</a:t>
              </a:r>
              <a:r>
                <a:rPr lang="en-US" sz="1600" dirty="0" err="1">
                  <a:solidFill>
                    <a:schemeClr val="bg1"/>
                  </a:solidFill>
                  <a:latin typeface="Hind Siliguri" panose="02000000000000000000" pitchFamily="2" charset="0"/>
                  <a:cs typeface="Hind Siliguri" panose="02000000000000000000" pitchFamily="2" charset="0"/>
                </a:rPr>
                <a:t>মেইলঃ</a:t>
              </a:r>
              <a:r>
                <a:rPr lang="en-US" sz="1600" dirty="0">
                  <a:solidFill>
                    <a:schemeClr val="bg1"/>
                  </a:solidFill>
                  <a:latin typeface="Hind Siliguri" panose="02000000000000000000" pitchFamily="2" charset="0"/>
                  <a:cs typeface="Hind Siliguri" panose="02000000000000000000" pitchFamily="2" charset="0"/>
                </a:rPr>
                <a:t> ruhul.computer12@gmail.com</a:t>
              </a:r>
              <a:endParaRPr lang="en-US" sz="1600" dirty="0">
                <a:latin typeface="Hind Siliguri" panose="02000000000000000000" pitchFamily="2" charset="0"/>
                <a:cs typeface="Hind Siliguri" panose="02000000000000000000" pitchFamily="2" charset="0"/>
              </a:endParaRPr>
            </a:p>
          </p:txBody>
        </p:sp>
      </p:grp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>
            <a:spLocks noGrp="1"/>
          </p:cNvSpPr>
          <p:nvPr>
            <p:ph type="title" idx="100" hasCustomPrompt="1"/>
          </p:nvPr>
        </p:nvSpPr>
        <p:spPr>
          <a:xfrm>
            <a:off x="457200" y="274320"/>
            <a:ext cx="82296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3000" b="1" dirty="0">
                <a:solidFill>
                  <a:schemeClr val="tx2"/>
                </a:solidFill>
                <a:latin typeface="Hind Siliguri" panose="02000000000000000000" pitchFamily="2" charset="0"/>
                <a:cs typeface="Hind Siliguri" panose="02000000000000000000" pitchFamily="2" charset="0"/>
              </a:rPr>
              <a:t>কী কী লাগবে? রিকোয়ারমেন্ট</a:t>
            </a:r>
            <a:endParaRPr lang="en-US" sz="3000" dirty="0">
              <a:latin typeface="Hind Siliguri" panose="02000000000000000000" pitchFamily="2" charset="0"/>
              <a:cs typeface="Hind Siliguri" panose="02000000000000000000" pitchFamily="2" charset="0"/>
            </a:endParaRPr>
          </a:p>
        </p:txBody>
      </p:sp>
      <p:sp>
        <p:nvSpPr>
          <p:cNvPr id="3" name="Req card 1"/>
          <p:cNvSpPr/>
          <p:nvPr/>
        </p:nvSpPr>
        <p:spPr>
          <a:xfrm>
            <a:off x="457200" y="1280160"/>
            <a:ext cx="2624328" cy="3200400"/>
          </a:xfrm>
          <a:prstGeom prst="roundRect">
            <a:avLst>
              <a:gd name="adj" fmla="val 4181"/>
            </a:avLst>
          </a:prstGeom>
          <a:solidFill>
            <a:schemeClr val="bg2"/>
          </a:solidFill>
          <a:ln/>
        </p:spPr>
      </p:sp>
      <p:sp>
        <p:nvSpPr>
          <p:cNvPr id="4" name="Req badge 1"/>
          <p:cNvSpPr/>
          <p:nvPr/>
        </p:nvSpPr>
        <p:spPr>
          <a:xfrm>
            <a:off x="640080" y="1463040"/>
            <a:ext cx="548640" cy="548640"/>
          </a:xfrm>
          <a:prstGeom prst="ellipse">
            <a:avLst/>
          </a:prstGeom>
          <a:solidFill>
            <a:schemeClr val="accent1"/>
          </a:solidFill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chemeClr val="bg1"/>
                </a:solidFill>
                <a:latin typeface="Hind Siliguri" panose="02000000000000000000" pitchFamily="2" charset="0"/>
                <a:cs typeface="Hind Siliguri" panose="02000000000000000000" pitchFamily="2" charset="0"/>
              </a:rPr>
              <a:t>HW</a:t>
            </a:r>
            <a:endParaRPr lang="en-US" sz="1200" dirty="0">
              <a:latin typeface="Hind Siliguri" panose="02000000000000000000" pitchFamily="2" charset="0"/>
              <a:cs typeface="Hind Siliguri" panose="02000000000000000000" pitchFamily="2" charset="0"/>
            </a:endParaRPr>
          </a:p>
        </p:txBody>
      </p:sp>
      <p:sp>
        <p:nvSpPr>
          <p:cNvPr id="5" name="Req head 1"/>
          <p:cNvSpPr txBox="1"/>
          <p:nvPr/>
        </p:nvSpPr>
        <p:spPr>
          <a:xfrm>
            <a:off x="640080" y="2148840"/>
            <a:ext cx="225856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800" b="1" dirty="0">
                <a:solidFill>
                  <a:schemeClr val="tx2"/>
                </a:solidFill>
                <a:latin typeface="Hind Siliguri" panose="02000000000000000000" pitchFamily="2" charset="0"/>
                <a:cs typeface="Hind Siliguri" panose="02000000000000000000" pitchFamily="2" charset="0"/>
              </a:rPr>
              <a:t>হার্ডওয়্যার</a:t>
            </a:r>
            <a:endParaRPr lang="en-US" sz="1800" dirty="0">
              <a:latin typeface="Hind Siliguri" panose="02000000000000000000" pitchFamily="2" charset="0"/>
              <a:cs typeface="Hind Siliguri" panose="02000000000000000000" pitchFamily="2" charset="0"/>
            </a:endParaRPr>
          </a:p>
        </p:txBody>
      </p:sp>
      <p:sp>
        <p:nvSpPr>
          <p:cNvPr id="6" name="Req list 1"/>
          <p:cNvSpPr txBox="1"/>
          <p:nvPr/>
        </p:nvSpPr>
        <p:spPr>
          <a:xfrm>
            <a:off x="640080" y="2606040"/>
            <a:ext cx="2258568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400" dirty="0">
                <a:solidFill>
                  <a:schemeClr val="tx1"/>
                </a:solidFill>
                <a:latin typeface="Hind Siliguri" panose="02000000000000000000" pitchFamily="2" charset="0"/>
                <a:cs typeface="Hind Siliguri" panose="02000000000000000000" pitchFamily="2" charset="0"/>
              </a:rPr>
              <a:t>RAM: ন্যূনতম ৪ GB (৮ GB হলে ভালো)</a:t>
            </a:r>
            <a:endParaRPr lang="en-US" sz="1400" dirty="0">
              <a:latin typeface="Hind Siliguri" panose="02000000000000000000" pitchFamily="2" charset="0"/>
              <a:cs typeface="Hind Siliguri" panose="02000000000000000000" pitchFamily="2" charset="0"/>
            </a:endParaRPr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400" dirty="0">
                <a:solidFill>
                  <a:schemeClr val="tx1"/>
                </a:solidFill>
                <a:latin typeface="Hind Siliguri" panose="02000000000000000000" pitchFamily="2" charset="0"/>
                <a:cs typeface="Hind Siliguri" panose="02000000000000000000" pitchFamily="2" charset="0"/>
              </a:rPr>
              <a:t>ফাঁকা ডিস্ক: কমপক্ষে ২ GB</a:t>
            </a:r>
            <a:endParaRPr lang="en-US" sz="1400" dirty="0">
              <a:latin typeface="Hind Siliguri" panose="02000000000000000000" pitchFamily="2" charset="0"/>
              <a:cs typeface="Hind Siliguri" panose="02000000000000000000" pitchFamily="2" charset="0"/>
            </a:endParaRPr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400" dirty="0">
                <a:solidFill>
                  <a:schemeClr val="tx1"/>
                </a:solidFill>
                <a:latin typeface="Hind Siliguri" panose="02000000000000000000" pitchFamily="2" charset="0"/>
                <a:cs typeface="Hind Siliguri" panose="02000000000000000000" pitchFamily="2" charset="0"/>
              </a:rPr>
              <a:t>যেকোনো আধুনিক প্রসেসর</a:t>
            </a:r>
            <a:endParaRPr lang="en-US" sz="1400" dirty="0">
              <a:latin typeface="Hind Siliguri" panose="02000000000000000000" pitchFamily="2" charset="0"/>
              <a:cs typeface="Hind Siliguri" panose="02000000000000000000" pitchFamily="2" charset="0"/>
            </a:endParaRPr>
          </a:p>
        </p:txBody>
      </p:sp>
      <p:sp>
        <p:nvSpPr>
          <p:cNvPr id="7" name="Req card 2"/>
          <p:cNvSpPr/>
          <p:nvPr/>
        </p:nvSpPr>
        <p:spPr>
          <a:xfrm>
            <a:off x="3264408" y="1280160"/>
            <a:ext cx="2624328" cy="3200400"/>
          </a:xfrm>
          <a:prstGeom prst="roundRect">
            <a:avLst>
              <a:gd name="adj" fmla="val 4181"/>
            </a:avLst>
          </a:prstGeom>
          <a:solidFill>
            <a:schemeClr val="bg2"/>
          </a:solidFill>
          <a:ln/>
        </p:spPr>
      </p:sp>
      <p:sp>
        <p:nvSpPr>
          <p:cNvPr id="8" name="Req badge 2"/>
          <p:cNvSpPr/>
          <p:nvPr/>
        </p:nvSpPr>
        <p:spPr>
          <a:xfrm>
            <a:off x="3447288" y="1463040"/>
            <a:ext cx="548640" cy="548640"/>
          </a:xfrm>
          <a:prstGeom prst="ellipse">
            <a:avLst/>
          </a:prstGeom>
          <a:solidFill>
            <a:schemeClr val="accent1"/>
          </a:solidFill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chemeClr val="bg1"/>
                </a:solidFill>
                <a:latin typeface="Hind Siliguri" panose="02000000000000000000" pitchFamily="2" charset="0"/>
                <a:cs typeface="Hind Siliguri" panose="02000000000000000000" pitchFamily="2" charset="0"/>
              </a:rPr>
              <a:t>OS</a:t>
            </a:r>
            <a:endParaRPr lang="en-US" sz="1200" dirty="0">
              <a:latin typeface="Hind Siliguri" panose="02000000000000000000" pitchFamily="2" charset="0"/>
              <a:cs typeface="Hind Siliguri" panose="02000000000000000000" pitchFamily="2" charset="0"/>
            </a:endParaRPr>
          </a:p>
        </p:txBody>
      </p:sp>
      <p:sp>
        <p:nvSpPr>
          <p:cNvPr id="9" name="Req head 2"/>
          <p:cNvSpPr txBox="1"/>
          <p:nvPr/>
        </p:nvSpPr>
        <p:spPr>
          <a:xfrm>
            <a:off x="3447288" y="2148840"/>
            <a:ext cx="225856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800" b="1" dirty="0">
                <a:solidFill>
                  <a:schemeClr val="tx2"/>
                </a:solidFill>
                <a:latin typeface="Hind Siliguri" panose="02000000000000000000" pitchFamily="2" charset="0"/>
                <a:cs typeface="Hind Siliguri" panose="02000000000000000000" pitchFamily="2" charset="0"/>
              </a:rPr>
              <a:t>অপারেটিং সিস্টেম</a:t>
            </a:r>
            <a:endParaRPr lang="en-US" sz="1800" dirty="0">
              <a:latin typeface="Hind Siliguri" panose="02000000000000000000" pitchFamily="2" charset="0"/>
              <a:cs typeface="Hind Siliguri" panose="02000000000000000000" pitchFamily="2" charset="0"/>
            </a:endParaRPr>
          </a:p>
        </p:txBody>
      </p:sp>
      <p:sp>
        <p:nvSpPr>
          <p:cNvPr id="10" name="Req list 2"/>
          <p:cNvSpPr txBox="1"/>
          <p:nvPr/>
        </p:nvSpPr>
        <p:spPr>
          <a:xfrm>
            <a:off x="3447288" y="2606040"/>
            <a:ext cx="2258568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400" dirty="0">
                <a:solidFill>
                  <a:schemeClr val="tx1"/>
                </a:solidFill>
                <a:latin typeface="Hind Siliguri" panose="02000000000000000000" pitchFamily="2" charset="0"/>
                <a:cs typeface="Hind Siliguri" panose="02000000000000000000" pitchFamily="2" charset="0"/>
              </a:rPr>
              <a:t>Windows 10 / 11</a:t>
            </a:r>
            <a:endParaRPr lang="en-US" sz="1400" dirty="0">
              <a:latin typeface="Hind Siliguri" panose="02000000000000000000" pitchFamily="2" charset="0"/>
              <a:cs typeface="Hind Siliguri" panose="02000000000000000000" pitchFamily="2" charset="0"/>
            </a:endParaRPr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400" dirty="0">
                <a:solidFill>
                  <a:schemeClr val="tx1"/>
                </a:solidFill>
                <a:latin typeface="Hind Siliguri" panose="02000000000000000000" pitchFamily="2" charset="0"/>
                <a:cs typeface="Hind Siliguri" panose="02000000000000000000" pitchFamily="2" charset="0"/>
              </a:rPr>
              <a:t>macOS</a:t>
            </a:r>
            <a:endParaRPr lang="en-US" sz="1400" dirty="0">
              <a:latin typeface="Hind Siliguri" panose="02000000000000000000" pitchFamily="2" charset="0"/>
              <a:cs typeface="Hind Siliguri" panose="02000000000000000000" pitchFamily="2" charset="0"/>
            </a:endParaRPr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400" dirty="0">
                <a:solidFill>
                  <a:schemeClr val="tx1"/>
                </a:solidFill>
                <a:latin typeface="Hind Siliguri" panose="02000000000000000000" pitchFamily="2" charset="0"/>
                <a:cs typeface="Hind Siliguri" panose="02000000000000000000" pitchFamily="2" charset="0"/>
              </a:rPr>
              <a:t>Linux (যেমন Ubuntu)</a:t>
            </a:r>
            <a:endParaRPr lang="en-US" sz="1400" dirty="0">
              <a:latin typeface="Hind Siliguri" panose="02000000000000000000" pitchFamily="2" charset="0"/>
              <a:cs typeface="Hind Siliguri" panose="02000000000000000000" pitchFamily="2" charset="0"/>
            </a:endParaRPr>
          </a:p>
        </p:txBody>
      </p:sp>
      <p:sp>
        <p:nvSpPr>
          <p:cNvPr id="11" name="Req card 3"/>
          <p:cNvSpPr/>
          <p:nvPr/>
        </p:nvSpPr>
        <p:spPr>
          <a:xfrm>
            <a:off x="6071616" y="1280160"/>
            <a:ext cx="2624328" cy="3200400"/>
          </a:xfrm>
          <a:prstGeom prst="roundRect">
            <a:avLst>
              <a:gd name="adj" fmla="val 4181"/>
            </a:avLst>
          </a:prstGeom>
          <a:solidFill>
            <a:schemeClr val="bg2"/>
          </a:solidFill>
          <a:ln/>
        </p:spPr>
      </p:sp>
      <p:sp>
        <p:nvSpPr>
          <p:cNvPr id="12" name="Req badge 3"/>
          <p:cNvSpPr/>
          <p:nvPr/>
        </p:nvSpPr>
        <p:spPr>
          <a:xfrm>
            <a:off x="6254496" y="1463040"/>
            <a:ext cx="548640" cy="548640"/>
          </a:xfrm>
          <a:prstGeom prst="ellipse">
            <a:avLst/>
          </a:prstGeom>
          <a:solidFill>
            <a:schemeClr val="accent1"/>
          </a:solidFill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chemeClr val="bg1"/>
                </a:solidFill>
                <a:latin typeface="Hind Siliguri" panose="02000000000000000000" pitchFamily="2" charset="0"/>
                <a:cs typeface="Hind Siliguri" panose="02000000000000000000" pitchFamily="2" charset="0"/>
              </a:rPr>
              <a:t>NET</a:t>
            </a:r>
            <a:endParaRPr lang="en-US" sz="1200" dirty="0">
              <a:latin typeface="Hind Siliguri" panose="02000000000000000000" pitchFamily="2" charset="0"/>
              <a:cs typeface="Hind Siliguri" panose="02000000000000000000" pitchFamily="2" charset="0"/>
            </a:endParaRPr>
          </a:p>
        </p:txBody>
      </p:sp>
      <p:sp>
        <p:nvSpPr>
          <p:cNvPr id="13" name="Req head 3"/>
          <p:cNvSpPr txBox="1"/>
          <p:nvPr/>
        </p:nvSpPr>
        <p:spPr>
          <a:xfrm>
            <a:off x="6254496" y="2148840"/>
            <a:ext cx="225856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800" b="1" dirty="0">
                <a:solidFill>
                  <a:schemeClr val="tx2"/>
                </a:solidFill>
                <a:latin typeface="Hind Siliguri" panose="02000000000000000000" pitchFamily="2" charset="0"/>
                <a:cs typeface="Hind Siliguri" panose="02000000000000000000" pitchFamily="2" charset="0"/>
              </a:rPr>
              <a:t>ইন্টারনেট ও মানসিকতা</a:t>
            </a:r>
            <a:endParaRPr lang="en-US" sz="1800" dirty="0">
              <a:latin typeface="Hind Siliguri" panose="02000000000000000000" pitchFamily="2" charset="0"/>
              <a:cs typeface="Hind Siliguri" panose="02000000000000000000" pitchFamily="2" charset="0"/>
            </a:endParaRPr>
          </a:p>
        </p:txBody>
      </p:sp>
      <p:sp>
        <p:nvSpPr>
          <p:cNvPr id="14" name="Req list 3"/>
          <p:cNvSpPr txBox="1"/>
          <p:nvPr/>
        </p:nvSpPr>
        <p:spPr>
          <a:xfrm>
            <a:off x="6254496" y="2606040"/>
            <a:ext cx="2258568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400" dirty="0">
                <a:solidFill>
                  <a:schemeClr val="tx1"/>
                </a:solidFill>
                <a:latin typeface="Hind Siliguri" panose="02000000000000000000" pitchFamily="2" charset="0"/>
                <a:cs typeface="Hind Siliguri" panose="02000000000000000000" pitchFamily="2" charset="0"/>
              </a:rPr>
              <a:t>JDK ও IDE ডাউনলোডের জন্য ইন্টারনেট</a:t>
            </a:r>
            <a:endParaRPr lang="en-US" sz="1400" dirty="0">
              <a:latin typeface="Hind Siliguri" panose="02000000000000000000" pitchFamily="2" charset="0"/>
              <a:cs typeface="Hind Siliguri" panose="02000000000000000000" pitchFamily="2" charset="0"/>
            </a:endParaRPr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400" dirty="0">
                <a:solidFill>
                  <a:schemeClr val="tx1"/>
                </a:solidFill>
                <a:latin typeface="Hind Siliguri" panose="02000000000000000000" pitchFamily="2" charset="0"/>
                <a:cs typeface="Hind Siliguri" panose="02000000000000000000" pitchFamily="2" charset="0"/>
              </a:rPr>
              <a:t>ইনস্টলের জন্য অ্যাডমিন অ্যাক্সেস</a:t>
            </a:r>
            <a:endParaRPr lang="en-US" sz="1400" dirty="0">
              <a:latin typeface="Hind Siliguri" panose="02000000000000000000" pitchFamily="2" charset="0"/>
              <a:cs typeface="Hind Siliguri" panose="02000000000000000000" pitchFamily="2" charset="0"/>
            </a:endParaRPr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400" dirty="0">
                <a:solidFill>
                  <a:schemeClr val="tx1"/>
                </a:solidFill>
                <a:latin typeface="Hind Siliguri" panose="02000000000000000000" pitchFamily="2" charset="0"/>
                <a:cs typeface="Hind Siliguri" panose="02000000000000000000" pitchFamily="2" charset="0"/>
              </a:rPr>
              <a:t>ধৈর্য ও নিয়মিত অনুশীলন</a:t>
            </a:r>
            <a:endParaRPr lang="en-US" sz="1400" dirty="0">
              <a:latin typeface="Hind Siliguri" panose="02000000000000000000" pitchFamily="2" charset="0"/>
              <a:cs typeface="Hind Siliguri" panose="02000000000000000000" pitchFamily="2" charset="0"/>
            </a:endParaRPr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70916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=""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6"/>
                </a:solidFill>
              </a:defRPr>
            </a:lvl1pPr>
          </a:lstStyle>
          <a:p>
            <a:pPr algn="l"/>
            <a:fld id="{F7021451-1387-4CA6-816F-3879F97B5CBC}" type="slidenum">
              <a:rPr lang="en-US" b="0">
                <a:latin typeface="Hind Siliguri" panose="02000000000000000000" pitchFamily="2" charset="0"/>
                <a:cs typeface="Hind Siliguri" panose="02000000000000000000" pitchFamily="2" charset="0"/>
              </a:rPr>
              <a:t>2</a:t>
            </a:fld>
            <a:endParaRPr lang="en-US">
              <a:latin typeface="Hind Siliguri" panose="02000000000000000000" pitchFamily="2" charset="0"/>
              <a:cs typeface="Hind Siliguri" panose="02000000000000000000" pitchFamily="2" charset="0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>
            <a:spLocks noGrp="1"/>
          </p:cNvSpPr>
          <p:nvPr>
            <p:ph type="title" idx="100" hasCustomPrompt="1"/>
          </p:nvPr>
        </p:nvSpPr>
        <p:spPr>
          <a:xfrm>
            <a:off x="457200" y="274320"/>
            <a:ext cx="82296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3000" b="1" dirty="0">
                <a:solidFill>
                  <a:schemeClr val="tx2"/>
                </a:solidFill>
                <a:latin typeface="Hind Siliguri" panose="02000000000000000000" pitchFamily="2" charset="0"/>
                <a:cs typeface="Hind Siliguri" panose="02000000000000000000" pitchFamily="2" charset="0"/>
              </a:rPr>
              <a:t>সফটওয়্যার ও এনভায়রনমেন্ট</a:t>
            </a:r>
            <a:endParaRPr lang="en-US" sz="3000" dirty="0">
              <a:latin typeface="Hind Siliguri" panose="02000000000000000000" pitchFamily="2" charset="0"/>
              <a:cs typeface="Hind Siliguri" panose="02000000000000000000" pitchFamily="2" charset="0"/>
            </a:endParaRPr>
          </a:p>
        </p:txBody>
      </p:sp>
      <p:sp>
        <p:nvSpPr>
          <p:cNvPr id="3" name="Soft card 1"/>
          <p:cNvSpPr/>
          <p:nvPr/>
        </p:nvSpPr>
        <p:spPr>
          <a:xfrm>
            <a:off x="457200" y="1280160"/>
            <a:ext cx="3977640" cy="1463040"/>
          </a:xfrm>
          <a:prstGeom prst="roundRect">
            <a:avLst>
              <a:gd name="adj" fmla="val 7500"/>
            </a:avLst>
          </a:prstGeom>
          <a:solidFill>
            <a:schemeClr val="bg2"/>
          </a:solidFill>
          <a:ln/>
        </p:spPr>
      </p:sp>
      <p:sp>
        <p:nvSpPr>
          <p:cNvPr id="4" name="Soft badge 1"/>
          <p:cNvSpPr/>
          <p:nvPr/>
        </p:nvSpPr>
        <p:spPr>
          <a:xfrm>
            <a:off x="640080" y="1463040"/>
            <a:ext cx="548640" cy="548640"/>
          </a:xfrm>
          <a:prstGeom prst="ellipse">
            <a:avLst/>
          </a:prstGeom>
          <a:solidFill>
            <a:schemeClr val="accent1"/>
          </a:solidFill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chemeClr val="bg1"/>
                </a:solidFill>
                <a:latin typeface="Hind Siliguri" panose="02000000000000000000" pitchFamily="2" charset="0"/>
                <a:cs typeface="Hind Siliguri" panose="02000000000000000000" pitchFamily="2" charset="0"/>
              </a:rPr>
              <a:t>JDK</a:t>
            </a:r>
            <a:endParaRPr lang="en-US" sz="1100" dirty="0">
              <a:latin typeface="Hind Siliguri" panose="02000000000000000000" pitchFamily="2" charset="0"/>
              <a:cs typeface="Hind Siliguri" panose="02000000000000000000" pitchFamily="2" charset="0"/>
            </a:endParaRPr>
          </a:p>
        </p:txBody>
      </p:sp>
      <p:sp>
        <p:nvSpPr>
          <p:cNvPr id="5" name="Soft head 1"/>
          <p:cNvSpPr txBox="1"/>
          <p:nvPr/>
        </p:nvSpPr>
        <p:spPr>
          <a:xfrm>
            <a:off x="1325880" y="1444752"/>
            <a:ext cx="2971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600" b="1" dirty="0">
                <a:solidFill>
                  <a:schemeClr val="tx2"/>
                </a:solidFill>
                <a:latin typeface="Hind Siliguri" panose="02000000000000000000" pitchFamily="2" charset="0"/>
                <a:cs typeface="Hind Siliguri" panose="02000000000000000000" pitchFamily="2" charset="0"/>
              </a:rPr>
              <a:t>JDK (Java Development Kit)</a:t>
            </a:r>
            <a:endParaRPr lang="en-US" sz="1600" dirty="0">
              <a:latin typeface="Hind Siliguri" panose="02000000000000000000" pitchFamily="2" charset="0"/>
              <a:cs typeface="Hind Siliguri" panose="02000000000000000000" pitchFamily="2" charset="0"/>
            </a:endParaRPr>
          </a:p>
        </p:txBody>
      </p:sp>
      <p:sp>
        <p:nvSpPr>
          <p:cNvPr id="6" name="Soft desc 1"/>
          <p:cNvSpPr txBox="1"/>
          <p:nvPr/>
        </p:nvSpPr>
        <p:spPr>
          <a:xfrm>
            <a:off x="1325880" y="1810512"/>
            <a:ext cx="297180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400" dirty="0">
                <a:solidFill>
                  <a:schemeClr val="tx1"/>
                </a:solidFill>
                <a:latin typeface="Hind Siliguri" panose="02000000000000000000" pitchFamily="2" charset="0"/>
                <a:cs typeface="Hind Siliguri" panose="02000000000000000000" pitchFamily="2" charset="0"/>
              </a:rPr>
              <a:t>জাভা কোড কম্পাইল ও রান করার মূল টুল। এতে JRE ও JVM-ও থাকে।</a:t>
            </a:r>
            <a:endParaRPr lang="en-US" sz="1400" dirty="0">
              <a:latin typeface="Hind Siliguri" panose="02000000000000000000" pitchFamily="2" charset="0"/>
              <a:cs typeface="Hind Siliguri" panose="02000000000000000000" pitchFamily="2" charset="0"/>
            </a:endParaRPr>
          </a:p>
        </p:txBody>
      </p:sp>
      <p:sp>
        <p:nvSpPr>
          <p:cNvPr id="7" name="Soft card 2"/>
          <p:cNvSpPr/>
          <p:nvPr/>
        </p:nvSpPr>
        <p:spPr>
          <a:xfrm>
            <a:off x="4709160" y="1280160"/>
            <a:ext cx="3977640" cy="1463040"/>
          </a:xfrm>
          <a:prstGeom prst="roundRect">
            <a:avLst>
              <a:gd name="adj" fmla="val 7500"/>
            </a:avLst>
          </a:prstGeom>
          <a:solidFill>
            <a:schemeClr val="bg2"/>
          </a:solidFill>
          <a:ln/>
        </p:spPr>
      </p:sp>
      <p:sp>
        <p:nvSpPr>
          <p:cNvPr id="8" name="Soft badge 2"/>
          <p:cNvSpPr/>
          <p:nvPr/>
        </p:nvSpPr>
        <p:spPr>
          <a:xfrm>
            <a:off x="4892040" y="1463040"/>
            <a:ext cx="548640" cy="548640"/>
          </a:xfrm>
          <a:prstGeom prst="ellipse">
            <a:avLst/>
          </a:prstGeom>
          <a:solidFill>
            <a:schemeClr val="accent1"/>
          </a:solidFill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chemeClr val="bg1"/>
                </a:solidFill>
                <a:latin typeface="Hind Siliguri" panose="02000000000000000000" pitchFamily="2" charset="0"/>
                <a:cs typeface="Hind Siliguri" panose="02000000000000000000" pitchFamily="2" charset="0"/>
              </a:rPr>
              <a:t>JVM</a:t>
            </a:r>
            <a:endParaRPr lang="en-US" sz="1100" dirty="0">
              <a:latin typeface="Hind Siliguri" panose="02000000000000000000" pitchFamily="2" charset="0"/>
              <a:cs typeface="Hind Siliguri" panose="02000000000000000000" pitchFamily="2" charset="0"/>
            </a:endParaRPr>
          </a:p>
        </p:txBody>
      </p:sp>
      <p:sp>
        <p:nvSpPr>
          <p:cNvPr id="9" name="Soft head 2"/>
          <p:cNvSpPr txBox="1"/>
          <p:nvPr/>
        </p:nvSpPr>
        <p:spPr>
          <a:xfrm>
            <a:off x="5577840" y="1444752"/>
            <a:ext cx="2971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600" b="1" dirty="0">
                <a:solidFill>
                  <a:schemeClr val="tx2"/>
                </a:solidFill>
                <a:latin typeface="Hind Siliguri" panose="02000000000000000000" pitchFamily="2" charset="0"/>
                <a:cs typeface="Hind Siliguri" panose="02000000000000000000" pitchFamily="2" charset="0"/>
              </a:rPr>
              <a:t>JRE ও JVM</a:t>
            </a:r>
            <a:endParaRPr lang="en-US" sz="1600" dirty="0">
              <a:latin typeface="Hind Siliguri" panose="02000000000000000000" pitchFamily="2" charset="0"/>
              <a:cs typeface="Hind Siliguri" panose="02000000000000000000" pitchFamily="2" charset="0"/>
            </a:endParaRPr>
          </a:p>
        </p:txBody>
      </p:sp>
      <p:sp>
        <p:nvSpPr>
          <p:cNvPr id="10" name="Soft desc 2"/>
          <p:cNvSpPr txBox="1"/>
          <p:nvPr/>
        </p:nvSpPr>
        <p:spPr>
          <a:xfrm>
            <a:off x="5577840" y="1810512"/>
            <a:ext cx="297180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400" dirty="0">
                <a:solidFill>
                  <a:schemeClr val="tx1"/>
                </a:solidFill>
                <a:latin typeface="Hind Siliguri" panose="02000000000000000000" pitchFamily="2" charset="0"/>
                <a:cs typeface="Hind Siliguri" panose="02000000000000000000" pitchFamily="2" charset="0"/>
              </a:rPr>
              <a:t>JVM জাভা প্রোগ্রাম চালায়; JRE = JVM + লাইব্রেরি।</a:t>
            </a:r>
            <a:endParaRPr lang="en-US" sz="1400" dirty="0">
              <a:latin typeface="Hind Siliguri" panose="02000000000000000000" pitchFamily="2" charset="0"/>
              <a:cs typeface="Hind Siliguri" panose="02000000000000000000" pitchFamily="2" charset="0"/>
            </a:endParaRPr>
          </a:p>
        </p:txBody>
      </p:sp>
      <p:sp>
        <p:nvSpPr>
          <p:cNvPr id="11" name="Soft card 3"/>
          <p:cNvSpPr/>
          <p:nvPr/>
        </p:nvSpPr>
        <p:spPr>
          <a:xfrm>
            <a:off x="457200" y="2926080"/>
            <a:ext cx="3977640" cy="1463040"/>
          </a:xfrm>
          <a:prstGeom prst="roundRect">
            <a:avLst>
              <a:gd name="adj" fmla="val 7500"/>
            </a:avLst>
          </a:prstGeom>
          <a:solidFill>
            <a:schemeClr val="bg2"/>
          </a:solidFill>
          <a:ln/>
        </p:spPr>
      </p:sp>
      <p:sp>
        <p:nvSpPr>
          <p:cNvPr id="12" name="Soft badge 3"/>
          <p:cNvSpPr/>
          <p:nvPr/>
        </p:nvSpPr>
        <p:spPr>
          <a:xfrm>
            <a:off x="640080" y="3108960"/>
            <a:ext cx="548640" cy="548640"/>
          </a:xfrm>
          <a:prstGeom prst="ellipse">
            <a:avLst/>
          </a:prstGeom>
          <a:solidFill>
            <a:schemeClr val="accent1"/>
          </a:solidFill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chemeClr val="bg1"/>
                </a:solidFill>
                <a:latin typeface="Hind Siliguri" panose="02000000000000000000" pitchFamily="2" charset="0"/>
                <a:cs typeface="Hind Siliguri" panose="02000000000000000000" pitchFamily="2" charset="0"/>
              </a:rPr>
              <a:t>IDE</a:t>
            </a:r>
            <a:endParaRPr lang="en-US" sz="1100" dirty="0">
              <a:latin typeface="Hind Siliguri" panose="02000000000000000000" pitchFamily="2" charset="0"/>
              <a:cs typeface="Hind Siliguri" panose="02000000000000000000" pitchFamily="2" charset="0"/>
            </a:endParaRPr>
          </a:p>
        </p:txBody>
      </p:sp>
      <p:sp>
        <p:nvSpPr>
          <p:cNvPr id="13" name="Soft head 3"/>
          <p:cNvSpPr txBox="1"/>
          <p:nvPr/>
        </p:nvSpPr>
        <p:spPr>
          <a:xfrm>
            <a:off x="1325880" y="3090672"/>
            <a:ext cx="2971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600" b="1" dirty="0">
                <a:solidFill>
                  <a:schemeClr val="tx2"/>
                </a:solidFill>
                <a:latin typeface="Hind Siliguri" panose="02000000000000000000" pitchFamily="2" charset="0"/>
                <a:cs typeface="Hind Siliguri" panose="02000000000000000000" pitchFamily="2" charset="0"/>
              </a:rPr>
              <a:t>কোড এডিটর / IDE</a:t>
            </a:r>
            <a:endParaRPr lang="en-US" sz="1600" dirty="0">
              <a:latin typeface="Hind Siliguri" panose="02000000000000000000" pitchFamily="2" charset="0"/>
              <a:cs typeface="Hind Siliguri" panose="02000000000000000000" pitchFamily="2" charset="0"/>
            </a:endParaRPr>
          </a:p>
        </p:txBody>
      </p:sp>
      <p:sp>
        <p:nvSpPr>
          <p:cNvPr id="14" name="Soft desc 3"/>
          <p:cNvSpPr txBox="1"/>
          <p:nvPr/>
        </p:nvSpPr>
        <p:spPr>
          <a:xfrm>
            <a:off x="1325880" y="3456432"/>
            <a:ext cx="297180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400" dirty="0">
                <a:solidFill>
                  <a:schemeClr val="tx1"/>
                </a:solidFill>
                <a:latin typeface="Hind Siliguri" panose="02000000000000000000" pitchFamily="2" charset="0"/>
                <a:cs typeface="Hind Siliguri" panose="02000000000000000000" pitchFamily="2" charset="0"/>
              </a:rPr>
              <a:t>IntelliJ IDEA, Eclipse, NetBeans বা VS Code – কোড লেখা সহজ করে।</a:t>
            </a:r>
            <a:endParaRPr lang="en-US" sz="1400" dirty="0">
              <a:latin typeface="Hind Siliguri" panose="02000000000000000000" pitchFamily="2" charset="0"/>
              <a:cs typeface="Hind Siliguri" panose="02000000000000000000" pitchFamily="2" charset="0"/>
            </a:endParaRPr>
          </a:p>
        </p:txBody>
      </p:sp>
      <p:sp>
        <p:nvSpPr>
          <p:cNvPr id="15" name="Soft card 4"/>
          <p:cNvSpPr/>
          <p:nvPr/>
        </p:nvSpPr>
        <p:spPr>
          <a:xfrm>
            <a:off x="4709160" y="2926080"/>
            <a:ext cx="3977640" cy="1463040"/>
          </a:xfrm>
          <a:prstGeom prst="roundRect">
            <a:avLst>
              <a:gd name="adj" fmla="val 7500"/>
            </a:avLst>
          </a:prstGeom>
          <a:solidFill>
            <a:schemeClr val="bg2"/>
          </a:solidFill>
          <a:ln/>
        </p:spPr>
      </p:sp>
      <p:sp>
        <p:nvSpPr>
          <p:cNvPr id="16" name="Soft badge 4"/>
          <p:cNvSpPr/>
          <p:nvPr/>
        </p:nvSpPr>
        <p:spPr>
          <a:xfrm>
            <a:off x="4892040" y="3108960"/>
            <a:ext cx="548640" cy="548640"/>
          </a:xfrm>
          <a:prstGeom prst="ellipse">
            <a:avLst/>
          </a:prstGeom>
          <a:solidFill>
            <a:schemeClr val="accent1"/>
          </a:solidFill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chemeClr val="bg1"/>
                </a:solidFill>
                <a:latin typeface="Hind Siliguri" panose="02000000000000000000" pitchFamily="2" charset="0"/>
                <a:cs typeface="Hind Siliguri" panose="02000000000000000000" pitchFamily="2" charset="0"/>
              </a:rPr>
              <a:t>CMD</a:t>
            </a:r>
            <a:endParaRPr lang="en-US" sz="1100" dirty="0">
              <a:latin typeface="Hind Siliguri" panose="02000000000000000000" pitchFamily="2" charset="0"/>
              <a:cs typeface="Hind Siliguri" panose="02000000000000000000" pitchFamily="2" charset="0"/>
            </a:endParaRPr>
          </a:p>
        </p:txBody>
      </p:sp>
      <p:sp>
        <p:nvSpPr>
          <p:cNvPr id="17" name="Soft head 4"/>
          <p:cNvSpPr txBox="1"/>
          <p:nvPr/>
        </p:nvSpPr>
        <p:spPr>
          <a:xfrm>
            <a:off x="5577840" y="3090672"/>
            <a:ext cx="2971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600" b="1" dirty="0">
                <a:solidFill>
                  <a:schemeClr val="tx2"/>
                </a:solidFill>
                <a:latin typeface="Hind Siliguri" panose="02000000000000000000" pitchFamily="2" charset="0"/>
                <a:cs typeface="Hind Siliguri" panose="02000000000000000000" pitchFamily="2" charset="0"/>
              </a:rPr>
              <a:t>Terminal / Command Prompt</a:t>
            </a:r>
            <a:endParaRPr lang="en-US" sz="1600" dirty="0">
              <a:latin typeface="Hind Siliguri" panose="02000000000000000000" pitchFamily="2" charset="0"/>
              <a:cs typeface="Hind Siliguri" panose="02000000000000000000" pitchFamily="2" charset="0"/>
            </a:endParaRPr>
          </a:p>
        </p:txBody>
      </p:sp>
      <p:sp>
        <p:nvSpPr>
          <p:cNvPr id="18" name="Soft desc 4"/>
          <p:cNvSpPr txBox="1"/>
          <p:nvPr/>
        </p:nvSpPr>
        <p:spPr>
          <a:xfrm>
            <a:off x="5577840" y="3456432"/>
            <a:ext cx="297180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400" dirty="0">
                <a:solidFill>
                  <a:schemeClr val="tx1"/>
                </a:solidFill>
                <a:latin typeface="Hind Siliguri" panose="02000000000000000000" pitchFamily="2" charset="0"/>
                <a:cs typeface="Hind Siliguri" panose="02000000000000000000" pitchFamily="2" charset="0"/>
              </a:rPr>
              <a:t>javac ও java কমান্ড চালিয়ে প্রোগ্রাম কম্পাইল ও রান করা যায়।</a:t>
            </a:r>
            <a:endParaRPr lang="en-US" sz="1400" dirty="0">
              <a:latin typeface="Hind Siliguri" panose="02000000000000000000" pitchFamily="2" charset="0"/>
              <a:cs typeface="Hind Siliguri" panose="02000000000000000000" pitchFamily="2" charset="0"/>
            </a:endParaRPr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70916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=""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6"/>
                </a:solidFill>
              </a:defRPr>
            </a:lvl1pPr>
          </a:lstStyle>
          <a:p>
            <a:pPr algn="l"/>
            <a:fld id="{F7021451-1387-4CA6-816F-3879F97B5CBC}" type="slidenum">
              <a:rPr lang="en-US" b="0">
                <a:latin typeface="Hind Siliguri" panose="02000000000000000000" pitchFamily="2" charset="0"/>
                <a:cs typeface="Hind Siliguri" panose="02000000000000000000" pitchFamily="2" charset="0"/>
              </a:rPr>
              <a:t>3</a:t>
            </a:fld>
            <a:endParaRPr lang="en-US">
              <a:latin typeface="Hind Siliguri" panose="02000000000000000000" pitchFamily="2" charset="0"/>
              <a:cs typeface="Hind Siliguri" panose="02000000000000000000" pitchFamily="2" charset="0"/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>
            <a:spLocks noGrp="1"/>
          </p:cNvSpPr>
          <p:nvPr>
            <p:ph type="title" idx="100" hasCustomPrompt="1"/>
          </p:nvPr>
        </p:nvSpPr>
        <p:spPr>
          <a:xfrm>
            <a:off x="457200" y="274320"/>
            <a:ext cx="82296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3000" b="1" dirty="0">
                <a:solidFill>
                  <a:schemeClr val="tx2"/>
                </a:solidFill>
                <a:latin typeface="Hind Siliguri" panose="02000000000000000000" pitchFamily="2" charset="0"/>
                <a:cs typeface="Hind Siliguri" panose="02000000000000000000" pitchFamily="2" charset="0"/>
              </a:rPr>
              <a:t>সেটআপের ধাপ</a:t>
            </a:r>
            <a:endParaRPr lang="en-US" sz="3000" dirty="0">
              <a:latin typeface="Hind Siliguri" panose="02000000000000000000" pitchFamily="2" charset="0"/>
              <a:cs typeface="Hind Siliguri" panose="02000000000000000000" pitchFamily="2" charset="0"/>
            </a:endParaRPr>
          </a:p>
        </p:txBody>
      </p:sp>
      <p:sp>
        <p:nvSpPr>
          <p:cNvPr id="3" name="Step row 1"/>
          <p:cNvSpPr/>
          <p:nvPr/>
        </p:nvSpPr>
        <p:spPr>
          <a:xfrm>
            <a:off x="457200" y="1234440"/>
            <a:ext cx="8229600" cy="585216"/>
          </a:xfrm>
          <a:prstGeom prst="roundRect">
            <a:avLst>
              <a:gd name="adj" fmla="val 18750"/>
            </a:avLst>
          </a:prstGeom>
          <a:solidFill>
            <a:schemeClr val="bg2"/>
          </a:solidFill>
          <a:ln/>
        </p:spPr>
      </p:sp>
      <p:sp>
        <p:nvSpPr>
          <p:cNvPr id="4" name="Step badge 1"/>
          <p:cNvSpPr/>
          <p:nvPr/>
        </p:nvSpPr>
        <p:spPr>
          <a:xfrm>
            <a:off x="640080" y="1325880"/>
            <a:ext cx="402336" cy="402336"/>
          </a:xfrm>
          <a:prstGeom prst="ellipse">
            <a:avLst/>
          </a:prstGeom>
          <a:solidFill>
            <a:schemeClr val="accent1"/>
          </a:solidFill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chemeClr val="bg1"/>
                </a:solidFill>
                <a:latin typeface="Hind Siliguri" panose="02000000000000000000" pitchFamily="2" charset="0"/>
                <a:cs typeface="Hind Siliguri" panose="02000000000000000000" pitchFamily="2" charset="0"/>
              </a:rPr>
              <a:t>১</a:t>
            </a:r>
            <a:endParaRPr lang="en-US" sz="1400" dirty="0">
              <a:latin typeface="Hind Siliguri" panose="02000000000000000000" pitchFamily="2" charset="0"/>
              <a:cs typeface="Hind Siliguri" panose="02000000000000000000" pitchFamily="2" charset="0"/>
            </a:endParaRPr>
          </a:p>
        </p:txBody>
      </p:sp>
      <p:sp>
        <p:nvSpPr>
          <p:cNvPr id="5" name="Step head 1"/>
          <p:cNvSpPr txBox="1"/>
          <p:nvPr/>
        </p:nvSpPr>
        <p:spPr>
          <a:xfrm>
            <a:off x="1234440" y="1234440"/>
            <a:ext cx="2194560" cy="5852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chemeClr val="tx2"/>
                </a:solidFill>
                <a:latin typeface="Hind Siliguri" panose="02000000000000000000" pitchFamily="2" charset="0"/>
                <a:cs typeface="Hind Siliguri" panose="02000000000000000000" pitchFamily="2" charset="0"/>
              </a:rPr>
              <a:t>JDK ডাউনলোড</a:t>
            </a:r>
            <a:endParaRPr lang="en-US" sz="1600" dirty="0">
              <a:latin typeface="Hind Siliguri" panose="02000000000000000000" pitchFamily="2" charset="0"/>
              <a:cs typeface="Hind Siliguri" panose="02000000000000000000" pitchFamily="2" charset="0"/>
            </a:endParaRPr>
          </a:p>
        </p:txBody>
      </p:sp>
      <p:sp>
        <p:nvSpPr>
          <p:cNvPr id="6" name="Step desc 1"/>
          <p:cNvSpPr txBox="1"/>
          <p:nvPr/>
        </p:nvSpPr>
        <p:spPr>
          <a:xfrm>
            <a:off x="3474720" y="1234440"/>
            <a:ext cx="5029200" cy="5852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chemeClr val="tx1"/>
                </a:solidFill>
                <a:latin typeface="Hind Siliguri" panose="02000000000000000000" pitchFamily="2" charset="0"/>
                <a:cs typeface="Hind Siliguri" panose="02000000000000000000" pitchFamily="2" charset="0"/>
              </a:rPr>
              <a:t>Oracle JDK বা Adoptium (OpenJDK) থেকে LTS ভার্সন (যেমন 17 / 21)</a:t>
            </a:r>
            <a:endParaRPr lang="en-US" sz="1400" dirty="0">
              <a:latin typeface="Hind Siliguri" panose="02000000000000000000" pitchFamily="2" charset="0"/>
              <a:cs typeface="Hind Siliguri" panose="02000000000000000000" pitchFamily="2" charset="0"/>
            </a:endParaRPr>
          </a:p>
        </p:txBody>
      </p:sp>
      <p:sp>
        <p:nvSpPr>
          <p:cNvPr id="7" name="Step row 2"/>
          <p:cNvSpPr/>
          <p:nvPr/>
        </p:nvSpPr>
        <p:spPr>
          <a:xfrm>
            <a:off x="457200" y="1911096"/>
            <a:ext cx="8229600" cy="585216"/>
          </a:xfrm>
          <a:prstGeom prst="roundRect">
            <a:avLst>
              <a:gd name="adj" fmla="val 18750"/>
            </a:avLst>
          </a:prstGeom>
          <a:solidFill>
            <a:schemeClr val="bg2"/>
          </a:solidFill>
          <a:ln/>
        </p:spPr>
      </p:sp>
      <p:sp>
        <p:nvSpPr>
          <p:cNvPr id="8" name="Step badge 2"/>
          <p:cNvSpPr/>
          <p:nvPr/>
        </p:nvSpPr>
        <p:spPr>
          <a:xfrm>
            <a:off x="640080" y="2002536"/>
            <a:ext cx="402336" cy="402336"/>
          </a:xfrm>
          <a:prstGeom prst="ellipse">
            <a:avLst/>
          </a:prstGeom>
          <a:solidFill>
            <a:schemeClr val="accent1"/>
          </a:solidFill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chemeClr val="bg1"/>
                </a:solidFill>
                <a:latin typeface="Hind Siliguri" panose="02000000000000000000" pitchFamily="2" charset="0"/>
                <a:cs typeface="Hind Siliguri" panose="02000000000000000000" pitchFamily="2" charset="0"/>
              </a:rPr>
              <a:t>২</a:t>
            </a:r>
            <a:endParaRPr lang="en-US" sz="1400" dirty="0">
              <a:latin typeface="Hind Siliguri" panose="02000000000000000000" pitchFamily="2" charset="0"/>
              <a:cs typeface="Hind Siliguri" panose="02000000000000000000" pitchFamily="2" charset="0"/>
            </a:endParaRPr>
          </a:p>
        </p:txBody>
      </p:sp>
      <p:sp>
        <p:nvSpPr>
          <p:cNvPr id="9" name="Step head 2"/>
          <p:cNvSpPr txBox="1"/>
          <p:nvPr/>
        </p:nvSpPr>
        <p:spPr>
          <a:xfrm>
            <a:off x="1234440" y="1911096"/>
            <a:ext cx="2194560" cy="5852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chemeClr val="tx2"/>
                </a:solidFill>
                <a:latin typeface="Hind Siliguri" panose="02000000000000000000" pitchFamily="2" charset="0"/>
                <a:cs typeface="Hind Siliguri" panose="02000000000000000000" pitchFamily="2" charset="0"/>
              </a:rPr>
              <a:t>JDK ইনস্টল</a:t>
            </a:r>
            <a:endParaRPr lang="en-US" sz="1600" dirty="0">
              <a:latin typeface="Hind Siliguri" panose="02000000000000000000" pitchFamily="2" charset="0"/>
              <a:cs typeface="Hind Siliguri" panose="02000000000000000000" pitchFamily="2" charset="0"/>
            </a:endParaRPr>
          </a:p>
        </p:txBody>
      </p:sp>
      <p:sp>
        <p:nvSpPr>
          <p:cNvPr id="10" name="Step desc 2"/>
          <p:cNvSpPr txBox="1"/>
          <p:nvPr/>
        </p:nvSpPr>
        <p:spPr>
          <a:xfrm>
            <a:off x="3474720" y="1911096"/>
            <a:ext cx="5029200" cy="5852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chemeClr val="tx1"/>
                </a:solidFill>
                <a:latin typeface="Hind Siliguri" panose="02000000000000000000" pitchFamily="2" charset="0"/>
                <a:cs typeface="Hind Siliguri" panose="02000000000000000000" pitchFamily="2" charset="0"/>
              </a:rPr>
              <a:t>ইনস্টলার চালিয়ে Next → Next → Finish</a:t>
            </a:r>
            <a:endParaRPr lang="en-US" sz="1400" dirty="0">
              <a:latin typeface="Hind Siliguri" panose="02000000000000000000" pitchFamily="2" charset="0"/>
              <a:cs typeface="Hind Siliguri" panose="02000000000000000000" pitchFamily="2" charset="0"/>
            </a:endParaRPr>
          </a:p>
        </p:txBody>
      </p:sp>
      <p:sp>
        <p:nvSpPr>
          <p:cNvPr id="11" name="Step row 3"/>
          <p:cNvSpPr/>
          <p:nvPr/>
        </p:nvSpPr>
        <p:spPr>
          <a:xfrm>
            <a:off x="457200" y="2587752"/>
            <a:ext cx="8229600" cy="585216"/>
          </a:xfrm>
          <a:prstGeom prst="roundRect">
            <a:avLst>
              <a:gd name="adj" fmla="val 18750"/>
            </a:avLst>
          </a:prstGeom>
          <a:solidFill>
            <a:schemeClr val="bg2"/>
          </a:solidFill>
          <a:ln/>
        </p:spPr>
      </p:sp>
      <p:sp>
        <p:nvSpPr>
          <p:cNvPr id="12" name="Step badge 3"/>
          <p:cNvSpPr/>
          <p:nvPr/>
        </p:nvSpPr>
        <p:spPr>
          <a:xfrm>
            <a:off x="640080" y="2679192"/>
            <a:ext cx="402336" cy="402336"/>
          </a:xfrm>
          <a:prstGeom prst="ellipse">
            <a:avLst/>
          </a:prstGeom>
          <a:solidFill>
            <a:schemeClr val="accent1"/>
          </a:solidFill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chemeClr val="bg1"/>
                </a:solidFill>
                <a:latin typeface="Hind Siliguri" panose="02000000000000000000" pitchFamily="2" charset="0"/>
                <a:cs typeface="Hind Siliguri" panose="02000000000000000000" pitchFamily="2" charset="0"/>
              </a:rPr>
              <a:t>৩</a:t>
            </a:r>
            <a:endParaRPr lang="en-US" sz="1400" dirty="0">
              <a:latin typeface="Hind Siliguri" panose="02000000000000000000" pitchFamily="2" charset="0"/>
              <a:cs typeface="Hind Siliguri" panose="02000000000000000000" pitchFamily="2" charset="0"/>
            </a:endParaRPr>
          </a:p>
        </p:txBody>
      </p:sp>
      <p:sp>
        <p:nvSpPr>
          <p:cNvPr id="13" name="Step head 3"/>
          <p:cNvSpPr txBox="1"/>
          <p:nvPr/>
        </p:nvSpPr>
        <p:spPr>
          <a:xfrm>
            <a:off x="1234440" y="2587752"/>
            <a:ext cx="2194560" cy="5852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chemeClr val="tx2"/>
                </a:solidFill>
                <a:latin typeface="Hind Siliguri" panose="02000000000000000000" pitchFamily="2" charset="0"/>
                <a:cs typeface="Hind Siliguri" panose="02000000000000000000" pitchFamily="2" charset="0"/>
              </a:rPr>
              <a:t>PATH সেট করা</a:t>
            </a:r>
            <a:endParaRPr lang="en-US" sz="1600" dirty="0">
              <a:latin typeface="Hind Siliguri" panose="02000000000000000000" pitchFamily="2" charset="0"/>
              <a:cs typeface="Hind Siliguri" panose="02000000000000000000" pitchFamily="2" charset="0"/>
            </a:endParaRPr>
          </a:p>
        </p:txBody>
      </p:sp>
      <p:sp>
        <p:nvSpPr>
          <p:cNvPr id="14" name="Step desc 3"/>
          <p:cNvSpPr txBox="1"/>
          <p:nvPr/>
        </p:nvSpPr>
        <p:spPr>
          <a:xfrm>
            <a:off x="3474720" y="2587752"/>
            <a:ext cx="5029200" cy="5852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chemeClr val="tx1"/>
                </a:solidFill>
                <a:latin typeface="Hind Siliguri" panose="02000000000000000000" pitchFamily="2" charset="0"/>
                <a:cs typeface="Hind Siliguri" panose="02000000000000000000" pitchFamily="2" charset="0"/>
              </a:rPr>
              <a:t>JAVA_HOME ও Path এনভায়রনমেন্ট ভ্যারিয়েবল সেট করো</a:t>
            </a:r>
            <a:endParaRPr lang="en-US" sz="1400" dirty="0">
              <a:latin typeface="Hind Siliguri" panose="02000000000000000000" pitchFamily="2" charset="0"/>
              <a:cs typeface="Hind Siliguri" panose="02000000000000000000" pitchFamily="2" charset="0"/>
            </a:endParaRPr>
          </a:p>
        </p:txBody>
      </p:sp>
      <p:sp>
        <p:nvSpPr>
          <p:cNvPr id="15" name="Step row 4"/>
          <p:cNvSpPr/>
          <p:nvPr/>
        </p:nvSpPr>
        <p:spPr>
          <a:xfrm>
            <a:off x="457200" y="3264408"/>
            <a:ext cx="8229600" cy="585216"/>
          </a:xfrm>
          <a:prstGeom prst="roundRect">
            <a:avLst>
              <a:gd name="adj" fmla="val 18750"/>
            </a:avLst>
          </a:prstGeom>
          <a:solidFill>
            <a:schemeClr val="bg2"/>
          </a:solidFill>
          <a:ln/>
        </p:spPr>
      </p:sp>
      <p:sp>
        <p:nvSpPr>
          <p:cNvPr id="16" name="Step badge 4"/>
          <p:cNvSpPr/>
          <p:nvPr/>
        </p:nvSpPr>
        <p:spPr>
          <a:xfrm>
            <a:off x="640080" y="3355848"/>
            <a:ext cx="402336" cy="402336"/>
          </a:xfrm>
          <a:prstGeom prst="ellipse">
            <a:avLst/>
          </a:prstGeom>
          <a:solidFill>
            <a:schemeClr val="accent1"/>
          </a:solidFill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chemeClr val="bg1"/>
                </a:solidFill>
                <a:latin typeface="Hind Siliguri" panose="02000000000000000000" pitchFamily="2" charset="0"/>
                <a:cs typeface="Hind Siliguri" panose="02000000000000000000" pitchFamily="2" charset="0"/>
              </a:rPr>
              <a:t>৪</a:t>
            </a:r>
            <a:endParaRPr lang="en-US" sz="1400" dirty="0">
              <a:latin typeface="Hind Siliguri" panose="02000000000000000000" pitchFamily="2" charset="0"/>
              <a:cs typeface="Hind Siliguri" panose="02000000000000000000" pitchFamily="2" charset="0"/>
            </a:endParaRPr>
          </a:p>
        </p:txBody>
      </p:sp>
      <p:sp>
        <p:nvSpPr>
          <p:cNvPr id="17" name="Step head 4"/>
          <p:cNvSpPr txBox="1"/>
          <p:nvPr/>
        </p:nvSpPr>
        <p:spPr>
          <a:xfrm>
            <a:off x="1234440" y="3264408"/>
            <a:ext cx="2194560" cy="5852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chemeClr val="tx2"/>
                </a:solidFill>
                <a:latin typeface="Hind Siliguri" panose="02000000000000000000" pitchFamily="2" charset="0"/>
                <a:cs typeface="Hind Siliguri" panose="02000000000000000000" pitchFamily="2" charset="0"/>
              </a:rPr>
              <a:t>ভার্সন যাচাই</a:t>
            </a:r>
            <a:endParaRPr lang="en-US" sz="1600" dirty="0">
              <a:latin typeface="Hind Siliguri" panose="02000000000000000000" pitchFamily="2" charset="0"/>
              <a:cs typeface="Hind Siliguri" panose="02000000000000000000" pitchFamily="2" charset="0"/>
            </a:endParaRPr>
          </a:p>
        </p:txBody>
      </p:sp>
      <p:sp>
        <p:nvSpPr>
          <p:cNvPr id="18" name="Step desc 4"/>
          <p:cNvSpPr txBox="1"/>
          <p:nvPr/>
        </p:nvSpPr>
        <p:spPr>
          <a:xfrm>
            <a:off x="3474720" y="3264408"/>
            <a:ext cx="5029200" cy="5852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chemeClr val="tx1"/>
                </a:solidFill>
                <a:latin typeface="Hind Siliguri" panose="02000000000000000000" pitchFamily="2" charset="0"/>
                <a:cs typeface="Hind Siliguri" panose="02000000000000000000" pitchFamily="2" charset="0"/>
              </a:rPr>
              <a:t>Terminal-এ java -version ও javac -version লিখে দেখো</a:t>
            </a:r>
            <a:endParaRPr lang="en-US" sz="1400" dirty="0">
              <a:latin typeface="Hind Siliguri" panose="02000000000000000000" pitchFamily="2" charset="0"/>
              <a:cs typeface="Hind Siliguri" panose="02000000000000000000" pitchFamily="2" charset="0"/>
            </a:endParaRPr>
          </a:p>
        </p:txBody>
      </p:sp>
      <p:sp>
        <p:nvSpPr>
          <p:cNvPr id="19" name="Step row 5"/>
          <p:cNvSpPr/>
          <p:nvPr/>
        </p:nvSpPr>
        <p:spPr>
          <a:xfrm>
            <a:off x="457200" y="3941064"/>
            <a:ext cx="8229600" cy="585216"/>
          </a:xfrm>
          <a:prstGeom prst="roundRect">
            <a:avLst>
              <a:gd name="adj" fmla="val 18750"/>
            </a:avLst>
          </a:prstGeom>
          <a:solidFill>
            <a:schemeClr val="bg2"/>
          </a:solidFill>
          <a:ln/>
        </p:spPr>
      </p:sp>
      <p:sp>
        <p:nvSpPr>
          <p:cNvPr id="20" name="Step badge 5"/>
          <p:cNvSpPr/>
          <p:nvPr/>
        </p:nvSpPr>
        <p:spPr>
          <a:xfrm>
            <a:off x="640080" y="4032504"/>
            <a:ext cx="402336" cy="402336"/>
          </a:xfrm>
          <a:prstGeom prst="ellipse">
            <a:avLst/>
          </a:prstGeom>
          <a:solidFill>
            <a:schemeClr val="accent1"/>
          </a:solidFill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chemeClr val="bg1"/>
                </a:solidFill>
                <a:latin typeface="Hind Siliguri" panose="02000000000000000000" pitchFamily="2" charset="0"/>
                <a:cs typeface="Hind Siliguri" panose="02000000000000000000" pitchFamily="2" charset="0"/>
              </a:rPr>
              <a:t>৫</a:t>
            </a:r>
            <a:endParaRPr lang="en-US" sz="1400" dirty="0">
              <a:latin typeface="Hind Siliguri" panose="02000000000000000000" pitchFamily="2" charset="0"/>
              <a:cs typeface="Hind Siliguri" panose="02000000000000000000" pitchFamily="2" charset="0"/>
            </a:endParaRPr>
          </a:p>
        </p:txBody>
      </p:sp>
      <p:sp>
        <p:nvSpPr>
          <p:cNvPr id="21" name="Step head 5"/>
          <p:cNvSpPr txBox="1"/>
          <p:nvPr/>
        </p:nvSpPr>
        <p:spPr>
          <a:xfrm>
            <a:off x="1234440" y="3941064"/>
            <a:ext cx="2194560" cy="5852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chemeClr val="tx2"/>
                </a:solidFill>
                <a:latin typeface="Hind Siliguri" panose="02000000000000000000" pitchFamily="2" charset="0"/>
                <a:cs typeface="Hind Siliguri" panose="02000000000000000000" pitchFamily="2" charset="0"/>
              </a:rPr>
              <a:t>IDE ইনস্টল</a:t>
            </a:r>
            <a:endParaRPr lang="en-US" sz="1600" dirty="0">
              <a:latin typeface="Hind Siliguri" panose="02000000000000000000" pitchFamily="2" charset="0"/>
              <a:cs typeface="Hind Siliguri" panose="02000000000000000000" pitchFamily="2" charset="0"/>
            </a:endParaRPr>
          </a:p>
        </p:txBody>
      </p:sp>
      <p:sp>
        <p:nvSpPr>
          <p:cNvPr id="22" name="Step desc 5"/>
          <p:cNvSpPr txBox="1"/>
          <p:nvPr/>
        </p:nvSpPr>
        <p:spPr>
          <a:xfrm>
            <a:off x="3474720" y="3941064"/>
            <a:ext cx="5029200" cy="5852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chemeClr val="tx1"/>
                </a:solidFill>
                <a:latin typeface="Hind Siliguri" panose="02000000000000000000" pitchFamily="2" charset="0"/>
                <a:cs typeface="Hind Siliguri" panose="02000000000000000000" pitchFamily="2" charset="0"/>
              </a:rPr>
              <a:t>IntelliJ IDEA Community বা VS Code ইনস্টল করো</a:t>
            </a:r>
            <a:endParaRPr lang="en-US" sz="1400" dirty="0">
              <a:latin typeface="Hind Siliguri" panose="02000000000000000000" pitchFamily="2" charset="0"/>
              <a:cs typeface="Hind Siliguri" panose="02000000000000000000" pitchFamily="2" charset="0"/>
            </a:endParaRPr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70916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=""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6"/>
                </a:solidFill>
              </a:defRPr>
            </a:lvl1pPr>
          </a:lstStyle>
          <a:p>
            <a:pPr algn="l"/>
            <a:fld id="{F7021451-1387-4CA6-816F-3879F97B5CBC}" type="slidenum">
              <a:rPr lang="en-US" b="0">
                <a:latin typeface="Hind Siliguri" panose="02000000000000000000" pitchFamily="2" charset="0"/>
                <a:cs typeface="Hind Siliguri" panose="02000000000000000000" pitchFamily="2" charset="0"/>
              </a:rPr>
              <a:t>4</a:t>
            </a:fld>
            <a:endParaRPr lang="en-US" dirty="0">
              <a:latin typeface="Hind Siliguri" panose="02000000000000000000" pitchFamily="2" charset="0"/>
              <a:cs typeface="Hind Siliguri" panose="02000000000000000000" pitchFamily="2" charset="0"/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>
            <a:spLocks noGrp="1"/>
          </p:cNvSpPr>
          <p:nvPr>
            <p:ph type="title" idx="100" hasCustomPrompt="1"/>
          </p:nvPr>
        </p:nvSpPr>
        <p:spPr>
          <a:xfrm>
            <a:off x="457200" y="274320"/>
            <a:ext cx="82296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3000" b="1" dirty="0">
                <a:solidFill>
                  <a:schemeClr val="tx2"/>
                </a:solidFill>
                <a:latin typeface="Hind Siliguri" panose="02000000000000000000" pitchFamily="2" charset="0"/>
                <a:cs typeface="Hind Siliguri" panose="02000000000000000000" pitchFamily="2" charset="0"/>
              </a:rPr>
              <a:t>প্রথম জাভা প্রোগ্রাম</a:t>
            </a:r>
            <a:endParaRPr lang="en-US" sz="3000" dirty="0">
              <a:latin typeface="Hind Siliguri" panose="02000000000000000000" pitchFamily="2" charset="0"/>
              <a:cs typeface="Hind Siliguri" panose="02000000000000000000" pitchFamily="2" charset="0"/>
            </a:endParaRPr>
          </a:p>
        </p:txBody>
      </p:sp>
      <p:sp>
        <p:nvSpPr>
          <p:cNvPr id="3" name="Hello code card"/>
          <p:cNvSpPr/>
          <p:nvPr/>
        </p:nvSpPr>
        <p:spPr>
          <a:xfrm>
            <a:off x="457200" y="1280160"/>
            <a:ext cx="4572000" cy="3200400"/>
          </a:xfrm>
          <a:prstGeom prst="roundRect">
            <a:avLst>
              <a:gd name="adj" fmla="val 3429"/>
            </a:avLst>
          </a:prstGeom>
          <a:solidFill>
            <a:schemeClr val="tx1"/>
          </a:solidFill>
          <a:ln/>
        </p:spPr>
      </p:sp>
      <p:sp>
        <p:nvSpPr>
          <p:cNvPr id="4" name="Hello code"/>
          <p:cNvSpPr txBox="1"/>
          <p:nvPr/>
        </p:nvSpPr>
        <p:spPr>
          <a:xfrm>
            <a:off x="685800" y="1508760"/>
            <a:ext cx="420624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200" dirty="0">
                <a:solidFill>
                  <a:schemeClr val="bg1"/>
                </a:solidFill>
                <a:latin typeface="Monaco" panose="020B0500000000000000" pitchFamily="34" charset="0"/>
                <a:ea typeface="Courier New" pitchFamily="34" charset="-122"/>
                <a:cs typeface="Hind Siliguri" panose="02000000000000000000" pitchFamily="2" charset="0"/>
              </a:rPr>
              <a:t>public class Hello {</a:t>
            </a:r>
            <a:endParaRPr lang="en-US" sz="1200" dirty="0">
              <a:latin typeface="Monaco" panose="020B0500000000000000" pitchFamily="34" charset="0"/>
              <a:cs typeface="Hind Siliguri" panose="02000000000000000000" pitchFamily="2" charset="0"/>
            </a:endParaRPr>
          </a:p>
          <a:p>
            <a:pPr marL="0" indent="0">
              <a:buNone/>
            </a:pPr>
            <a:r>
              <a:rPr lang="en-US" sz="1200" dirty="0">
                <a:solidFill>
                  <a:schemeClr val="bg1"/>
                </a:solidFill>
                <a:latin typeface="Monaco" panose="020B0500000000000000" pitchFamily="34" charset="0"/>
                <a:ea typeface="Courier New" pitchFamily="34" charset="-122"/>
                <a:cs typeface="Hind Siliguri" panose="02000000000000000000" pitchFamily="2" charset="0"/>
              </a:rPr>
              <a:t>    public static void main(String[] args) {</a:t>
            </a:r>
            <a:endParaRPr lang="en-US" sz="1200" dirty="0">
              <a:latin typeface="Monaco" panose="020B0500000000000000" pitchFamily="34" charset="0"/>
              <a:cs typeface="Hind Siliguri" panose="02000000000000000000" pitchFamily="2" charset="0"/>
            </a:endParaRPr>
          </a:p>
          <a:p>
            <a:pPr marL="0" indent="0">
              <a:buNone/>
            </a:pPr>
            <a:r>
              <a:rPr lang="en-US" sz="1200" dirty="0">
                <a:solidFill>
                  <a:schemeClr val="bg1"/>
                </a:solidFill>
                <a:latin typeface="Monaco" panose="020B0500000000000000" pitchFamily="34" charset="0"/>
                <a:ea typeface="Courier New" pitchFamily="34" charset="-122"/>
                <a:cs typeface="Hind Siliguri" panose="02000000000000000000" pitchFamily="2" charset="0"/>
              </a:rPr>
              <a:t>        System.out.println("Hello, Java!");</a:t>
            </a:r>
            <a:endParaRPr lang="en-US" sz="1200" dirty="0">
              <a:latin typeface="Monaco" panose="020B0500000000000000" pitchFamily="34" charset="0"/>
              <a:cs typeface="Hind Siliguri" panose="02000000000000000000" pitchFamily="2" charset="0"/>
            </a:endParaRPr>
          </a:p>
          <a:p>
            <a:pPr marL="0" indent="0">
              <a:buNone/>
            </a:pPr>
            <a:r>
              <a:rPr lang="en-US" sz="1200" dirty="0">
                <a:solidFill>
                  <a:schemeClr val="bg1"/>
                </a:solidFill>
                <a:latin typeface="Monaco" panose="020B0500000000000000" pitchFamily="34" charset="0"/>
                <a:ea typeface="Courier New" pitchFamily="34" charset="-122"/>
                <a:cs typeface="Hind Siliguri" panose="02000000000000000000" pitchFamily="2" charset="0"/>
              </a:rPr>
              <a:t>    }</a:t>
            </a:r>
            <a:endParaRPr lang="en-US" sz="1200" dirty="0">
              <a:latin typeface="Monaco" panose="020B0500000000000000" pitchFamily="34" charset="0"/>
              <a:cs typeface="Hind Siliguri" panose="02000000000000000000" pitchFamily="2" charset="0"/>
            </a:endParaRPr>
          </a:p>
          <a:p>
            <a:pPr marL="0" indent="0">
              <a:buNone/>
            </a:pPr>
            <a:r>
              <a:rPr lang="en-US" sz="1200" dirty="0">
                <a:solidFill>
                  <a:schemeClr val="bg1"/>
                </a:solidFill>
                <a:latin typeface="Monaco" panose="020B0500000000000000" pitchFamily="34" charset="0"/>
                <a:ea typeface="Courier New" pitchFamily="34" charset="-122"/>
                <a:cs typeface="Hind Siliguri" panose="02000000000000000000" pitchFamily="2" charset="0"/>
              </a:rPr>
              <a:t>}</a:t>
            </a:r>
            <a:endParaRPr lang="en-US" sz="1200" dirty="0">
              <a:latin typeface="Monaco" panose="020B0500000000000000" pitchFamily="34" charset="0"/>
              <a:cs typeface="Hind Siliguri" panose="02000000000000000000" pitchFamily="2" charset="0"/>
            </a:endParaRPr>
          </a:p>
        </p:txBody>
      </p:sp>
      <p:sp>
        <p:nvSpPr>
          <p:cNvPr id="5" name="Hello caption"/>
          <p:cNvSpPr txBox="1"/>
          <p:nvPr/>
        </p:nvSpPr>
        <p:spPr>
          <a:xfrm>
            <a:off x="685800" y="3520440"/>
            <a:ext cx="41148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400" dirty="0">
                <a:solidFill>
                  <a:schemeClr val="accent4"/>
                </a:solidFill>
                <a:latin typeface="Hind Siliguri" panose="02000000000000000000" pitchFamily="2" charset="0"/>
                <a:cs typeface="Hind Siliguri" panose="02000000000000000000" pitchFamily="2" charset="0"/>
              </a:rPr>
              <a:t>main() মেথড থেকেই জাভা প্রোগ্রাম শুরু হয়।</a:t>
            </a:r>
            <a:endParaRPr lang="en-US" sz="1400" dirty="0">
              <a:latin typeface="Hind Siliguri" panose="02000000000000000000" pitchFamily="2" charset="0"/>
              <a:cs typeface="Hind Siliguri" panose="02000000000000000000" pitchFamily="2" charset="0"/>
            </a:endParaRPr>
          </a:p>
        </p:txBody>
      </p:sp>
      <p:sp>
        <p:nvSpPr>
          <p:cNvPr id="6" name="Run card 1"/>
          <p:cNvSpPr/>
          <p:nvPr/>
        </p:nvSpPr>
        <p:spPr>
          <a:xfrm>
            <a:off x="5257800" y="1280160"/>
            <a:ext cx="3429000" cy="960120"/>
          </a:xfrm>
          <a:prstGeom prst="roundRect">
            <a:avLst>
              <a:gd name="adj" fmla="val 11429"/>
            </a:avLst>
          </a:prstGeom>
          <a:solidFill>
            <a:schemeClr val="bg2"/>
          </a:solidFill>
          <a:ln/>
        </p:spPr>
      </p:sp>
      <p:sp>
        <p:nvSpPr>
          <p:cNvPr id="7" name="Run head 1"/>
          <p:cNvSpPr txBox="1"/>
          <p:nvPr/>
        </p:nvSpPr>
        <p:spPr>
          <a:xfrm>
            <a:off x="5440680" y="1371600"/>
            <a:ext cx="3063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500" b="1" dirty="0">
                <a:solidFill>
                  <a:schemeClr val="tx2"/>
                </a:solidFill>
                <a:latin typeface="Hind Siliguri" panose="02000000000000000000" pitchFamily="2" charset="0"/>
                <a:cs typeface="Hind Siliguri" panose="02000000000000000000" pitchFamily="2" charset="0"/>
              </a:rPr>
              <a:t>১. ফাইল সেভ করো</a:t>
            </a:r>
            <a:endParaRPr lang="en-US" sz="1500" dirty="0">
              <a:latin typeface="Hind Siliguri" panose="02000000000000000000" pitchFamily="2" charset="0"/>
              <a:cs typeface="Hind Siliguri" panose="02000000000000000000" pitchFamily="2" charset="0"/>
            </a:endParaRPr>
          </a:p>
        </p:txBody>
      </p:sp>
      <p:sp>
        <p:nvSpPr>
          <p:cNvPr id="8" name="Run body 1"/>
          <p:cNvSpPr txBox="1"/>
          <p:nvPr/>
        </p:nvSpPr>
        <p:spPr>
          <a:xfrm>
            <a:off x="5440680" y="1691640"/>
            <a:ext cx="30632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400" dirty="0">
                <a:solidFill>
                  <a:schemeClr val="tx1"/>
                </a:solidFill>
                <a:latin typeface="Hind Siliguri" panose="02000000000000000000" pitchFamily="2" charset="0"/>
                <a:cs typeface="Hind Siliguri" panose="02000000000000000000" pitchFamily="2" charset="0"/>
              </a:rPr>
              <a:t>Hello.java নামে (ক্লাসের নামের সাথে মিল)</a:t>
            </a:r>
            <a:endParaRPr lang="en-US" sz="1400" dirty="0">
              <a:latin typeface="Hind Siliguri" panose="02000000000000000000" pitchFamily="2" charset="0"/>
              <a:cs typeface="Hind Siliguri" panose="02000000000000000000" pitchFamily="2" charset="0"/>
            </a:endParaRPr>
          </a:p>
        </p:txBody>
      </p:sp>
      <p:sp>
        <p:nvSpPr>
          <p:cNvPr id="9" name="Run card 2"/>
          <p:cNvSpPr/>
          <p:nvPr/>
        </p:nvSpPr>
        <p:spPr>
          <a:xfrm>
            <a:off x="5257800" y="2423160"/>
            <a:ext cx="3429000" cy="960120"/>
          </a:xfrm>
          <a:prstGeom prst="roundRect">
            <a:avLst>
              <a:gd name="adj" fmla="val 11429"/>
            </a:avLst>
          </a:prstGeom>
          <a:solidFill>
            <a:schemeClr val="bg2"/>
          </a:solidFill>
          <a:ln/>
        </p:spPr>
      </p:sp>
      <p:sp>
        <p:nvSpPr>
          <p:cNvPr id="10" name="Run head 2"/>
          <p:cNvSpPr txBox="1"/>
          <p:nvPr/>
        </p:nvSpPr>
        <p:spPr>
          <a:xfrm>
            <a:off x="5440680" y="2514600"/>
            <a:ext cx="3063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500" b="1" dirty="0">
                <a:solidFill>
                  <a:schemeClr val="tx2"/>
                </a:solidFill>
                <a:latin typeface="Hind Siliguri" panose="02000000000000000000" pitchFamily="2" charset="0"/>
                <a:cs typeface="Hind Siliguri" panose="02000000000000000000" pitchFamily="2" charset="0"/>
              </a:rPr>
              <a:t>২. কম্পাইল করো</a:t>
            </a:r>
            <a:endParaRPr lang="en-US" sz="1500" dirty="0">
              <a:latin typeface="Hind Siliguri" panose="02000000000000000000" pitchFamily="2" charset="0"/>
              <a:cs typeface="Hind Siliguri" panose="02000000000000000000" pitchFamily="2" charset="0"/>
            </a:endParaRPr>
          </a:p>
        </p:txBody>
      </p:sp>
      <p:sp>
        <p:nvSpPr>
          <p:cNvPr id="11" name="Run body 2"/>
          <p:cNvSpPr txBox="1"/>
          <p:nvPr/>
        </p:nvSpPr>
        <p:spPr>
          <a:xfrm>
            <a:off x="5440680" y="2834640"/>
            <a:ext cx="30632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400" dirty="0">
                <a:solidFill>
                  <a:schemeClr val="tx1"/>
                </a:solidFill>
                <a:latin typeface="Hind Siliguri" panose="02000000000000000000" pitchFamily="2" charset="0"/>
                <a:cs typeface="Hind Siliguri" panose="02000000000000000000" pitchFamily="2" charset="0"/>
              </a:rPr>
              <a:t>javac Hello.java</a:t>
            </a:r>
            <a:endParaRPr lang="en-US" sz="1400" dirty="0">
              <a:latin typeface="Hind Siliguri" panose="02000000000000000000" pitchFamily="2" charset="0"/>
              <a:cs typeface="Hind Siliguri" panose="02000000000000000000" pitchFamily="2" charset="0"/>
            </a:endParaRPr>
          </a:p>
        </p:txBody>
      </p:sp>
      <p:sp>
        <p:nvSpPr>
          <p:cNvPr id="12" name="Run card 3"/>
          <p:cNvSpPr/>
          <p:nvPr/>
        </p:nvSpPr>
        <p:spPr>
          <a:xfrm>
            <a:off x="5257800" y="3566160"/>
            <a:ext cx="3429000" cy="960120"/>
          </a:xfrm>
          <a:prstGeom prst="roundRect">
            <a:avLst>
              <a:gd name="adj" fmla="val 11429"/>
            </a:avLst>
          </a:prstGeom>
          <a:solidFill>
            <a:schemeClr val="bg2"/>
          </a:solidFill>
          <a:ln/>
        </p:spPr>
      </p:sp>
      <p:sp>
        <p:nvSpPr>
          <p:cNvPr id="13" name="Run head 3"/>
          <p:cNvSpPr txBox="1"/>
          <p:nvPr/>
        </p:nvSpPr>
        <p:spPr>
          <a:xfrm>
            <a:off x="5440680" y="3657600"/>
            <a:ext cx="3063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500" b="1" dirty="0">
                <a:solidFill>
                  <a:schemeClr val="tx2"/>
                </a:solidFill>
                <a:latin typeface="Hind Siliguri" panose="02000000000000000000" pitchFamily="2" charset="0"/>
                <a:cs typeface="Hind Siliguri" panose="02000000000000000000" pitchFamily="2" charset="0"/>
              </a:rPr>
              <a:t>৩. রান করো</a:t>
            </a:r>
            <a:endParaRPr lang="en-US" sz="1500" dirty="0">
              <a:latin typeface="Hind Siliguri" panose="02000000000000000000" pitchFamily="2" charset="0"/>
              <a:cs typeface="Hind Siliguri" panose="02000000000000000000" pitchFamily="2" charset="0"/>
            </a:endParaRPr>
          </a:p>
        </p:txBody>
      </p:sp>
      <p:sp>
        <p:nvSpPr>
          <p:cNvPr id="14" name="Run body 3"/>
          <p:cNvSpPr txBox="1"/>
          <p:nvPr/>
        </p:nvSpPr>
        <p:spPr>
          <a:xfrm>
            <a:off x="5440680" y="3977640"/>
            <a:ext cx="30632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400" dirty="0">
                <a:solidFill>
                  <a:schemeClr val="tx1"/>
                </a:solidFill>
                <a:latin typeface="Hind Siliguri" panose="02000000000000000000" pitchFamily="2" charset="0"/>
                <a:cs typeface="Hind Siliguri" panose="02000000000000000000" pitchFamily="2" charset="0"/>
              </a:rPr>
              <a:t>java Hello  →  Hello, Java!</a:t>
            </a:r>
            <a:endParaRPr lang="en-US" sz="1400" dirty="0">
              <a:latin typeface="Hind Siliguri" panose="02000000000000000000" pitchFamily="2" charset="0"/>
              <a:cs typeface="Hind Siliguri" panose="02000000000000000000" pitchFamily="2" charset="0"/>
            </a:endParaRPr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70916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=""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6"/>
                </a:solidFill>
              </a:defRPr>
            </a:lvl1pPr>
          </a:lstStyle>
          <a:p>
            <a:pPr algn="l"/>
            <a:fld id="{F7021451-1387-4CA6-816F-3879F97B5CBC}" type="slidenum">
              <a:rPr lang="en-US" b="0">
                <a:latin typeface="Hind Siliguri" panose="02000000000000000000" pitchFamily="2" charset="0"/>
                <a:cs typeface="Hind Siliguri" panose="02000000000000000000" pitchFamily="2" charset="0"/>
              </a:rPr>
              <a:t>5</a:t>
            </a:fld>
            <a:endParaRPr lang="en-US">
              <a:latin typeface="Hind Siliguri" panose="02000000000000000000" pitchFamily="2" charset="0"/>
              <a:cs typeface="Hind Siliguri" panose="02000000000000000000" pitchFamily="2" charset="0"/>
            </a:endParaRP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>
            <a:spLocks noGrp="1"/>
          </p:cNvSpPr>
          <p:nvPr>
            <p:ph type="title" idx="100" hasCustomPrompt="1"/>
          </p:nvPr>
        </p:nvSpPr>
        <p:spPr>
          <a:xfrm>
            <a:off x="457200" y="274320"/>
            <a:ext cx="82296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3000" b="1" dirty="0">
                <a:solidFill>
                  <a:schemeClr val="tx2"/>
                </a:solidFill>
                <a:latin typeface="Hind Siliguri" panose="02000000000000000000" pitchFamily="2" charset="0"/>
                <a:cs typeface="Hind Siliguri" panose="02000000000000000000" pitchFamily="2" charset="0"/>
              </a:rPr>
              <a:t>যোগফল নির্ণয়</a:t>
            </a:r>
            <a:endParaRPr lang="en-US" sz="3000" dirty="0">
              <a:latin typeface="Hind Siliguri" panose="02000000000000000000" pitchFamily="2" charset="0"/>
              <a:cs typeface="Hind Siliguri" panose="02000000000000000000" pitchFamily="2" charset="0"/>
            </a:endParaRPr>
          </a:p>
        </p:txBody>
      </p:sp>
      <p:sp>
        <p:nvSpPr>
          <p:cNvPr id="3" name="Problem badge"/>
          <p:cNvSpPr/>
          <p:nvPr/>
        </p:nvSpPr>
        <p:spPr>
          <a:xfrm>
            <a:off x="7406640" y="411480"/>
            <a:ext cx="1280160" cy="384048"/>
          </a:xfrm>
          <a:prstGeom prst="roundRect">
            <a:avLst>
              <a:gd name="adj" fmla="val 47619"/>
            </a:avLst>
          </a:prstGeom>
          <a:solidFill>
            <a:schemeClr val="accent1"/>
          </a:solidFill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chemeClr val="bg1"/>
                </a:solidFill>
                <a:latin typeface="Hind Siliguri" panose="02000000000000000000" pitchFamily="2" charset="0"/>
                <a:cs typeface="Hind Siliguri" panose="02000000000000000000" pitchFamily="2" charset="0"/>
              </a:rPr>
              <a:t>প্রব্লেম ১/১০</a:t>
            </a:r>
            <a:endParaRPr lang="en-US" sz="1200" dirty="0">
              <a:latin typeface="Hind Siliguri" panose="02000000000000000000" pitchFamily="2" charset="0"/>
              <a:cs typeface="Hind Siliguri" panose="02000000000000000000" pitchFamily="2" charset="0"/>
            </a:endParaRPr>
          </a:p>
        </p:txBody>
      </p:sp>
      <p:sp>
        <p:nvSpPr>
          <p:cNvPr id="4" name="Statement card"/>
          <p:cNvSpPr/>
          <p:nvPr/>
        </p:nvSpPr>
        <p:spPr>
          <a:xfrm>
            <a:off x="457200" y="1234440"/>
            <a:ext cx="3840480" cy="1188720"/>
          </a:xfrm>
          <a:prstGeom prst="roundRect">
            <a:avLst>
              <a:gd name="adj" fmla="val 9231"/>
            </a:avLst>
          </a:prstGeom>
          <a:solidFill>
            <a:schemeClr val="bg2"/>
          </a:solidFill>
          <a:ln/>
        </p:spPr>
      </p:sp>
      <p:sp>
        <p:nvSpPr>
          <p:cNvPr id="5" name="Statement label"/>
          <p:cNvSpPr txBox="1"/>
          <p:nvPr/>
        </p:nvSpPr>
        <p:spPr>
          <a:xfrm>
            <a:off x="640080" y="1325880"/>
            <a:ext cx="3474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400" b="1" dirty="0">
                <a:solidFill>
                  <a:schemeClr val="accent1"/>
                </a:solidFill>
                <a:latin typeface="Hind Siliguri" panose="02000000000000000000" pitchFamily="2" charset="0"/>
                <a:cs typeface="Hind Siliguri" panose="02000000000000000000" pitchFamily="2" charset="0"/>
              </a:rPr>
              <a:t>সমস্যা</a:t>
            </a:r>
            <a:endParaRPr lang="en-US" sz="1400" dirty="0">
              <a:latin typeface="Hind Siliguri" panose="02000000000000000000" pitchFamily="2" charset="0"/>
              <a:cs typeface="Hind Siliguri" panose="02000000000000000000" pitchFamily="2" charset="0"/>
            </a:endParaRPr>
          </a:p>
        </p:txBody>
      </p:sp>
      <p:sp>
        <p:nvSpPr>
          <p:cNvPr id="6" name="Statement"/>
          <p:cNvSpPr txBox="1"/>
          <p:nvPr/>
        </p:nvSpPr>
        <p:spPr>
          <a:xfrm>
            <a:off x="640080" y="1627632"/>
            <a:ext cx="34747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400" dirty="0">
                <a:solidFill>
                  <a:schemeClr val="tx1"/>
                </a:solidFill>
                <a:latin typeface="Hind Siliguri" panose="02000000000000000000" pitchFamily="2" charset="0"/>
                <a:cs typeface="Hind Siliguri" panose="02000000000000000000" pitchFamily="2" charset="0"/>
              </a:rPr>
              <a:t>Java Program ব্যবহার করে দুটি সংখ্যার যোগফল নির্ণয় কর।</a:t>
            </a:r>
            <a:endParaRPr lang="en-US" sz="1400" dirty="0">
              <a:latin typeface="Hind Siliguri" panose="02000000000000000000" pitchFamily="2" charset="0"/>
              <a:cs typeface="Hind Siliguri" panose="02000000000000000000" pitchFamily="2" charset="0"/>
            </a:endParaRPr>
          </a:p>
        </p:txBody>
      </p:sp>
      <p:sp>
        <p:nvSpPr>
          <p:cNvPr id="7" name="IO card"/>
          <p:cNvSpPr/>
          <p:nvPr/>
        </p:nvSpPr>
        <p:spPr>
          <a:xfrm>
            <a:off x="457200" y="2560320"/>
            <a:ext cx="3840480" cy="914400"/>
          </a:xfrm>
          <a:prstGeom prst="roundRect">
            <a:avLst>
              <a:gd name="adj" fmla="val 12000"/>
            </a:avLst>
          </a:prstGeom>
          <a:solidFill>
            <a:schemeClr val="bg2"/>
          </a:solidFill>
          <a:ln/>
        </p:spPr>
      </p:sp>
      <p:sp>
        <p:nvSpPr>
          <p:cNvPr id="8" name="IO text"/>
          <p:cNvSpPr txBox="1"/>
          <p:nvPr/>
        </p:nvSpPr>
        <p:spPr>
          <a:xfrm>
            <a:off x="640080" y="2633472"/>
            <a:ext cx="3474720" cy="8046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300" dirty="0">
                <a:solidFill>
                  <a:schemeClr val="tx1"/>
                </a:solidFill>
                <a:latin typeface="Hind Siliguri" panose="02000000000000000000" pitchFamily="2" charset="0"/>
                <a:cs typeface="Hind Siliguri" panose="02000000000000000000" pitchFamily="2" charset="0"/>
              </a:rPr>
              <a:t>ইনপুট: 10 20</a:t>
            </a:r>
            <a:endParaRPr lang="en-US" sz="1300" dirty="0">
              <a:latin typeface="Hind Siliguri" panose="02000000000000000000" pitchFamily="2" charset="0"/>
              <a:cs typeface="Hind Siliguri" panose="02000000000000000000" pitchFamily="2" charset="0"/>
            </a:endParaRPr>
          </a:p>
          <a:p>
            <a:pPr marL="0" indent="0">
              <a:buNone/>
            </a:pPr>
            <a:r>
              <a:rPr lang="en-US" sz="1300" dirty="0">
                <a:solidFill>
                  <a:schemeClr val="tx1"/>
                </a:solidFill>
                <a:latin typeface="Hind Siliguri" panose="02000000000000000000" pitchFamily="2" charset="0"/>
                <a:cs typeface="Hind Siliguri" panose="02000000000000000000" pitchFamily="2" charset="0"/>
              </a:rPr>
              <a:t>আউটপুট: Sum = 30</a:t>
            </a:r>
            <a:endParaRPr lang="en-US" sz="1300" dirty="0">
              <a:latin typeface="Hind Siliguri" panose="02000000000000000000" pitchFamily="2" charset="0"/>
              <a:cs typeface="Hind Siliguri" panose="02000000000000000000" pitchFamily="2" charset="0"/>
            </a:endParaRPr>
          </a:p>
        </p:txBody>
      </p:sp>
      <p:sp>
        <p:nvSpPr>
          <p:cNvPr id="9" name="Hint card"/>
          <p:cNvSpPr/>
          <p:nvPr/>
        </p:nvSpPr>
        <p:spPr>
          <a:xfrm>
            <a:off x="457200" y="3611880"/>
            <a:ext cx="3840480" cy="914400"/>
          </a:xfrm>
          <a:prstGeom prst="roundRect">
            <a:avLst>
              <a:gd name="adj" fmla="val 12000"/>
            </a:avLst>
          </a:prstGeom>
          <a:solidFill>
            <a:schemeClr val="bg2"/>
          </a:solidFill>
          <a:ln/>
        </p:spPr>
      </p:sp>
      <p:sp>
        <p:nvSpPr>
          <p:cNvPr id="10" name="Hint label"/>
          <p:cNvSpPr txBox="1"/>
          <p:nvPr/>
        </p:nvSpPr>
        <p:spPr>
          <a:xfrm>
            <a:off x="640080" y="3675888"/>
            <a:ext cx="3474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400" b="1" dirty="0">
                <a:solidFill>
                  <a:schemeClr val="accent3"/>
                </a:solidFill>
                <a:latin typeface="Hind Siliguri" panose="02000000000000000000" pitchFamily="2" charset="0"/>
                <a:cs typeface="Hind Siliguri" panose="02000000000000000000" pitchFamily="2" charset="0"/>
              </a:rPr>
              <a:t>আইডিয়া</a:t>
            </a:r>
            <a:endParaRPr lang="en-US" sz="1400" dirty="0">
              <a:latin typeface="Hind Siliguri" panose="02000000000000000000" pitchFamily="2" charset="0"/>
              <a:cs typeface="Hind Siliguri" panose="02000000000000000000" pitchFamily="2" charset="0"/>
            </a:endParaRPr>
          </a:p>
        </p:txBody>
      </p:sp>
      <p:sp>
        <p:nvSpPr>
          <p:cNvPr id="11" name="Hint"/>
          <p:cNvSpPr txBox="1"/>
          <p:nvPr/>
        </p:nvSpPr>
        <p:spPr>
          <a:xfrm>
            <a:off x="640080" y="3950208"/>
            <a:ext cx="34747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400" dirty="0">
                <a:solidFill>
                  <a:schemeClr val="tx1"/>
                </a:solidFill>
                <a:latin typeface="Hind Siliguri" panose="02000000000000000000" pitchFamily="2" charset="0"/>
                <a:cs typeface="Hind Siliguri" panose="02000000000000000000" pitchFamily="2" charset="0"/>
              </a:rPr>
              <a:t>যোগফল = a + b। ক্লাসের উপরে import java.util.Scanner; লিখো।</a:t>
            </a:r>
            <a:endParaRPr lang="en-US" sz="1400" dirty="0">
              <a:latin typeface="Hind Siliguri" panose="02000000000000000000" pitchFamily="2" charset="0"/>
              <a:cs typeface="Hind Siliguri" panose="02000000000000000000" pitchFamily="2" charset="0"/>
            </a:endParaRPr>
          </a:p>
        </p:txBody>
      </p:sp>
      <p:sp>
        <p:nvSpPr>
          <p:cNvPr id="12" name="Code card"/>
          <p:cNvSpPr/>
          <p:nvPr/>
        </p:nvSpPr>
        <p:spPr>
          <a:xfrm>
            <a:off x="4480560" y="1234440"/>
            <a:ext cx="4206240" cy="3291840"/>
          </a:xfrm>
          <a:prstGeom prst="roundRect">
            <a:avLst>
              <a:gd name="adj" fmla="val 3333"/>
            </a:avLst>
          </a:prstGeom>
          <a:solidFill>
            <a:schemeClr val="tx1"/>
          </a:solidFill>
          <a:ln/>
        </p:spPr>
      </p:sp>
      <p:sp>
        <p:nvSpPr>
          <p:cNvPr id="13" name="Code label"/>
          <p:cNvSpPr txBox="1"/>
          <p:nvPr/>
        </p:nvSpPr>
        <p:spPr>
          <a:xfrm>
            <a:off x="4663440" y="1371600"/>
            <a:ext cx="3840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200" b="1" dirty="0">
                <a:solidFill>
                  <a:schemeClr val="accent4"/>
                </a:solidFill>
                <a:latin typeface="Hind Siliguri" panose="02000000000000000000" pitchFamily="2" charset="0"/>
                <a:cs typeface="Hind Siliguri" panose="02000000000000000000" pitchFamily="2" charset="0"/>
              </a:rPr>
              <a:t>Java কোড (main মেথডের ভেতরে)</a:t>
            </a:r>
            <a:endParaRPr lang="en-US" sz="1200" dirty="0">
              <a:latin typeface="Hind Siliguri" panose="02000000000000000000" pitchFamily="2" charset="0"/>
              <a:cs typeface="Hind Siliguri" panose="02000000000000000000" pitchFamily="2" charset="0"/>
            </a:endParaRPr>
          </a:p>
        </p:txBody>
      </p:sp>
      <p:sp>
        <p:nvSpPr>
          <p:cNvPr id="14" name="Code"/>
          <p:cNvSpPr txBox="1"/>
          <p:nvPr/>
        </p:nvSpPr>
        <p:spPr>
          <a:xfrm>
            <a:off x="4663440" y="1709928"/>
            <a:ext cx="3886200" cy="2651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r>
              <a:rPr lang="en-US" sz="1000" dirty="0">
                <a:solidFill>
                  <a:schemeClr val="bg1"/>
                </a:solidFill>
                <a:latin typeface="Monaco" panose="020B0500000000000000" pitchFamily="34" charset="0"/>
                <a:ea typeface="Courier New" pitchFamily="34" charset="-122"/>
                <a:cs typeface="Hind Siliguri" panose="02000000000000000000" pitchFamily="2" charset="0"/>
              </a:rPr>
              <a:t>import </a:t>
            </a:r>
            <a:r>
              <a:rPr lang="en-US" sz="1000" dirty="0" err="1">
                <a:solidFill>
                  <a:schemeClr val="bg1"/>
                </a:solidFill>
                <a:latin typeface="Monaco" panose="020B0500000000000000" pitchFamily="34" charset="0"/>
                <a:ea typeface="Courier New" pitchFamily="34" charset="-122"/>
                <a:cs typeface="Hind Siliguri" panose="02000000000000000000" pitchFamily="2" charset="0"/>
              </a:rPr>
              <a:t>java.util.Scanner</a:t>
            </a:r>
            <a:r>
              <a:rPr lang="en-US" sz="1000" dirty="0">
                <a:solidFill>
                  <a:schemeClr val="bg1"/>
                </a:solidFill>
                <a:latin typeface="Monaco" panose="020B0500000000000000" pitchFamily="34" charset="0"/>
                <a:ea typeface="Courier New" pitchFamily="34" charset="-122"/>
                <a:cs typeface="Hind Siliguri" panose="02000000000000000000" pitchFamily="2" charset="0"/>
              </a:rPr>
              <a:t>;</a:t>
            </a:r>
          </a:p>
          <a:p>
            <a:pPr marL="0" indent="0">
              <a:buNone/>
            </a:pPr>
            <a:endParaRPr lang="en-US" sz="1000" dirty="0">
              <a:solidFill>
                <a:schemeClr val="bg1"/>
              </a:solidFill>
              <a:latin typeface="Monaco" panose="020B0500000000000000" pitchFamily="34" charset="0"/>
              <a:cs typeface="Hind Siliguri" panose="02000000000000000000" pitchFamily="2" charset="0"/>
            </a:endParaRPr>
          </a:p>
          <a:p>
            <a:pPr marL="0" indent="0">
              <a:buNone/>
            </a:pPr>
            <a:r>
              <a:rPr lang="en-US" sz="1000" dirty="0">
                <a:solidFill>
                  <a:schemeClr val="bg1"/>
                </a:solidFill>
                <a:latin typeface="Monaco" panose="020B0500000000000000" pitchFamily="34" charset="0"/>
                <a:cs typeface="Hind Siliguri" panose="02000000000000000000" pitchFamily="2" charset="0"/>
              </a:rPr>
              <a:t>public class </a:t>
            </a:r>
            <a:r>
              <a:rPr lang="en-US" sz="1000" dirty="0" err="1">
                <a:solidFill>
                  <a:schemeClr val="bg1"/>
                </a:solidFill>
                <a:latin typeface="Monaco" panose="020B0500000000000000" pitchFamily="34" charset="0"/>
                <a:cs typeface="Hind Siliguri" panose="02000000000000000000" pitchFamily="2" charset="0"/>
              </a:rPr>
              <a:t>SumOfTwoNumbers</a:t>
            </a:r>
            <a:r>
              <a:rPr lang="en-US" sz="1000" dirty="0">
                <a:solidFill>
                  <a:schemeClr val="bg1"/>
                </a:solidFill>
                <a:latin typeface="Monaco" panose="020B0500000000000000" pitchFamily="34" charset="0"/>
                <a:cs typeface="Hind Siliguri" panose="02000000000000000000" pitchFamily="2" charset="0"/>
              </a:rPr>
              <a:t> {</a:t>
            </a:r>
          </a:p>
          <a:p>
            <a:pPr marL="0" indent="0">
              <a:buNone/>
            </a:pPr>
            <a:r>
              <a:rPr lang="en-US" sz="1000" dirty="0">
                <a:solidFill>
                  <a:schemeClr val="bg1"/>
                </a:solidFill>
                <a:latin typeface="Monaco" panose="020B0500000000000000" pitchFamily="34" charset="0"/>
                <a:cs typeface="Hind Siliguri" panose="02000000000000000000" pitchFamily="2" charset="0"/>
              </a:rPr>
              <a:t>    public static void main(String[] </a:t>
            </a:r>
            <a:r>
              <a:rPr lang="en-US" sz="1000" dirty="0" err="1">
                <a:solidFill>
                  <a:schemeClr val="bg1"/>
                </a:solidFill>
                <a:latin typeface="Monaco" panose="020B0500000000000000" pitchFamily="34" charset="0"/>
                <a:cs typeface="Hind Siliguri" panose="02000000000000000000" pitchFamily="2" charset="0"/>
              </a:rPr>
              <a:t>args</a:t>
            </a:r>
            <a:r>
              <a:rPr lang="en-US" sz="1000" dirty="0">
                <a:solidFill>
                  <a:schemeClr val="bg1"/>
                </a:solidFill>
                <a:latin typeface="Monaco" panose="020B0500000000000000" pitchFamily="34" charset="0"/>
                <a:cs typeface="Hind Siliguri" panose="02000000000000000000" pitchFamily="2" charset="0"/>
              </a:rPr>
              <a:t>) {</a:t>
            </a:r>
          </a:p>
          <a:p>
            <a:pPr marL="0" indent="0">
              <a:buNone/>
            </a:pPr>
            <a:r>
              <a:rPr lang="en-US" sz="1000" dirty="0">
                <a:solidFill>
                  <a:schemeClr val="bg1"/>
                </a:solidFill>
                <a:latin typeface="Monaco" panose="020B0500000000000000" pitchFamily="34" charset="0"/>
                <a:cs typeface="Hind Siliguri" panose="02000000000000000000" pitchFamily="2" charset="0"/>
              </a:rPr>
              <a:t>        Scanner input = new Scanner(System.in);</a:t>
            </a:r>
          </a:p>
          <a:p>
            <a:pPr marL="0" indent="0">
              <a:buNone/>
            </a:pPr>
            <a:endParaRPr lang="en-US" sz="1000" dirty="0">
              <a:solidFill>
                <a:schemeClr val="bg1"/>
              </a:solidFill>
              <a:latin typeface="Monaco" panose="020B0500000000000000" pitchFamily="34" charset="0"/>
              <a:cs typeface="Hind Siliguri" panose="02000000000000000000" pitchFamily="2" charset="0"/>
            </a:endParaRPr>
          </a:p>
          <a:p>
            <a:pPr marL="0" indent="0">
              <a:buNone/>
            </a:pPr>
            <a:r>
              <a:rPr lang="en-US" sz="1000" dirty="0">
                <a:solidFill>
                  <a:schemeClr val="bg1"/>
                </a:solidFill>
                <a:latin typeface="Monaco" panose="020B0500000000000000" pitchFamily="34" charset="0"/>
                <a:cs typeface="Hind Siliguri" panose="02000000000000000000" pitchFamily="2" charset="0"/>
              </a:rPr>
              <a:t>        </a:t>
            </a:r>
            <a:r>
              <a:rPr lang="en-US" sz="1000" dirty="0" err="1">
                <a:solidFill>
                  <a:schemeClr val="bg1"/>
                </a:solidFill>
                <a:latin typeface="Monaco" panose="020B0500000000000000" pitchFamily="34" charset="0"/>
                <a:cs typeface="Hind Siliguri" panose="02000000000000000000" pitchFamily="2" charset="0"/>
              </a:rPr>
              <a:t>System.out.print</a:t>
            </a:r>
            <a:r>
              <a:rPr lang="en-US" sz="1000" dirty="0">
                <a:solidFill>
                  <a:schemeClr val="bg1"/>
                </a:solidFill>
                <a:latin typeface="Monaco" panose="020B0500000000000000" pitchFamily="34" charset="0"/>
                <a:cs typeface="Hind Siliguri" panose="02000000000000000000" pitchFamily="2" charset="0"/>
              </a:rPr>
              <a:t>("Enter first number: ");</a:t>
            </a:r>
          </a:p>
          <a:p>
            <a:pPr marL="0" indent="0">
              <a:buNone/>
            </a:pPr>
            <a:r>
              <a:rPr lang="en-US" sz="1000" dirty="0">
                <a:solidFill>
                  <a:schemeClr val="bg1"/>
                </a:solidFill>
                <a:latin typeface="Monaco" panose="020B0500000000000000" pitchFamily="34" charset="0"/>
                <a:cs typeface="Hind Siliguri" panose="02000000000000000000" pitchFamily="2" charset="0"/>
              </a:rPr>
              <a:t>        double a = </a:t>
            </a:r>
            <a:r>
              <a:rPr lang="en-US" sz="1000" dirty="0" err="1">
                <a:solidFill>
                  <a:schemeClr val="bg1"/>
                </a:solidFill>
                <a:latin typeface="Monaco" panose="020B0500000000000000" pitchFamily="34" charset="0"/>
                <a:cs typeface="Hind Siliguri" panose="02000000000000000000" pitchFamily="2" charset="0"/>
              </a:rPr>
              <a:t>input.nextDouble</a:t>
            </a:r>
            <a:r>
              <a:rPr lang="en-US" sz="1000" dirty="0">
                <a:solidFill>
                  <a:schemeClr val="bg1"/>
                </a:solidFill>
                <a:latin typeface="Monaco" panose="020B0500000000000000" pitchFamily="34" charset="0"/>
                <a:cs typeface="Hind Siliguri" panose="02000000000000000000" pitchFamily="2" charset="0"/>
              </a:rPr>
              <a:t>();</a:t>
            </a:r>
          </a:p>
          <a:p>
            <a:pPr marL="0" indent="0">
              <a:buNone/>
            </a:pPr>
            <a:endParaRPr lang="en-US" sz="1000" dirty="0">
              <a:solidFill>
                <a:schemeClr val="bg1"/>
              </a:solidFill>
              <a:latin typeface="Monaco" panose="020B0500000000000000" pitchFamily="34" charset="0"/>
              <a:cs typeface="Hind Siliguri" panose="02000000000000000000" pitchFamily="2" charset="0"/>
            </a:endParaRPr>
          </a:p>
          <a:p>
            <a:pPr marL="0" indent="0">
              <a:buNone/>
            </a:pPr>
            <a:r>
              <a:rPr lang="en-US" sz="1000" dirty="0">
                <a:solidFill>
                  <a:schemeClr val="bg1"/>
                </a:solidFill>
                <a:latin typeface="Monaco" panose="020B0500000000000000" pitchFamily="34" charset="0"/>
                <a:cs typeface="Hind Siliguri" panose="02000000000000000000" pitchFamily="2" charset="0"/>
              </a:rPr>
              <a:t>        </a:t>
            </a:r>
            <a:r>
              <a:rPr lang="en-US" sz="1000" dirty="0" err="1">
                <a:solidFill>
                  <a:schemeClr val="bg1"/>
                </a:solidFill>
                <a:latin typeface="Monaco" panose="020B0500000000000000" pitchFamily="34" charset="0"/>
                <a:cs typeface="Hind Siliguri" panose="02000000000000000000" pitchFamily="2" charset="0"/>
              </a:rPr>
              <a:t>System.out.print</a:t>
            </a:r>
            <a:r>
              <a:rPr lang="en-US" sz="1000" dirty="0">
                <a:solidFill>
                  <a:schemeClr val="bg1"/>
                </a:solidFill>
                <a:latin typeface="Monaco" panose="020B0500000000000000" pitchFamily="34" charset="0"/>
                <a:cs typeface="Hind Siliguri" panose="02000000000000000000" pitchFamily="2" charset="0"/>
              </a:rPr>
              <a:t>("Enter second number: ");</a:t>
            </a:r>
          </a:p>
          <a:p>
            <a:pPr marL="0" indent="0">
              <a:buNone/>
            </a:pPr>
            <a:r>
              <a:rPr lang="en-US" sz="1000" dirty="0">
                <a:solidFill>
                  <a:schemeClr val="bg1"/>
                </a:solidFill>
                <a:latin typeface="Monaco" panose="020B0500000000000000" pitchFamily="34" charset="0"/>
                <a:cs typeface="Hind Siliguri" panose="02000000000000000000" pitchFamily="2" charset="0"/>
              </a:rPr>
              <a:t>        double b = </a:t>
            </a:r>
            <a:r>
              <a:rPr lang="en-US" sz="1000" dirty="0" err="1">
                <a:solidFill>
                  <a:schemeClr val="bg1"/>
                </a:solidFill>
                <a:latin typeface="Monaco" panose="020B0500000000000000" pitchFamily="34" charset="0"/>
                <a:cs typeface="Hind Siliguri" panose="02000000000000000000" pitchFamily="2" charset="0"/>
              </a:rPr>
              <a:t>input.nextDouble</a:t>
            </a:r>
            <a:r>
              <a:rPr lang="en-US" sz="1000" dirty="0">
                <a:solidFill>
                  <a:schemeClr val="bg1"/>
                </a:solidFill>
                <a:latin typeface="Monaco" panose="020B0500000000000000" pitchFamily="34" charset="0"/>
                <a:cs typeface="Hind Siliguri" panose="02000000000000000000" pitchFamily="2" charset="0"/>
              </a:rPr>
              <a:t>();</a:t>
            </a:r>
          </a:p>
          <a:p>
            <a:pPr marL="0" indent="0">
              <a:buNone/>
            </a:pPr>
            <a:endParaRPr lang="en-US" sz="1000" dirty="0">
              <a:solidFill>
                <a:schemeClr val="bg1"/>
              </a:solidFill>
              <a:latin typeface="Monaco" panose="020B0500000000000000" pitchFamily="34" charset="0"/>
              <a:cs typeface="Hind Siliguri" panose="02000000000000000000" pitchFamily="2" charset="0"/>
            </a:endParaRPr>
          </a:p>
          <a:p>
            <a:pPr marL="0" indent="0">
              <a:buNone/>
            </a:pPr>
            <a:r>
              <a:rPr lang="en-US" sz="1000" dirty="0">
                <a:solidFill>
                  <a:schemeClr val="bg1"/>
                </a:solidFill>
                <a:latin typeface="Monaco" panose="020B0500000000000000" pitchFamily="34" charset="0"/>
                <a:cs typeface="Hind Siliguri" panose="02000000000000000000" pitchFamily="2" charset="0"/>
              </a:rPr>
              <a:t>        double sum = a + b;</a:t>
            </a:r>
          </a:p>
          <a:p>
            <a:pPr marL="0" indent="0">
              <a:buNone/>
            </a:pPr>
            <a:endParaRPr lang="en-US" sz="1000" dirty="0">
              <a:solidFill>
                <a:schemeClr val="bg1"/>
              </a:solidFill>
              <a:latin typeface="Monaco" panose="020B0500000000000000" pitchFamily="34" charset="0"/>
              <a:cs typeface="Hind Siliguri" panose="02000000000000000000" pitchFamily="2" charset="0"/>
            </a:endParaRPr>
          </a:p>
          <a:p>
            <a:pPr marL="0" indent="0">
              <a:buNone/>
            </a:pPr>
            <a:r>
              <a:rPr lang="en-US" sz="1000" dirty="0">
                <a:solidFill>
                  <a:schemeClr val="bg1"/>
                </a:solidFill>
                <a:latin typeface="Monaco" panose="020B0500000000000000" pitchFamily="34" charset="0"/>
                <a:cs typeface="Hind Siliguri" panose="02000000000000000000" pitchFamily="2" charset="0"/>
              </a:rPr>
              <a:t>        </a:t>
            </a:r>
            <a:r>
              <a:rPr lang="en-US" sz="1000" dirty="0" err="1">
                <a:solidFill>
                  <a:schemeClr val="bg1"/>
                </a:solidFill>
                <a:latin typeface="Monaco" panose="020B0500000000000000" pitchFamily="34" charset="0"/>
                <a:cs typeface="Hind Siliguri" panose="02000000000000000000" pitchFamily="2" charset="0"/>
              </a:rPr>
              <a:t>System.out.println</a:t>
            </a:r>
            <a:r>
              <a:rPr lang="en-US" sz="1000" dirty="0">
                <a:solidFill>
                  <a:schemeClr val="bg1"/>
                </a:solidFill>
                <a:latin typeface="Monaco" panose="020B0500000000000000" pitchFamily="34" charset="0"/>
                <a:cs typeface="Hind Siliguri" panose="02000000000000000000" pitchFamily="2" charset="0"/>
              </a:rPr>
              <a:t>("Sum = " + sum);</a:t>
            </a:r>
          </a:p>
          <a:p>
            <a:pPr marL="0" indent="0">
              <a:buNone/>
            </a:pPr>
            <a:r>
              <a:rPr lang="en-US" sz="1000" dirty="0">
                <a:solidFill>
                  <a:schemeClr val="bg1"/>
                </a:solidFill>
                <a:latin typeface="Monaco" panose="020B0500000000000000" pitchFamily="34" charset="0"/>
                <a:cs typeface="Hind Siliguri" panose="02000000000000000000" pitchFamily="2" charset="0"/>
              </a:rPr>
              <a:t>    }</a:t>
            </a:r>
          </a:p>
          <a:p>
            <a:pPr marL="0" indent="0">
              <a:buNone/>
            </a:pPr>
            <a:r>
              <a:rPr lang="en-US" sz="1000" dirty="0">
                <a:solidFill>
                  <a:schemeClr val="bg1"/>
                </a:solidFill>
                <a:latin typeface="Monaco" panose="020B0500000000000000" pitchFamily="34" charset="0"/>
                <a:cs typeface="Hind Siliguri" panose="02000000000000000000" pitchFamily="2" charset="0"/>
              </a:rPr>
              <a:t>}</a:t>
            </a:r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70916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=""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6"/>
                </a:solidFill>
              </a:defRPr>
            </a:lvl1pPr>
          </a:lstStyle>
          <a:p>
            <a:pPr algn="l"/>
            <a:fld id="{F7021451-1387-4CA6-816F-3879F97B5CBC}" type="slidenum">
              <a:rPr lang="en-US" b="0">
                <a:latin typeface="Hind Siliguri" panose="02000000000000000000" pitchFamily="2" charset="0"/>
                <a:cs typeface="Hind Siliguri" panose="02000000000000000000" pitchFamily="2" charset="0"/>
              </a:rPr>
              <a:t>6</a:t>
            </a:fld>
            <a:endParaRPr lang="en-US">
              <a:latin typeface="Hind Siliguri" panose="02000000000000000000" pitchFamily="2" charset="0"/>
              <a:cs typeface="Hind Siliguri" panose="02000000000000000000" pitchFamily="2" charset="0"/>
            </a:endParaRP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>
            <a:spLocks noGrp="1"/>
          </p:cNvSpPr>
          <p:nvPr>
            <p:ph type="title" idx="100" hasCustomPrompt="1"/>
          </p:nvPr>
        </p:nvSpPr>
        <p:spPr>
          <a:xfrm>
            <a:off x="457200" y="274320"/>
            <a:ext cx="82296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3000" b="1" dirty="0">
                <a:solidFill>
                  <a:schemeClr val="tx2"/>
                </a:solidFill>
                <a:latin typeface="Hind Siliguri" panose="02000000000000000000" pitchFamily="2" charset="0"/>
                <a:cs typeface="Hind Siliguri" panose="02000000000000000000" pitchFamily="2" charset="0"/>
              </a:rPr>
              <a:t>আয়তক্ষেত্রের ক্ষেত্রফল</a:t>
            </a:r>
            <a:endParaRPr lang="en-US" sz="3000" dirty="0">
              <a:latin typeface="Hind Siliguri" panose="02000000000000000000" pitchFamily="2" charset="0"/>
              <a:cs typeface="Hind Siliguri" panose="02000000000000000000" pitchFamily="2" charset="0"/>
            </a:endParaRPr>
          </a:p>
        </p:txBody>
      </p:sp>
      <p:sp>
        <p:nvSpPr>
          <p:cNvPr id="3" name="Problem badge"/>
          <p:cNvSpPr/>
          <p:nvPr/>
        </p:nvSpPr>
        <p:spPr>
          <a:xfrm>
            <a:off x="7406640" y="411480"/>
            <a:ext cx="1280160" cy="384048"/>
          </a:xfrm>
          <a:prstGeom prst="roundRect">
            <a:avLst>
              <a:gd name="adj" fmla="val 47619"/>
            </a:avLst>
          </a:prstGeom>
          <a:solidFill>
            <a:schemeClr val="accent1"/>
          </a:solidFill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chemeClr val="bg1"/>
                </a:solidFill>
                <a:latin typeface="Hind Siliguri" panose="02000000000000000000" pitchFamily="2" charset="0"/>
                <a:cs typeface="Hind Siliguri" panose="02000000000000000000" pitchFamily="2" charset="0"/>
              </a:rPr>
              <a:t>প্রব্লেম ২/১০</a:t>
            </a:r>
            <a:endParaRPr lang="en-US" sz="1200" dirty="0">
              <a:latin typeface="Hind Siliguri" panose="02000000000000000000" pitchFamily="2" charset="0"/>
              <a:cs typeface="Hind Siliguri" panose="02000000000000000000" pitchFamily="2" charset="0"/>
            </a:endParaRPr>
          </a:p>
        </p:txBody>
      </p:sp>
      <p:sp>
        <p:nvSpPr>
          <p:cNvPr id="4" name="Statement card"/>
          <p:cNvSpPr/>
          <p:nvPr/>
        </p:nvSpPr>
        <p:spPr>
          <a:xfrm>
            <a:off x="457200" y="1234440"/>
            <a:ext cx="3840480" cy="1188720"/>
          </a:xfrm>
          <a:prstGeom prst="roundRect">
            <a:avLst>
              <a:gd name="adj" fmla="val 9231"/>
            </a:avLst>
          </a:prstGeom>
          <a:solidFill>
            <a:schemeClr val="bg2"/>
          </a:solidFill>
          <a:ln/>
        </p:spPr>
      </p:sp>
      <p:sp>
        <p:nvSpPr>
          <p:cNvPr id="5" name="Statement label"/>
          <p:cNvSpPr txBox="1"/>
          <p:nvPr/>
        </p:nvSpPr>
        <p:spPr>
          <a:xfrm>
            <a:off x="640080" y="1325880"/>
            <a:ext cx="3474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400" b="1" dirty="0">
                <a:solidFill>
                  <a:schemeClr val="accent1"/>
                </a:solidFill>
                <a:latin typeface="Hind Siliguri" panose="02000000000000000000" pitchFamily="2" charset="0"/>
                <a:cs typeface="Hind Siliguri" panose="02000000000000000000" pitchFamily="2" charset="0"/>
              </a:rPr>
              <a:t>সমস্যা</a:t>
            </a:r>
            <a:endParaRPr lang="en-US" sz="1400" dirty="0">
              <a:latin typeface="Hind Siliguri" panose="02000000000000000000" pitchFamily="2" charset="0"/>
              <a:cs typeface="Hind Siliguri" panose="02000000000000000000" pitchFamily="2" charset="0"/>
            </a:endParaRPr>
          </a:p>
        </p:txBody>
      </p:sp>
      <p:sp>
        <p:nvSpPr>
          <p:cNvPr id="6" name="Statement"/>
          <p:cNvSpPr txBox="1"/>
          <p:nvPr/>
        </p:nvSpPr>
        <p:spPr>
          <a:xfrm>
            <a:off x="640080" y="1627632"/>
            <a:ext cx="34747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400" dirty="0">
                <a:solidFill>
                  <a:schemeClr val="tx1"/>
                </a:solidFill>
                <a:latin typeface="Hind Siliguri" panose="02000000000000000000" pitchFamily="2" charset="0"/>
                <a:cs typeface="Hind Siliguri" panose="02000000000000000000" pitchFamily="2" charset="0"/>
              </a:rPr>
              <a:t>Java Program ব্যবহার করে একটি আয়তক্ষেত্রের ক্ষেত্রফল নির্ণয় কর।</a:t>
            </a:r>
            <a:endParaRPr lang="en-US" sz="1400" dirty="0">
              <a:latin typeface="Hind Siliguri" panose="02000000000000000000" pitchFamily="2" charset="0"/>
              <a:cs typeface="Hind Siliguri" panose="02000000000000000000" pitchFamily="2" charset="0"/>
            </a:endParaRPr>
          </a:p>
        </p:txBody>
      </p:sp>
      <p:sp>
        <p:nvSpPr>
          <p:cNvPr id="7" name="IO card"/>
          <p:cNvSpPr/>
          <p:nvPr/>
        </p:nvSpPr>
        <p:spPr>
          <a:xfrm>
            <a:off x="457200" y="2560320"/>
            <a:ext cx="3840480" cy="914400"/>
          </a:xfrm>
          <a:prstGeom prst="roundRect">
            <a:avLst>
              <a:gd name="adj" fmla="val 12000"/>
            </a:avLst>
          </a:prstGeom>
          <a:solidFill>
            <a:schemeClr val="bg2"/>
          </a:solidFill>
          <a:ln/>
        </p:spPr>
      </p:sp>
      <p:sp>
        <p:nvSpPr>
          <p:cNvPr id="8" name="IO text"/>
          <p:cNvSpPr txBox="1"/>
          <p:nvPr/>
        </p:nvSpPr>
        <p:spPr>
          <a:xfrm>
            <a:off x="640080" y="2633472"/>
            <a:ext cx="3474720" cy="8046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300" dirty="0">
                <a:solidFill>
                  <a:schemeClr val="tx1"/>
                </a:solidFill>
                <a:latin typeface="Hind Siliguri" panose="02000000000000000000" pitchFamily="2" charset="0"/>
                <a:cs typeface="Hind Siliguri" panose="02000000000000000000" pitchFamily="2" charset="0"/>
              </a:rPr>
              <a:t>ইনপুট: 5 3</a:t>
            </a:r>
            <a:endParaRPr lang="en-US" sz="1300" dirty="0">
              <a:latin typeface="Hind Siliguri" panose="02000000000000000000" pitchFamily="2" charset="0"/>
              <a:cs typeface="Hind Siliguri" panose="02000000000000000000" pitchFamily="2" charset="0"/>
            </a:endParaRPr>
          </a:p>
          <a:p>
            <a:pPr marL="0" indent="0">
              <a:buNone/>
            </a:pPr>
            <a:r>
              <a:rPr lang="en-US" sz="1300" dirty="0">
                <a:solidFill>
                  <a:schemeClr val="tx1"/>
                </a:solidFill>
                <a:latin typeface="Hind Siliguri" panose="02000000000000000000" pitchFamily="2" charset="0"/>
                <a:cs typeface="Hind Siliguri" panose="02000000000000000000" pitchFamily="2" charset="0"/>
              </a:rPr>
              <a:t>আউটপুট: Area = 15.0</a:t>
            </a:r>
            <a:endParaRPr lang="en-US" sz="1300" dirty="0">
              <a:latin typeface="Hind Siliguri" panose="02000000000000000000" pitchFamily="2" charset="0"/>
              <a:cs typeface="Hind Siliguri" panose="02000000000000000000" pitchFamily="2" charset="0"/>
            </a:endParaRPr>
          </a:p>
        </p:txBody>
      </p:sp>
      <p:sp>
        <p:nvSpPr>
          <p:cNvPr id="9" name="Hint card"/>
          <p:cNvSpPr/>
          <p:nvPr/>
        </p:nvSpPr>
        <p:spPr>
          <a:xfrm>
            <a:off x="457200" y="3611880"/>
            <a:ext cx="3840480" cy="914400"/>
          </a:xfrm>
          <a:prstGeom prst="roundRect">
            <a:avLst>
              <a:gd name="adj" fmla="val 12000"/>
            </a:avLst>
          </a:prstGeom>
          <a:solidFill>
            <a:schemeClr val="bg2"/>
          </a:solidFill>
          <a:ln/>
        </p:spPr>
      </p:sp>
      <p:sp>
        <p:nvSpPr>
          <p:cNvPr id="10" name="Hint label"/>
          <p:cNvSpPr txBox="1"/>
          <p:nvPr/>
        </p:nvSpPr>
        <p:spPr>
          <a:xfrm>
            <a:off x="640080" y="3675888"/>
            <a:ext cx="3474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400" b="1" dirty="0">
                <a:solidFill>
                  <a:schemeClr val="accent3"/>
                </a:solidFill>
                <a:latin typeface="Hind Siliguri" panose="02000000000000000000" pitchFamily="2" charset="0"/>
                <a:cs typeface="Hind Siliguri" panose="02000000000000000000" pitchFamily="2" charset="0"/>
              </a:rPr>
              <a:t>আইডিয়া</a:t>
            </a:r>
            <a:endParaRPr lang="en-US" sz="1400" dirty="0">
              <a:latin typeface="Hind Siliguri" panose="02000000000000000000" pitchFamily="2" charset="0"/>
              <a:cs typeface="Hind Siliguri" panose="02000000000000000000" pitchFamily="2" charset="0"/>
            </a:endParaRPr>
          </a:p>
        </p:txBody>
      </p:sp>
      <p:sp>
        <p:nvSpPr>
          <p:cNvPr id="11" name="Hint"/>
          <p:cNvSpPr txBox="1"/>
          <p:nvPr/>
        </p:nvSpPr>
        <p:spPr>
          <a:xfrm>
            <a:off x="640080" y="3950208"/>
            <a:ext cx="34747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400" dirty="0">
                <a:solidFill>
                  <a:schemeClr val="tx1"/>
                </a:solidFill>
                <a:latin typeface="Hind Siliguri" panose="02000000000000000000" pitchFamily="2" charset="0"/>
                <a:cs typeface="Hind Siliguri" panose="02000000000000000000" pitchFamily="2" charset="0"/>
              </a:rPr>
              <a:t>ক্ষেত্রফল = দৈর্ঘ্য × প্রস্থ। দশমিক হতে পারে, তাই double ব্যবহার করো।</a:t>
            </a:r>
            <a:endParaRPr lang="en-US" sz="1400" dirty="0">
              <a:latin typeface="Hind Siliguri" panose="02000000000000000000" pitchFamily="2" charset="0"/>
              <a:cs typeface="Hind Siliguri" panose="02000000000000000000" pitchFamily="2" charset="0"/>
            </a:endParaRPr>
          </a:p>
        </p:txBody>
      </p:sp>
      <p:sp>
        <p:nvSpPr>
          <p:cNvPr id="12" name="Code card"/>
          <p:cNvSpPr/>
          <p:nvPr/>
        </p:nvSpPr>
        <p:spPr>
          <a:xfrm>
            <a:off x="4480560" y="1234440"/>
            <a:ext cx="4206240" cy="3291840"/>
          </a:xfrm>
          <a:prstGeom prst="roundRect">
            <a:avLst>
              <a:gd name="adj" fmla="val 3333"/>
            </a:avLst>
          </a:prstGeom>
          <a:solidFill>
            <a:schemeClr val="tx1"/>
          </a:solidFill>
          <a:ln/>
        </p:spPr>
      </p:sp>
      <p:sp>
        <p:nvSpPr>
          <p:cNvPr id="13" name="Code label"/>
          <p:cNvSpPr txBox="1"/>
          <p:nvPr/>
        </p:nvSpPr>
        <p:spPr>
          <a:xfrm>
            <a:off x="4663440" y="1371600"/>
            <a:ext cx="3840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200" b="1" dirty="0">
                <a:solidFill>
                  <a:schemeClr val="accent4"/>
                </a:solidFill>
                <a:latin typeface="Hind Siliguri" panose="02000000000000000000" pitchFamily="2" charset="0"/>
                <a:cs typeface="Hind Siliguri" panose="02000000000000000000" pitchFamily="2" charset="0"/>
              </a:rPr>
              <a:t>Java কোড (main মেথডের ভেতরে)</a:t>
            </a:r>
            <a:endParaRPr lang="en-US" sz="1200" dirty="0">
              <a:latin typeface="Hind Siliguri" panose="02000000000000000000" pitchFamily="2" charset="0"/>
              <a:cs typeface="Hind Siliguri" panose="02000000000000000000" pitchFamily="2" charset="0"/>
            </a:endParaRPr>
          </a:p>
        </p:txBody>
      </p:sp>
      <p:sp>
        <p:nvSpPr>
          <p:cNvPr id="14" name="Code"/>
          <p:cNvSpPr txBox="1"/>
          <p:nvPr/>
        </p:nvSpPr>
        <p:spPr>
          <a:xfrm>
            <a:off x="4663440" y="1645920"/>
            <a:ext cx="3886200" cy="2651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r>
              <a:rPr lang="en-US" sz="1000" dirty="0">
                <a:solidFill>
                  <a:schemeClr val="bg1"/>
                </a:solidFill>
                <a:latin typeface="Monaco" panose="020B0500000000000000" pitchFamily="34" charset="0"/>
                <a:ea typeface="Courier New" pitchFamily="34" charset="-122"/>
                <a:cs typeface="Hind Siliguri" panose="02000000000000000000" pitchFamily="2" charset="0"/>
              </a:rPr>
              <a:t>import </a:t>
            </a:r>
            <a:r>
              <a:rPr lang="en-US" sz="1000" dirty="0" err="1">
                <a:solidFill>
                  <a:schemeClr val="bg1"/>
                </a:solidFill>
                <a:latin typeface="Monaco" panose="020B0500000000000000" pitchFamily="34" charset="0"/>
                <a:ea typeface="Courier New" pitchFamily="34" charset="-122"/>
                <a:cs typeface="Hind Siliguri" panose="02000000000000000000" pitchFamily="2" charset="0"/>
              </a:rPr>
              <a:t>java.util.Scanner</a:t>
            </a:r>
            <a:r>
              <a:rPr lang="en-US" sz="1000" dirty="0">
                <a:solidFill>
                  <a:schemeClr val="bg1"/>
                </a:solidFill>
                <a:latin typeface="Monaco" panose="020B0500000000000000" pitchFamily="34" charset="0"/>
                <a:ea typeface="Courier New" pitchFamily="34" charset="-122"/>
                <a:cs typeface="Hind Siliguri" panose="02000000000000000000" pitchFamily="2" charset="0"/>
              </a:rPr>
              <a:t>;</a:t>
            </a:r>
          </a:p>
          <a:p>
            <a:pPr marL="0" indent="0">
              <a:buNone/>
            </a:pPr>
            <a:endParaRPr lang="en-US" sz="1000" dirty="0">
              <a:solidFill>
                <a:schemeClr val="bg1"/>
              </a:solidFill>
              <a:latin typeface="Monaco" panose="020B0500000000000000" pitchFamily="34" charset="0"/>
              <a:ea typeface="Courier New" pitchFamily="34" charset="-122"/>
              <a:cs typeface="Hind Siliguri" panose="02000000000000000000" pitchFamily="2" charset="0"/>
            </a:endParaRPr>
          </a:p>
          <a:p>
            <a:pPr marL="0" indent="0">
              <a:buNone/>
            </a:pPr>
            <a:r>
              <a:rPr lang="en-US" sz="1000" dirty="0">
                <a:solidFill>
                  <a:schemeClr val="bg1"/>
                </a:solidFill>
                <a:latin typeface="Monaco" panose="020B0500000000000000" pitchFamily="34" charset="0"/>
                <a:ea typeface="Courier New" pitchFamily="34" charset="-122"/>
                <a:cs typeface="Hind Siliguri" panose="02000000000000000000" pitchFamily="2" charset="0"/>
              </a:rPr>
              <a:t>public class </a:t>
            </a:r>
            <a:r>
              <a:rPr lang="en-US" sz="1000" dirty="0" err="1">
                <a:solidFill>
                  <a:schemeClr val="bg1"/>
                </a:solidFill>
                <a:latin typeface="Monaco" panose="020B0500000000000000" pitchFamily="34" charset="0"/>
                <a:ea typeface="Courier New" pitchFamily="34" charset="-122"/>
                <a:cs typeface="Hind Siliguri" panose="02000000000000000000" pitchFamily="2" charset="0"/>
              </a:rPr>
              <a:t>RectangleArea</a:t>
            </a:r>
            <a:r>
              <a:rPr lang="en-US" sz="1000" dirty="0">
                <a:solidFill>
                  <a:schemeClr val="bg1"/>
                </a:solidFill>
                <a:latin typeface="Monaco" panose="020B0500000000000000" pitchFamily="34" charset="0"/>
                <a:ea typeface="Courier New" pitchFamily="34" charset="-122"/>
                <a:cs typeface="Hind Siliguri" panose="02000000000000000000" pitchFamily="2" charset="0"/>
              </a:rPr>
              <a:t> {</a:t>
            </a:r>
          </a:p>
          <a:p>
            <a:pPr marL="0" indent="0">
              <a:buNone/>
            </a:pPr>
            <a:r>
              <a:rPr lang="en-US" sz="1000" dirty="0">
                <a:solidFill>
                  <a:schemeClr val="bg1"/>
                </a:solidFill>
                <a:latin typeface="Monaco" panose="020B0500000000000000" pitchFamily="34" charset="0"/>
                <a:ea typeface="Courier New" pitchFamily="34" charset="-122"/>
                <a:cs typeface="Hind Siliguri" panose="02000000000000000000" pitchFamily="2" charset="0"/>
              </a:rPr>
              <a:t>    public static void main(String[] </a:t>
            </a:r>
            <a:r>
              <a:rPr lang="en-US" sz="1000" dirty="0" err="1">
                <a:solidFill>
                  <a:schemeClr val="bg1"/>
                </a:solidFill>
                <a:latin typeface="Monaco" panose="020B0500000000000000" pitchFamily="34" charset="0"/>
                <a:ea typeface="Courier New" pitchFamily="34" charset="-122"/>
                <a:cs typeface="Hind Siliguri" panose="02000000000000000000" pitchFamily="2" charset="0"/>
              </a:rPr>
              <a:t>args</a:t>
            </a:r>
            <a:r>
              <a:rPr lang="en-US" sz="1000" dirty="0">
                <a:solidFill>
                  <a:schemeClr val="bg1"/>
                </a:solidFill>
                <a:latin typeface="Monaco" panose="020B0500000000000000" pitchFamily="34" charset="0"/>
                <a:ea typeface="Courier New" pitchFamily="34" charset="-122"/>
                <a:cs typeface="Hind Siliguri" panose="02000000000000000000" pitchFamily="2" charset="0"/>
              </a:rPr>
              <a:t>) {</a:t>
            </a:r>
          </a:p>
          <a:p>
            <a:pPr marL="0" indent="0">
              <a:buNone/>
            </a:pPr>
            <a:r>
              <a:rPr lang="en-US" sz="1000" dirty="0">
                <a:solidFill>
                  <a:schemeClr val="bg1"/>
                </a:solidFill>
                <a:latin typeface="Monaco" panose="020B0500000000000000" pitchFamily="34" charset="0"/>
                <a:ea typeface="Courier New" pitchFamily="34" charset="-122"/>
                <a:cs typeface="Hind Siliguri" panose="02000000000000000000" pitchFamily="2" charset="0"/>
              </a:rPr>
              <a:t>        Scanner input = new Scanner(System.in);</a:t>
            </a:r>
          </a:p>
          <a:p>
            <a:pPr marL="0" indent="0">
              <a:buNone/>
            </a:pPr>
            <a:endParaRPr lang="en-US" sz="1000" dirty="0">
              <a:solidFill>
                <a:schemeClr val="bg1"/>
              </a:solidFill>
              <a:latin typeface="Monaco" panose="020B0500000000000000" pitchFamily="34" charset="0"/>
              <a:ea typeface="Courier New" pitchFamily="34" charset="-122"/>
              <a:cs typeface="Hind Siliguri" panose="02000000000000000000" pitchFamily="2" charset="0"/>
            </a:endParaRPr>
          </a:p>
          <a:p>
            <a:pPr marL="0" indent="0">
              <a:buNone/>
            </a:pPr>
            <a:r>
              <a:rPr lang="en-US" sz="1000" dirty="0">
                <a:solidFill>
                  <a:schemeClr val="bg1"/>
                </a:solidFill>
                <a:latin typeface="Monaco" panose="020B0500000000000000" pitchFamily="34" charset="0"/>
                <a:ea typeface="Courier New" pitchFamily="34" charset="-122"/>
                <a:cs typeface="Hind Siliguri" panose="02000000000000000000" pitchFamily="2" charset="0"/>
              </a:rPr>
              <a:t>        </a:t>
            </a:r>
            <a:r>
              <a:rPr lang="en-US" sz="1000" dirty="0" err="1">
                <a:solidFill>
                  <a:schemeClr val="bg1"/>
                </a:solidFill>
                <a:latin typeface="Monaco" panose="020B0500000000000000" pitchFamily="34" charset="0"/>
                <a:ea typeface="Courier New" pitchFamily="34" charset="-122"/>
                <a:cs typeface="Hind Siliguri" panose="02000000000000000000" pitchFamily="2" charset="0"/>
              </a:rPr>
              <a:t>System.out.print</a:t>
            </a:r>
            <a:r>
              <a:rPr lang="en-US" sz="1000" dirty="0">
                <a:solidFill>
                  <a:schemeClr val="bg1"/>
                </a:solidFill>
                <a:latin typeface="Monaco" panose="020B0500000000000000" pitchFamily="34" charset="0"/>
                <a:ea typeface="Courier New" pitchFamily="34" charset="-122"/>
                <a:cs typeface="Hind Siliguri" panose="02000000000000000000" pitchFamily="2" charset="0"/>
              </a:rPr>
              <a:t>("Enter length: ");</a:t>
            </a:r>
          </a:p>
          <a:p>
            <a:pPr marL="0" indent="0">
              <a:buNone/>
            </a:pPr>
            <a:r>
              <a:rPr lang="en-US" sz="1000" dirty="0">
                <a:solidFill>
                  <a:schemeClr val="bg1"/>
                </a:solidFill>
                <a:latin typeface="Monaco" panose="020B0500000000000000" pitchFamily="34" charset="0"/>
                <a:ea typeface="Courier New" pitchFamily="34" charset="-122"/>
                <a:cs typeface="Hind Siliguri" panose="02000000000000000000" pitchFamily="2" charset="0"/>
              </a:rPr>
              <a:t>        double length = </a:t>
            </a:r>
            <a:r>
              <a:rPr lang="en-US" sz="1000" dirty="0" err="1">
                <a:solidFill>
                  <a:schemeClr val="bg1"/>
                </a:solidFill>
                <a:latin typeface="Monaco" panose="020B0500000000000000" pitchFamily="34" charset="0"/>
                <a:ea typeface="Courier New" pitchFamily="34" charset="-122"/>
                <a:cs typeface="Hind Siliguri" panose="02000000000000000000" pitchFamily="2" charset="0"/>
              </a:rPr>
              <a:t>input.nextDouble</a:t>
            </a:r>
            <a:r>
              <a:rPr lang="en-US" sz="1000" dirty="0">
                <a:solidFill>
                  <a:schemeClr val="bg1"/>
                </a:solidFill>
                <a:latin typeface="Monaco" panose="020B0500000000000000" pitchFamily="34" charset="0"/>
                <a:ea typeface="Courier New" pitchFamily="34" charset="-122"/>
                <a:cs typeface="Hind Siliguri" panose="02000000000000000000" pitchFamily="2" charset="0"/>
              </a:rPr>
              <a:t>();</a:t>
            </a:r>
          </a:p>
          <a:p>
            <a:pPr marL="0" indent="0">
              <a:buNone/>
            </a:pPr>
            <a:endParaRPr lang="en-US" sz="1000" dirty="0">
              <a:solidFill>
                <a:schemeClr val="bg1"/>
              </a:solidFill>
              <a:latin typeface="Monaco" panose="020B0500000000000000" pitchFamily="34" charset="0"/>
              <a:ea typeface="Courier New" pitchFamily="34" charset="-122"/>
              <a:cs typeface="Hind Siliguri" panose="02000000000000000000" pitchFamily="2" charset="0"/>
            </a:endParaRPr>
          </a:p>
          <a:p>
            <a:pPr marL="0" indent="0">
              <a:buNone/>
            </a:pPr>
            <a:r>
              <a:rPr lang="en-US" sz="1000" dirty="0">
                <a:solidFill>
                  <a:schemeClr val="bg1"/>
                </a:solidFill>
                <a:latin typeface="Monaco" panose="020B0500000000000000" pitchFamily="34" charset="0"/>
                <a:ea typeface="Courier New" pitchFamily="34" charset="-122"/>
                <a:cs typeface="Hind Siliguri" panose="02000000000000000000" pitchFamily="2" charset="0"/>
              </a:rPr>
              <a:t>        </a:t>
            </a:r>
            <a:r>
              <a:rPr lang="en-US" sz="1000" dirty="0" err="1">
                <a:solidFill>
                  <a:schemeClr val="bg1"/>
                </a:solidFill>
                <a:latin typeface="Monaco" panose="020B0500000000000000" pitchFamily="34" charset="0"/>
                <a:ea typeface="Courier New" pitchFamily="34" charset="-122"/>
                <a:cs typeface="Hind Siliguri" panose="02000000000000000000" pitchFamily="2" charset="0"/>
              </a:rPr>
              <a:t>System.out.print</a:t>
            </a:r>
            <a:r>
              <a:rPr lang="en-US" sz="1000" dirty="0">
                <a:solidFill>
                  <a:schemeClr val="bg1"/>
                </a:solidFill>
                <a:latin typeface="Monaco" panose="020B0500000000000000" pitchFamily="34" charset="0"/>
                <a:ea typeface="Courier New" pitchFamily="34" charset="-122"/>
                <a:cs typeface="Hind Siliguri" panose="02000000000000000000" pitchFamily="2" charset="0"/>
              </a:rPr>
              <a:t>("Enter width: ");</a:t>
            </a:r>
          </a:p>
          <a:p>
            <a:pPr marL="0" indent="0">
              <a:buNone/>
            </a:pPr>
            <a:r>
              <a:rPr lang="en-US" sz="1000" dirty="0">
                <a:solidFill>
                  <a:schemeClr val="bg1"/>
                </a:solidFill>
                <a:latin typeface="Monaco" panose="020B0500000000000000" pitchFamily="34" charset="0"/>
                <a:ea typeface="Courier New" pitchFamily="34" charset="-122"/>
                <a:cs typeface="Hind Siliguri" panose="02000000000000000000" pitchFamily="2" charset="0"/>
              </a:rPr>
              <a:t>        double width = </a:t>
            </a:r>
            <a:r>
              <a:rPr lang="en-US" sz="1000" dirty="0" err="1">
                <a:solidFill>
                  <a:schemeClr val="bg1"/>
                </a:solidFill>
                <a:latin typeface="Monaco" panose="020B0500000000000000" pitchFamily="34" charset="0"/>
                <a:ea typeface="Courier New" pitchFamily="34" charset="-122"/>
                <a:cs typeface="Hind Siliguri" panose="02000000000000000000" pitchFamily="2" charset="0"/>
              </a:rPr>
              <a:t>input.nextDouble</a:t>
            </a:r>
            <a:r>
              <a:rPr lang="en-US" sz="1000" dirty="0">
                <a:solidFill>
                  <a:schemeClr val="bg1"/>
                </a:solidFill>
                <a:latin typeface="Monaco" panose="020B0500000000000000" pitchFamily="34" charset="0"/>
                <a:ea typeface="Courier New" pitchFamily="34" charset="-122"/>
                <a:cs typeface="Hind Siliguri" panose="02000000000000000000" pitchFamily="2" charset="0"/>
              </a:rPr>
              <a:t>();</a:t>
            </a:r>
          </a:p>
          <a:p>
            <a:pPr marL="0" indent="0">
              <a:buNone/>
            </a:pPr>
            <a:endParaRPr lang="en-US" sz="1000" dirty="0">
              <a:solidFill>
                <a:schemeClr val="bg1"/>
              </a:solidFill>
              <a:latin typeface="Monaco" panose="020B0500000000000000" pitchFamily="34" charset="0"/>
              <a:ea typeface="Courier New" pitchFamily="34" charset="-122"/>
              <a:cs typeface="Hind Siliguri" panose="02000000000000000000" pitchFamily="2" charset="0"/>
            </a:endParaRPr>
          </a:p>
          <a:p>
            <a:pPr marL="0" indent="0">
              <a:buNone/>
            </a:pPr>
            <a:r>
              <a:rPr lang="en-US" sz="1000" dirty="0">
                <a:solidFill>
                  <a:schemeClr val="bg1"/>
                </a:solidFill>
                <a:latin typeface="Monaco" panose="020B0500000000000000" pitchFamily="34" charset="0"/>
                <a:ea typeface="Courier New" pitchFamily="34" charset="-122"/>
                <a:cs typeface="Hind Siliguri" panose="02000000000000000000" pitchFamily="2" charset="0"/>
              </a:rPr>
              <a:t>        double area = length * width;</a:t>
            </a:r>
          </a:p>
          <a:p>
            <a:pPr marL="0" indent="0">
              <a:buNone/>
            </a:pPr>
            <a:endParaRPr lang="en-US" sz="1000" dirty="0">
              <a:solidFill>
                <a:schemeClr val="bg1"/>
              </a:solidFill>
              <a:latin typeface="Monaco" panose="020B0500000000000000" pitchFamily="34" charset="0"/>
              <a:ea typeface="Courier New" pitchFamily="34" charset="-122"/>
              <a:cs typeface="Hind Siliguri" panose="02000000000000000000" pitchFamily="2" charset="0"/>
            </a:endParaRPr>
          </a:p>
          <a:p>
            <a:pPr marL="0" indent="0">
              <a:buNone/>
            </a:pPr>
            <a:r>
              <a:rPr lang="en-US" sz="1000" dirty="0">
                <a:solidFill>
                  <a:schemeClr val="bg1"/>
                </a:solidFill>
                <a:latin typeface="Monaco" panose="020B0500000000000000" pitchFamily="34" charset="0"/>
                <a:ea typeface="Courier New" pitchFamily="34" charset="-122"/>
                <a:cs typeface="Hind Siliguri" panose="02000000000000000000" pitchFamily="2" charset="0"/>
              </a:rPr>
              <a:t>        </a:t>
            </a:r>
            <a:r>
              <a:rPr lang="en-US" sz="1000" dirty="0" err="1">
                <a:solidFill>
                  <a:schemeClr val="bg1"/>
                </a:solidFill>
                <a:latin typeface="Monaco" panose="020B0500000000000000" pitchFamily="34" charset="0"/>
                <a:ea typeface="Courier New" pitchFamily="34" charset="-122"/>
                <a:cs typeface="Hind Siliguri" panose="02000000000000000000" pitchFamily="2" charset="0"/>
              </a:rPr>
              <a:t>System.out.println</a:t>
            </a:r>
            <a:r>
              <a:rPr lang="en-US" sz="1000" dirty="0">
                <a:solidFill>
                  <a:schemeClr val="bg1"/>
                </a:solidFill>
                <a:latin typeface="Monaco" panose="020B0500000000000000" pitchFamily="34" charset="0"/>
                <a:ea typeface="Courier New" pitchFamily="34" charset="-122"/>
                <a:cs typeface="Hind Siliguri" panose="02000000000000000000" pitchFamily="2" charset="0"/>
              </a:rPr>
              <a:t>("Area of Rectangle = " + area);</a:t>
            </a:r>
          </a:p>
          <a:p>
            <a:pPr marL="0" indent="0">
              <a:buNone/>
            </a:pPr>
            <a:r>
              <a:rPr lang="en-US" sz="1000" dirty="0">
                <a:solidFill>
                  <a:schemeClr val="bg1"/>
                </a:solidFill>
                <a:latin typeface="Monaco" panose="020B0500000000000000" pitchFamily="34" charset="0"/>
                <a:ea typeface="Courier New" pitchFamily="34" charset="-122"/>
                <a:cs typeface="Hind Siliguri" panose="02000000000000000000" pitchFamily="2" charset="0"/>
              </a:rPr>
              <a:t>    }</a:t>
            </a:r>
          </a:p>
          <a:p>
            <a:pPr marL="0" indent="0">
              <a:buNone/>
            </a:pPr>
            <a:r>
              <a:rPr lang="en-US" sz="1000" dirty="0">
                <a:solidFill>
                  <a:schemeClr val="bg1"/>
                </a:solidFill>
                <a:latin typeface="Monaco" panose="020B0500000000000000" pitchFamily="34" charset="0"/>
                <a:ea typeface="Courier New" pitchFamily="34" charset="-122"/>
                <a:cs typeface="Hind Siliguri" panose="02000000000000000000" pitchFamily="2" charset="0"/>
              </a:rPr>
              <a:t>}</a:t>
            </a:r>
            <a:endParaRPr lang="en-US" sz="1000" dirty="0">
              <a:latin typeface="Monaco" panose="020B0500000000000000" pitchFamily="34" charset="0"/>
              <a:cs typeface="Hind Siliguri" panose="02000000000000000000" pitchFamily="2" charset="0"/>
            </a:endParaRPr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70916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=""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6"/>
                </a:solidFill>
              </a:defRPr>
            </a:lvl1pPr>
          </a:lstStyle>
          <a:p>
            <a:pPr algn="l"/>
            <a:fld id="{F7021451-1387-4CA6-816F-3879F97B5CBC}" type="slidenum">
              <a:rPr lang="en-US" b="0">
                <a:latin typeface="Hind Siliguri" panose="02000000000000000000" pitchFamily="2" charset="0"/>
                <a:cs typeface="Hind Siliguri" panose="02000000000000000000" pitchFamily="2" charset="0"/>
              </a:rPr>
              <a:t>7</a:t>
            </a:fld>
            <a:endParaRPr lang="en-US">
              <a:latin typeface="Hind Siliguri" panose="02000000000000000000" pitchFamily="2" charset="0"/>
              <a:cs typeface="Hind Siliguri" panose="02000000000000000000" pitchFamily="2" charset="0"/>
            </a:endParaRP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>
            <a:spLocks noGrp="1"/>
          </p:cNvSpPr>
          <p:nvPr>
            <p:ph type="title" idx="100" hasCustomPrompt="1"/>
          </p:nvPr>
        </p:nvSpPr>
        <p:spPr>
          <a:xfrm>
            <a:off x="457200" y="274320"/>
            <a:ext cx="82296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3000" b="1" dirty="0">
                <a:solidFill>
                  <a:schemeClr val="tx2"/>
                </a:solidFill>
              </a:rPr>
              <a:t>বর্গের ক্ষেত্রফল</a:t>
            </a:r>
            <a:endParaRPr lang="en-US" sz="3000" dirty="0"/>
          </a:p>
        </p:txBody>
      </p:sp>
      <p:sp>
        <p:nvSpPr>
          <p:cNvPr id="3" name="Problem badge"/>
          <p:cNvSpPr/>
          <p:nvPr/>
        </p:nvSpPr>
        <p:spPr>
          <a:xfrm>
            <a:off x="7406640" y="411480"/>
            <a:ext cx="1280160" cy="384048"/>
          </a:xfrm>
          <a:prstGeom prst="roundRect">
            <a:avLst>
              <a:gd name="adj" fmla="val 47619"/>
            </a:avLst>
          </a:prstGeom>
          <a:solidFill>
            <a:schemeClr val="accent1"/>
          </a:solidFill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chemeClr val="bg1"/>
                </a:solidFill>
              </a:rPr>
              <a:t>প্রব্লেম ৩/১০</a:t>
            </a:r>
            <a:endParaRPr lang="en-US" sz="1200" dirty="0"/>
          </a:p>
        </p:txBody>
      </p:sp>
      <p:sp>
        <p:nvSpPr>
          <p:cNvPr id="4" name="Statement card"/>
          <p:cNvSpPr/>
          <p:nvPr/>
        </p:nvSpPr>
        <p:spPr>
          <a:xfrm>
            <a:off x="457200" y="1234440"/>
            <a:ext cx="3840480" cy="1188720"/>
          </a:xfrm>
          <a:prstGeom prst="roundRect">
            <a:avLst>
              <a:gd name="adj" fmla="val 9231"/>
            </a:avLst>
          </a:prstGeom>
          <a:solidFill>
            <a:schemeClr val="bg2"/>
          </a:solidFill>
          <a:ln/>
        </p:spPr>
      </p:sp>
      <p:sp>
        <p:nvSpPr>
          <p:cNvPr id="5" name="Statement label"/>
          <p:cNvSpPr txBox="1"/>
          <p:nvPr/>
        </p:nvSpPr>
        <p:spPr>
          <a:xfrm>
            <a:off x="640080" y="1325880"/>
            <a:ext cx="3474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400" b="1" dirty="0">
                <a:solidFill>
                  <a:schemeClr val="accent1"/>
                </a:solidFill>
              </a:rPr>
              <a:t>সমস্যা</a:t>
            </a:r>
            <a:endParaRPr lang="en-US" sz="1400" dirty="0"/>
          </a:p>
        </p:txBody>
      </p:sp>
      <p:sp>
        <p:nvSpPr>
          <p:cNvPr id="6" name="Statement"/>
          <p:cNvSpPr txBox="1"/>
          <p:nvPr/>
        </p:nvSpPr>
        <p:spPr>
          <a:xfrm>
            <a:off x="640080" y="1627632"/>
            <a:ext cx="34747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400" dirty="0">
                <a:solidFill>
                  <a:schemeClr val="tx1"/>
                </a:solidFill>
              </a:rPr>
              <a:t>Java Program ব্যবহার করে একটি বর্গের ক্ষেত্রফল নির্ণয় কর।</a:t>
            </a:r>
            <a:endParaRPr lang="en-US" sz="1400" dirty="0"/>
          </a:p>
        </p:txBody>
      </p:sp>
      <p:sp>
        <p:nvSpPr>
          <p:cNvPr id="7" name="IO card"/>
          <p:cNvSpPr/>
          <p:nvPr/>
        </p:nvSpPr>
        <p:spPr>
          <a:xfrm>
            <a:off x="457200" y="2560320"/>
            <a:ext cx="3840480" cy="914400"/>
          </a:xfrm>
          <a:prstGeom prst="roundRect">
            <a:avLst>
              <a:gd name="adj" fmla="val 12000"/>
            </a:avLst>
          </a:prstGeom>
          <a:solidFill>
            <a:schemeClr val="bg2"/>
          </a:solidFill>
          <a:ln/>
        </p:spPr>
      </p:sp>
      <p:sp>
        <p:nvSpPr>
          <p:cNvPr id="8" name="IO text"/>
          <p:cNvSpPr txBox="1"/>
          <p:nvPr/>
        </p:nvSpPr>
        <p:spPr>
          <a:xfrm>
            <a:off x="640080" y="2633472"/>
            <a:ext cx="3474720" cy="8046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300" dirty="0">
                <a:solidFill>
                  <a:schemeClr val="tx1"/>
                </a:solidFill>
              </a:rPr>
              <a:t>ইনপুট: 4</a:t>
            </a:r>
            <a:endParaRPr lang="en-US" sz="1300" dirty="0"/>
          </a:p>
          <a:p>
            <a:pPr marL="0" indent="0">
              <a:buNone/>
            </a:pPr>
            <a:r>
              <a:rPr lang="en-US" sz="1300" dirty="0">
                <a:solidFill>
                  <a:schemeClr val="tx1"/>
                </a:solidFill>
              </a:rPr>
              <a:t>আউটপুট: Area = 16</a:t>
            </a:r>
            <a:endParaRPr lang="en-US" sz="1300" dirty="0"/>
          </a:p>
        </p:txBody>
      </p:sp>
      <p:sp>
        <p:nvSpPr>
          <p:cNvPr id="9" name="Hint card"/>
          <p:cNvSpPr/>
          <p:nvPr/>
        </p:nvSpPr>
        <p:spPr>
          <a:xfrm>
            <a:off x="457200" y="3611880"/>
            <a:ext cx="3840480" cy="914400"/>
          </a:xfrm>
          <a:prstGeom prst="roundRect">
            <a:avLst>
              <a:gd name="adj" fmla="val 12000"/>
            </a:avLst>
          </a:prstGeom>
          <a:solidFill>
            <a:schemeClr val="bg2"/>
          </a:solidFill>
          <a:ln/>
        </p:spPr>
      </p:sp>
      <p:sp>
        <p:nvSpPr>
          <p:cNvPr id="10" name="Hint label"/>
          <p:cNvSpPr txBox="1"/>
          <p:nvPr/>
        </p:nvSpPr>
        <p:spPr>
          <a:xfrm>
            <a:off x="640080" y="3675888"/>
            <a:ext cx="3474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400" b="1" dirty="0">
                <a:solidFill>
                  <a:schemeClr val="accent3"/>
                </a:solidFill>
              </a:rPr>
              <a:t>আইডিয়া</a:t>
            </a:r>
            <a:endParaRPr lang="en-US" sz="1400" dirty="0"/>
          </a:p>
        </p:txBody>
      </p:sp>
      <p:sp>
        <p:nvSpPr>
          <p:cNvPr id="11" name="Hint"/>
          <p:cNvSpPr txBox="1"/>
          <p:nvPr/>
        </p:nvSpPr>
        <p:spPr>
          <a:xfrm>
            <a:off x="640080" y="3950208"/>
            <a:ext cx="34747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400" dirty="0">
                <a:solidFill>
                  <a:schemeClr val="tx1"/>
                </a:solidFill>
              </a:rPr>
              <a:t>ক্ষেত্রফল = বাহু × বাহু।</a:t>
            </a:r>
            <a:endParaRPr lang="en-US" sz="1400" dirty="0"/>
          </a:p>
        </p:txBody>
      </p:sp>
      <p:sp>
        <p:nvSpPr>
          <p:cNvPr id="12" name="Code card"/>
          <p:cNvSpPr/>
          <p:nvPr/>
        </p:nvSpPr>
        <p:spPr>
          <a:xfrm>
            <a:off x="4480560" y="1234440"/>
            <a:ext cx="4206240" cy="3291840"/>
          </a:xfrm>
          <a:prstGeom prst="roundRect">
            <a:avLst>
              <a:gd name="adj" fmla="val 3333"/>
            </a:avLst>
          </a:prstGeom>
          <a:solidFill>
            <a:schemeClr val="tx1"/>
          </a:solidFill>
          <a:ln/>
        </p:spPr>
      </p:sp>
      <p:sp>
        <p:nvSpPr>
          <p:cNvPr id="13" name="Code label"/>
          <p:cNvSpPr txBox="1"/>
          <p:nvPr/>
        </p:nvSpPr>
        <p:spPr>
          <a:xfrm>
            <a:off x="4663440" y="1371600"/>
            <a:ext cx="3840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200" b="1" dirty="0">
                <a:solidFill>
                  <a:schemeClr val="accent4"/>
                </a:solidFill>
              </a:rPr>
              <a:t>Java কোড (main মেথডের ভেতরে)</a:t>
            </a:r>
            <a:endParaRPr lang="en-US" sz="1200" dirty="0"/>
          </a:p>
        </p:txBody>
      </p:sp>
      <p:sp>
        <p:nvSpPr>
          <p:cNvPr id="14" name="Code"/>
          <p:cNvSpPr txBox="1"/>
          <p:nvPr/>
        </p:nvSpPr>
        <p:spPr>
          <a:xfrm>
            <a:off x="4663440" y="1600200"/>
            <a:ext cx="3886200" cy="2651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r>
              <a:rPr lang="en-US" sz="1000" dirty="0">
                <a:solidFill>
                  <a:schemeClr val="bg1"/>
                </a:solidFill>
                <a:latin typeface="Monaco" panose="020B0500000000000000" pitchFamily="34" charset="0"/>
                <a:ea typeface="Courier New" pitchFamily="34" charset="-122"/>
                <a:cs typeface="Hind Siliguri" panose="02000000000000000000" pitchFamily="2" charset="0"/>
              </a:rPr>
              <a:t>import </a:t>
            </a:r>
            <a:r>
              <a:rPr lang="en-US" sz="1000" dirty="0" err="1">
                <a:solidFill>
                  <a:schemeClr val="bg1"/>
                </a:solidFill>
                <a:latin typeface="Monaco" panose="020B0500000000000000" pitchFamily="34" charset="0"/>
                <a:ea typeface="Courier New" pitchFamily="34" charset="-122"/>
                <a:cs typeface="Hind Siliguri" panose="02000000000000000000" pitchFamily="2" charset="0"/>
              </a:rPr>
              <a:t>java.util.Scanner</a:t>
            </a:r>
            <a:r>
              <a:rPr lang="en-US" sz="1000" dirty="0">
                <a:solidFill>
                  <a:schemeClr val="bg1"/>
                </a:solidFill>
                <a:latin typeface="Monaco" panose="020B0500000000000000" pitchFamily="34" charset="0"/>
                <a:ea typeface="Courier New" pitchFamily="34" charset="-122"/>
                <a:cs typeface="Hind Siliguri" panose="02000000000000000000" pitchFamily="2" charset="0"/>
              </a:rPr>
              <a:t>;</a:t>
            </a:r>
          </a:p>
          <a:p>
            <a:pPr marL="0" indent="0">
              <a:buNone/>
            </a:pPr>
            <a:endParaRPr lang="en-US" sz="1000" dirty="0">
              <a:solidFill>
                <a:schemeClr val="bg1"/>
              </a:solidFill>
              <a:latin typeface="Monaco" panose="020B0500000000000000" pitchFamily="34" charset="0"/>
              <a:ea typeface="Courier New" pitchFamily="34" charset="-122"/>
              <a:cs typeface="Courier New" pitchFamily="34" charset="-120"/>
            </a:endParaRPr>
          </a:p>
          <a:p>
            <a:pPr marL="0" indent="0">
              <a:buNone/>
            </a:pPr>
            <a:r>
              <a:rPr lang="en-US" sz="1000" dirty="0">
                <a:solidFill>
                  <a:schemeClr val="bg1"/>
                </a:solidFill>
                <a:latin typeface="Monaco" panose="020B0500000000000000" pitchFamily="34" charset="0"/>
                <a:ea typeface="Courier New" pitchFamily="34" charset="-122"/>
                <a:cs typeface="Courier New" pitchFamily="34" charset="-120"/>
              </a:rPr>
              <a:t>public class </a:t>
            </a:r>
            <a:r>
              <a:rPr lang="en-US" sz="1000" dirty="0" err="1">
                <a:solidFill>
                  <a:schemeClr val="bg1"/>
                </a:solidFill>
                <a:latin typeface="Monaco" panose="020B0500000000000000" pitchFamily="34" charset="0"/>
                <a:ea typeface="Courier New" pitchFamily="34" charset="-122"/>
                <a:cs typeface="Courier New" pitchFamily="34" charset="-120"/>
              </a:rPr>
              <a:t>SquareArea</a:t>
            </a:r>
            <a:r>
              <a:rPr lang="en-US" sz="1000" dirty="0">
                <a:solidFill>
                  <a:schemeClr val="bg1"/>
                </a:solidFill>
                <a:latin typeface="Monaco" panose="020B0500000000000000" pitchFamily="34" charset="0"/>
                <a:ea typeface="Courier New" pitchFamily="34" charset="-122"/>
                <a:cs typeface="Courier New" pitchFamily="34" charset="-120"/>
              </a:rPr>
              <a:t> {</a:t>
            </a:r>
          </a:p>
          <a:p>
            <a:pPr marL="0" indent="0">
              <a:buNone/>
            </a:pPr>
            <a:r>
              <a:rPr lang="en-US" sz="1000" dirty="0">
                <a:solidFill>
                  <a:schemeClr val="bg1"/>
                </a:solidFill>
                <a:latin typeface="Monaco" panose="020B0500000000000000" pitchFamily="34" charset="0"/>
                <a:ea typeface="Courier New" pitchFamily="34" charset="-122"/>
                <a:cs typeface="Courier New" pitchFamily="34" charset="-120"/>
              </a:rPr>
              <a:t>    public static void main(String[] </a:t>
            </a:r>
            <a:r>
              <a:rPr lang="en-US" sz="1000" dirty="0" err="1">
                <a:solidFill>
                  <a:schemeClr val="bg1"/>
                </a:solidFill>
                <a:latin typeface="Monaco" panose="020B0500000000000000" pitchFamily="34" charset="0"/>
                <a:ea typeface="Courier New" pitchFamily="34" charset="-122"/>
                <a:cs typeface="Courier New" pitchFamily="34" charset="-120"/>
              </a:rPr>
              <a:t>args</a:t>
            </a:r>
            <a:r>
              <a:rPr lang="en-US" sz="1000" dirty="0">
                <a:solidFill>
                  <a:schemeClr val="bg1"/>
                </a:solidFill>
                <a:latin typeface="Monaco" panose="020B0500000000000000" pitchFamily="34" charset="0"/>
                <a:ea typeface="Courier New" pitchFamily="34" charset="-122"/>
                <a:cs typeface="Courier New" pitchFamily="34" charset="-120"/>
              </a:rPr>
              <a:t>) {</a:t>
            </a:r>
          </a:p>
          <a:p>
            <a:pPr marL="0" indent="0">
              <a:buNone/>
            </a:pPr>
            <a:r>
              <a:rPr lang="en-US" sz="1000" dirty="0">
                <a:solidFill>
                  <a:schemeClr val="bg1"/>
                </a:solidFill>
                <a:latin typeface="Monaco" panose="020B0500000000000000" pitchFamily="34" charset="0"/>
                <a:ea typeface="Courier New" pitchFamily="34" charset="-122"/>
                <a:cs typeface="Courier New" pitchFamily="34" charset="-120"/>
              </a:rPr>
              <a:t>        Scanner input = new Scanner(System.in);</a:t>
            </a:r>
          </a:p>
          <a:p>
            <a:pPr marL="0" indent="0">
              <a:buNone/>
            </a:pPr>
            <a:endParaRPr lang="en-US" sz="1000" dirty="0">
              <a:solidFill>
                <a:schemeClr val="bg1"/>
              </a:solidFill>
              <a:latin typeface="Monaco" panose="020B0500000000000000" pitchFamily="34" charset="0"/>
              <a:ea typeface="Courier New" pitchFamily="34" charset="-122"/>
              <a:cs typeface="Courier New" pitchFamily="34" charset="-120"/>
            </a:endParaRPr>
          </a:p>
          <a:p>
            <a:pPr marL="0" indent="0">
              <a:buNone/>
            </a:pPr>
            <a:r>
              <a:rPr lang="en-US" sz="1000" dirty="0">
                <a:solidFill>
                  <a:schemeClr val="bg1"/>
                </a:solidFill>
                <a:latin typeface="Monaco" panose="020B0500000000000000" pitchFamily="34" charset="0"/>
                <a:ea typeface="Courier New" pitchFamily="34" charset="-122"/>
                <a:cs typeface="Courier New" pitchFamily="34" charset="-120"/>
              </a:rPr>
              <a:t>        </a:t>
            </a:r>
            <a:r>
              <a:rPr lang="en-US" sz="1000" dirty="0" err="1">
                <a:solidFill>
                  <a:schemeClr val="bg1"/>
                </a:solidFill>
                <a:latin typeface="Monaco" panose="020B0500000000000000" pitchFamily="34" charset="0"/>
                <a:ea typeface="Courier New" pitchFamily="34" charset="-122"/>
                <a:cs typeface="Courier New" pitchFamily="34" charset="-120"/>
              </a:rPr>
              <a:t>System.out.print</a:t>
            </a:r>
            <a:r>
              <a:rPr lang="en-US" sz="1000" dirty="0">
                <a:solidFill>
                  <a:schemeClr val="bg1"/>
                </a:solidFill>
                <a:latin typeface="Monaco" panose="020B0500000000000000" pitchFamily="34" charset="0"/>
                <a:ea typeface="Courier New" pitchFamily="34" charset="-122"/>
                <a:cs typeface="Courier New" pitchFamily="34" charset="-120"/>
              </a:rPr>
              <a:t>("Enter side: ");</a:t>
            </a:r>
          </a:p>
          <a:p>
            <a:pPr marL="0" indent="0">
              <a:buNone/>
            </a:pPr>
            <a:r>
              <a:rPr lang="en-US" sz="1000" dirty="0">
                <a:solidFill>
                  <a:schemeClr val="bg1"/>
                </a:solidFill>
                <a:latin typeface="Monaco" panose="020B0500000000000000" pitchFamily="34" charset="0"/>
                <a:ea typeface="Courier New" pitchFamily="34" charset="-122"/>
                <a:cs typeface="Courier New" pitchFamily="34" charset="-120"/>
              </a:rPr>
              <a:t>        double side = </a:t>
            </a:r>
            <a:r>
              <a:rPr lang="en-US" sz="1000" dirty="0" err="1">
                <a:solidFill>
                  <a:schemeClr val="bg1"/>
                </a:solidFill>
                <a:latin typeface="Monaco" panose="020B0500000000000000" pitchFamily="34" charset="0"/>
                <a:ea typeface="Courier New" pitchFamily="34" charset="-122"/>
                <a:cs typeface="Courier New" pitchFamily="34" charset="-120"/>
              </a:rPr>
              <a:t>input.nextDouble</a:t>
            </a:r>
            <a:r>
              <a:rPr lang="en-US" sz="1000" dirty="0">
                <a:solidFill>
                  <a:schemeClr val="bg1"/>
                </a:solidFill>
                <a:latin typeface="Monaco" panose="020B0500000000000000" pitchFamily="34" charset="0"/>
                <a:ea typeface="Courier New" pitchFamily="34" charset="-122"/>
                <a:cs typeface="Courier New" pitchFamily="34" charset="-120"/>
              </a:rPr>
              <a:t>();</a:t>
            </a:r>
          </a:p>
          <a:p>
            <a:pPr marL="0" indent="0">
              <a:buNone/>
            </a:pPr>
            <a:endParaRPr lang="en-US" sz="1000" dirty="0">
              <a:solidFill>
                <a:schemeClr val="bg1"/>
              </a:solidFill>
              <a:latin typeface="Monaco" panose="020B0500000000000000" pitchFamily="34" charset="0"/>
              <a:ea typeface="Courier New" pitchFamily="34" charset="-122"/>
              <a:cs typeface="Courier New" pitchFamily="34" charset="-120"/>
            </a:endParaRPr>
          </a:p>
          <a:p>
            <a:pPr marL="0" indent="0">
              <a:buNone/>
            </a:pPr>
            <a:r>
              <a:rPr lang="en-US" sz="1000" dirty="0">
                <a:solidFill>
                  <a:schemeClr val="bg1"/>
                </a:solidFill>
                <a:latin typeface="Monaco" panose="020B0500000000000000" pitchFamily="34" charset="0"/>
                <a:ea typeface="Courier New" pitchFamily="34" charset="-122"/>
                <a:cs typeface="Courier New" pitchFamily="34" charset="-120"/>
              </a:rPr>
              <a:t>        double area = side * side;</a:t>
            </a:r>
          </a:p>
          <a:p>
            <a:pPr marL="0" indent="0">
              <a:buNone/>
            </a:pPr>
            <a:endParaRPr lang="en-US" sz="1000" dirty="0">
              <a:solidFill>
                <a:schemeClr val="bg1"/>
              </a:solidFill>
              <a:latin typeface="Monaco" panose="020B0500000000000000" pitchFamily="34" charset="0"/>
              <a:ea typeface="Courier New" pitchFamily="34" charset="-122"/>
              <a:cs typeface="Courier New" pitchFamily="34" charset="-120"/>
            </a:endParaRPr>
          </a:p>
          <a:p>
            <a:pPr marL="0" indent="0">
              <a:buNone/>
            </a:pPr>
            <a:r>
              <a:rPr lang="en-US" sz="1000" dirty="0">
                <a:solidFill>
                  <a:schemeClr val="bg1"/>
                </a:solidFill>
                <a:latin typeface="Monaco" panose="020B0500000000000000" pitchFamily="34" charset="0"/>
                <a:ea typeface="Courier New" pitchFamily="34" charset="-122"/>
                <a:cs typeface="Courier New" pitchFamily="34" charset="-120"/>
              </a:rPr>
              <a:t>        </a:t>
            </a:r>
            <a:r>
              <a:rPr lang="en-US" sz="1000" dirty="0" err="1">
                <a:solidFill>
                  <a:schemeClr val="bg1"/>
                </a:solidFill>
                <a:latin typeface="Monaco" panose="020B0500000000000000" pitchFamily="34" charset="0"/>
                <a:ea typeface="Courier New" pitchFamily="34" charset="-122"/>
                <a:cs typeface="Courier New" pitchFamily="34" charset="-120"/>
              </a:rPr>
              <a:t>System.out.println</a:t>
            </a:r>
            <a:r>
              <a:rPr lang="en-US" sz="1000" dirty="0">
                <a:solidFill>
                  <a:schemeClr val="bg1"/>
                </a:solidFill>
                <a:latin typeface="Monaco" panose="020B0500000000000000" pitchFamily="34" charset="0"/>
                <a:ea typeface="Courier New" pitchFamily="34" charset="-122"/>
                <a:cs typeface="Courier New" pitchFamily="34" charset="-120"/>
              </a:rPr>
              <a:t>("Area of Square = " + area);</a:t>
            </a:r>
          </a:p>
          <a:p>
            <a:pPr marL="0" indent="0">
              <a:buNone/>
            </a:pPr>
            <a:endParaRPr lang="en-US" sz="1000" dirty="0">
              <a:solidFill>
                <a:schemeClr val="bg1"/>
              </a:solidFill>
              <a:latin typeface="Monaco" panose="020B0500000000000000" pitchFamily="34" charset="0"/>
              <a:ea typeface="Courier New" pitchFamily="34" charset="-122"/>
              <a:cs typeface="Courier New" pitchFamily="34" charset="-120"/>
            </a:endParaRPr>
          </a:p>
          <a:p>
            <a:pPr marL="0" indent="0">
              <a:buNone/>
            </a:pPr>
            <a:r>
              <a:rPr lang="en-US" sz="1000" dirty="0">
                <a:solidFill>
                  <a:schemeClr val="bg1"/>
                </a:solidFill>
                <a:latin typeface="Monaco" panose="020B0500000000000000" pitchFamily="34" charset="0"/>
                <a:ea typeface="Courier New" pitchFamily="34" charset="-122"/>
                <a:cs typeface="Courier New" pitchFamily="34" charset="-120"/>
              </a:rPr>
              <a:t>    }</a:t>
            </a:r>
          </a:p>
          <a:p>
            <a:pPr marL="0" indent="0">
              <a:buNone/>
            </a:pPr>
            <a:r>
              <a:rPr lang="en-US" sz="1000" dirty="0">
                <a:solidFill>
                  <a:schemeClr val="bg1"/>
                </a:solidFill>
                <a:latin typeface="Monaco" panose="020B0500000000000000" pitchFamily="34" charset="0"/>
                <a:ea typeface="Courier New" pitchFamily="34" charset="-122"/>
                <a:cs typeface="Courier New" pitchFamily="34" charset="-120"/>
              </a:rPr>
              <a:t>}</a:t>
            </a:r>
            <a:endParaRPr lang="en-US" sz="1000" dirty="0">
              <a:latin typeface="Monaco" panose="020B0500000000000000" pitchFamily="34" charset="0"/>
            </a:endParaRPr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70916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=""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6"/>
                </a:solidFill>
              </a:defRPr>
            </a:lvl1pPr>
          </a:lstStyle>
          <a:p>
            <a:pPr algn="l"/>
            <a:fld id="{F7021451-1387-4CA6-816F-3879F97B5CBC}" type="slidenum">
              <a:rPr lang="en-US" b="0"/>
              <a:t>8</a:t>
            </a:fld>
            <a:endParaRPr lang="en-US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>
            <a:spLocks noGrp="1"/>
          </p:cNvSpPr>
          <p:nvPr>
            <p:ph type="title" idx="100" hasCustomPrompt="1"/>
          </p:nvPr>
        </p:nvSpPr>
        <p:spPr>
          <a:xfrm>
            <a:off x="457200" y="274320"/>
            <a:ext cx="82296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3000" b="1" dirty="0">
                <a:solidFill>
                  <a:schemeClr val="tx2"/>
                </a:solidFill>
                <a:latin typeface="Hind Siliguri" panose="02000000000000000000" pitchFamily="2" charset="0"/>
                <a:cs typeface="Hind Siliguri" panose="02000000000000000000" pitchFamily="2" charset="0"/>
              </a:rPr>
              <a:t>সমকোণী ত্রিভুজের ক্ষেত্রফল</a:t>
            </a:r>
            <a:endParaRPr lang="en-US" sz="3000" dirty="0">
              <a:latin typeface="Hind Siliguri" panose="02000000000000000000" pitchFamily="2" charset="0"/>
              <a:cs typeface="Hind Siliguri" panose="02000000000000000000" pitchFamily="2" charset="0"/>
            </a:endParaRPr>
          </a:p>
        </p:txBody>
      </p:sp>
      <p:sp>
        <p:nvSpPr>
          <p:cNvPr id="3" name="Problem badge"/>
          <p:cNvSpPr/>
          <p:nvPr/>
        </p:nvSpPr>
        <p:spPr>
          <a:xfrm>
            <a:off x="7406640" y="411480"/>
            <a:ext cx="1280160" cy="384048"/>
          </a:xfrm>
          <a:prstGeom prst="roundRect">
            <a:avLst>
              <a:gd name="adj" fmla="val 47619"/>
            </a:avLst>
          </a:prstGeom>
          <a:solidFill>
            <a:schemeClr val="accent1"/>
          </a:solidFill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chemeClr val="bg1"/>
                </a:solidFill>
                <a:latin typeface="Hind Siliguri" panose="02000000000000000000" pitchFamily="2" charset="0"/>
                <a:cs typeface="Hind Siliguri" panose="02000000000000000000" pitchFamily="2" charset="0"/>
              </a:rPr>
              <a:t>প্রব্লেম ৪/১০</a:t>
            </a:r>
            <a:endParaRPr lang="en-US" sz="1200" dirty="0">
              <a:latin typeface="Hind Siliguri" panose="02000000000000000000" pitchFamily="2" charset="0"/>
              <a:cs typeface="Hind Siliguri" panose="02000000000000000000" pitchFamily="2" charset="0"/>
            </a:endParaRPr>
          </a:p>
        </p:txBody>
      </p:sp>
      <p:sp>
        <p:nvSpPr>
          <p:cNvPr id="4" name="Statement card"/>
          <p:cNvSpPr/>
          <p:nvPr/>
        </p:nvSpPr>
        <p:spPr>
          <a:xfrm>
            <a:off x="457200" y="1234440"/>
            <a:ext cx="3840480" cy="1188720"/>
          </a:xfrm>
          <a:prstGeom prst="roundRect">
            <a:avLst>
              <a:gd name="adj" fmla="val 9231"/>
            </a:avLst>
          </a:prstGeom>
          <a:solidFill>
            <a:schemeClr val="bg2"/>
          </a:solidFill>
          <a:ln/>
        </p:spPr>
      </p:sp>
      <p:sp>
        <p:nvSpPr>
          <p:cNvPr id="5" name="Statement label"/>
          <p:cNvSpPr txBox="1"/>
          <p:nvPr/>
        </p:nvSpPr>
        <p:spPr>
          <a:xfrm>
            <a:off x="640080" y="1325880"/>
            <a:ext cx="3474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400" b="1" dirty="0">
                <a:solidFill>
                  <a:schemeClr val="accent1"/>
                </a:solidFill>
                <a:latin typeface="Hind Siliguri" panose="02000000000000000000" pitchFamily="2" charset="0"/>
                <a:cs typeface="Hind Siliguri" panose="02000000000000000000" pitchFamily="2" charset="0"/>
              </a:rPr>
              <a:t>সমস্যা</a:t>
            </a:r>
            <a:endParaRPr lang="en-US" sz="1400" dirty="0">
              <a:latin typeface="Hind Siliguri" panose="02000000000000000000" pitchFamily="2" charset="0"/>
              <a:cs typeface="Hind Siliguri" panose="02000000000000000000" pitchFamily="2" charset="0"/>
            </a:endParaRPr>
          </a:p>
        </p:txBody>
      </p:sp>
      <p:sp>
        <p:nvSpPr>
          <p:cNvPr id="6" name="Statement"/>
          <p:cNvSpPr txBox="1"/>
          <p:nvPr/>
        </p:nvSpPr>
        <p:spPr>
          <a:xfrm>
            <a:off x="640080" y="1627632"/>
            <a:ext cx="34747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400" dirty="0">
                <a:solidFill>
                  <a:schemeClr val="tx1"/>
                </a:solidFill>
                <a:latin typeface="Hind Siliguri" panose="02000000000000000000" pitchFamily="2" charset="0"/>
                <a:cs typeface="Hind Siliguri" panose="02000000000000000000" pitchFamily="2" charset="0"/>
              </a:rPr>
              <a:t>Java Program ব্যবহার করে একটি সমকোণী ত্রিভুজের ক্ষেত্রফল নির্ণয় কর।</a:t>
            </a:r>
            <a:endParaRPr lang="en-US" sz="1400" dirty="0">
              <a:latin typeface="Hind Siliguri" panose="02000000000000000000" pitchFamily="2" charset="0"/>
              <a:cs typeface="Hind Siliguri" panose="02000000000000000000" pitchFamily="2" charset="0"/>
            </a:endParaRPr>
          </a:p>
        </p:txBody>
      </p:sp>
      <p:sp>
        <p:nvSpPr>
          <p:cNvPr id="7" name="IO card"/>
          <p:cNvSpPr/>
          <p:nvPr/>
        </p:nvSpPr>
        <p:spPr>
          <a:xfrm>
            <a:off x="457200" y="2560320"/>
            <a:ext cx="3840480" cy="914400"/>
          </a:xfrm>
          <a:prstGeom prst="roundRect">
            <a:avLst>
              <a:gd name="adj" fmla="val 12000"/>
            </a:avLst>
          </a:prstGeom>
          <a:solidFill>
            <a:schemeClr val="bg2"/>
          </a:solidFill>
          <a:ln/>
        </p:spPr>
      </p:sp>
      <p:sp>
        <p:nvSpPr>
          <p:cNvPr id="8" name="IO text"/>
          <p:cNvSpPr txBox="1"/>
          <p:nvPr/>
        </p:nvSpPr>
        <p:spPr>
          <a:xfrm>
            <a:off x="640080" y="2633472"/>
            <a:ext cx="3474720" cy="8046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300" dirty="0">
                <a:solidFill>
                  <a:schemeClr val="tx1"/>
                </a:solidFill>
                <a:latin typeface="Hind Siliguri" panose="02000000000000000000" pitchFamily="2" charset="0"/>
                <a:cs typeface="Hind Siliguri" panose="02000000000000000000" pitchFamily="2" charset="0"/>
              </a:rPr>
              <a:t>ইনপুট: 6 4</a:t>
            </a:r>
            <a:endParaRPr lang="en-US" sz="1300" dirty="0">
              <a:latin typeface="Hind Siliguri" panose="02000000000000000000" pitchFamily="2" charset="0"/>
              <a:cs typeface="Hind Siliguri" panose="02000000000000000000" pitchFamily="2" charset="0"/>
            </a:endParaRPr>
          </a:p>
          <a:p>
            <a:pPr marL="0" indent="0">
              <a:buNone/>
            </a:pPr>
            <a:r>
              <a:rPr lang="en-US" sz="1300" dirty="0">
                <a:solidFill>
                  <a:schemeClr val="tx1"/>
                </a:solidFill>
                <a:latin typeface="Hind Siliguri" panose="02000000000000000000" pitchFamily="2" charset="0"/>
                <a:cs typeface="Hind Siliguri" panose="02000000000000000000" pitchFamily="2" charset="0"/>
              </a:rPr>
              <a:t>আউটপুট: Area = 12.0</a:t>
            </a:r>
            <a:endParaRPr lang="en-US" sz="1300" dirty="0">
              <a:latin typeface="Hind Siliguri" panose="02000000000000000000" pitchFamily="2" charset="0"/>
              <a:cs typeface="Hind Siliguri" panose="02000000000000000000" pitchFamily="2" charset="0"/>
            </a:endParaRPr>
          </a:p>
        </p:txBody>
      </p:sp>
      <p:sp>
        <p:nvSpPr>
          <p:cNvPr id="9" name="Hint card"/>
          <p:cNvSpPr/>
          <p:nvPr/>
        </p:nvSpPr>
        <p:spPr>
          <a:xfrm>
            <a:off x="457200" y="3611880"/>
            <a:ext cx="3840480" cy="914400"/>
          </a:xfrm>
          <a:prstGeom prst="roundRect">
            <a:avLst>
              <a:gd name="adj" fmla="val 12000"/>
            </a:avLst>
          </a:prstGeom>
          <a:solidFill>
            <a:schemeClr val="bg2"/>
          </a:solidFill>
          <a:ln/>
        </p:spPr>
      </p:sp>
      <p:sp>
        <p:nvSpPr>
          <p:cNvPr id="10" name="Hint label"/>
          <p:cNvSpPr txBox="1"/>
          <p:nvPr/>
        </p:nvSpPr>
        <p:spPr>
          <a:xfrm>
            <a:off x="640080" y="3675888"/>
            <a:ext cx="3474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400" b="1" dirty="0">
                <a:solidFill>
                  <a:schemeClr val="accent3"/>
                </a:solidFill>
                <a:latin typeface="Hind Siliguri" panose="02000000000000000000" pitchFamily="2" charset="0"/>
                <a:cs typeface="Hind Siliguri" panose="02000000000000000000" pitchFamily="2" charset="0"/>
              </a:rPr>
              <a:t>আইডিয়া</a:t>
            </a:r>
            <a:endParaRPr lang="en-US" sz="1400" dirty="0">
              <a:latin typeface="Hind Siliguri" panose="02000000000000000000" pitchFamily="2" charset="0"/>
              <a:cs typeface="Hind Siliguri" panose="02000000000000000000" pitchFamily="2" charset="0"/>
            </a:endParaRPr>
          </a:p>
        </p:txBody>
      </p:sp>
      <p:sp>
        <p:nvSpPr>
          <p:cNvPr id="11" name="Hint"/>
          <p:cNvSpPr txBox="1"/>
          <p:nvPr/>
        </p:nvSpPr>
        <p:spPr>
          <a:xfrm>
            <a:off x="640080" y="3950208"/>
            <a:ext cx="34747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400" dirty="0">
                <a:solidFill>
                  <a:schemeClr val="tx1"/>
                </a:solidFill>
                <a:latin typeface="Hind Siliguri" panose="02000000000000000000" pitchFamily="2" charset="0"/>
                <a:cs typeface="Hind Siliguri" panose="02000000000000000000" pitchFamily="2" charset="0"/>
              </a:rPr>
              <a:t>ক্ষেত্রফল = ½ × ভূমি × উচ্চতা। 1/2 নয়, 0.5 লিখো।</a:t>
            </a:r>
            <a:endParaRPr lang="en-US" sz="1400" dirty="0">
              <a:latin typeface="Hind Siliguri" panose="02000000000000000000" pitchFamily="2" charset="0"/>
              <a:cs typeface="Hind Siliguri" panose="02000000000000000000" pitchFamily="2" charset="0"/>
            </a:endParaRPr>
          </a:p>
        </p:txBody>
      </p:sp>
      <p:sp>
        <p:nvSpPr>
          <p:cNvPr id="12" name="Code card"/>
          <p:cNvSpPr/>
          <p:nvPr/>
        </p:nvSpPr>
        <p:spPr>
          <a:xfrm>
            <a:off x="4480560" y="1234440"/>
            <a:ext cx="4206240" cy="3291840"/>
          </a:xfrm>
          <a:prstGeom prst="roundRect">
            <a:avLst>
              <a:gd name="adj" fmla="val 3333"/>
            </a:avLst>
          </a:prstGeom>
          <a:solidFill>
            <a:schemeClr val="tx1"/>
          </a:solidFill>
          <a:ln/>
        </p:spPr>
      </p:sp>
      <p:sp>
        <p:nvSpPr>
          <p:cNvPr id="13" name="Code label"/>
          <p:cNvSpPr txBox="1"/>
          <p:nvPr/>
        </p:nvSpPr>
        <p:spPr>
          <a:xfrm>
            <a:off x="4663440" y="1371600"/>
            <a:ext cx="3840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200" b="1" dirty="0">
                <a:solidFill>
                  <a:schemeClr val="accent4"/>
                </a:solidFill>
                <a:latin typeface="Hind Siliguri" panose="02000000000000000000" pitchFamily="2" charset="0"/>
                <a:cs typeface="Hind Siliguri" panose="02000000000000000000" pitchFamily="2" charset="0"/>
              </a:rPr>
              <a:t>Java কোড (main মেথডের ভেতরে)</a:t>
            </a:r>
            <a:endParaRPr lang="en-US" sz="1200" dirty="0">
              <a:latin typeface="Hind Siliguri" panose="02000000000000000000" pitchFamily="2" charset="0"/>
              <a:cs typeface="Hind Siliguri" panose="02000000000000000000" pitchFamily="2" charset="0"/>
            </a:endParaRPr>
          </a:p>
        </p:txBody>
      </p:sp>
      <p:sp>
        <p:nvSpPr>
          <p:cNvPr id="14" name="Code"/>
          <p:cNvSpPr txBox="1"/>
          <p:nvPr/>
        </p:nvSpPr>
        <p:spPr>
          <a:xfrm>
            <a:off x="4663440" y="1600200"/>
            <a:ext cx="3886200" cy="2651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r>
              <a:rPr lang="en-US" sz="1000" dirty="0">
                <a:solidFill>
                  <a:schemeClr val="bg1"/>
                </a:solidFill>
                <a:latin typeface="Monaco" panose="020B0500000000000000" pitchFamily="34" charset="0"/>
                <a:ea typeface="Courier New" pitchFamily="34" charset="-122"/>
                <a:cs typeface="Hind Siliguri" panose="02000000000000000000" pitchFamily="2" charset="0"/>
              </a:rPr>
              <a:t>import </a:t>
            </a:r>
            <a:r>
              <a:rPr lang="en-US" sz="1000" dirty="0" err="1">
                <a:solidFill>
                  <a:schemeClr val="bg1"/>
                </a:solidFill>
                <a:latin typeface="Monaco" panose="020B0500000000000000" pitchFamily="34" charset="0"/>
                <a:ea typeface="Courier New" pitchFamily="34" charset="-122"/>
                <a:cs typeface="Hind Siliguri" panose="02000000000000000000" pitchFamily="2" charset="0"/>
              </a:rPr>
              <a:t>java.util.Scanner</a:t>
            </a:r>
            <a:r>
              <a:rPr lang="en-US" sz="1000" dirty="0">
                <a:solidFill>
                  <a:schemeClr val="bg1"/>
                </a:solidFill>
                <a:latin typeface="Monaco" panose="020B0500000000000000" pitchFamily="34" charset="0"/>
                <a:ea typeface="Courier New" pitchFamily="34" charset="-122"/>
                <a:cs typeface="Hind Siliguri" panose="02000000000000000000" pitchFamily="2" charset="0"/>
              </a:rPr>
              <a:t>;</a:t>
            </a:r>
          </a:p>
          <a:p>
            <a:pPr marL="0" indent="0">
              <a:buNone/>
            </a:pPr>
            <a:endParaRPr lang="en-US" sz="1000" dirty="0">
              <a:solidFill>
                <a:schemeClr val="bg1"/>
              </a:solidFill>
              <a:latin typeface="Monaco" panose="020B0500000000000000" pitchFamily="34" charset="0"/>
              <a:ea typeface="Courier New" pitchFamily="34" charset="-122"/>
              <a:cs typeface="Hind Siliguri" panose="02000000000000000000" pitchFamily="2" charset="0"/>
            </a:endParaRPr>
          </a:p>
          <a:p>
            <a:pPr marL="0" indent="0">
              <a:buNone/>
            </a:pPr>
            <a:r>
              <a:rPr lang="en-US" sz="1000" dirty="0">
                <a:solidFill>
                  <a:schemeClr val="bg1"/>
                </a:solidFill>
                <a:latin typeface="Monaco" panose="020B0500000000000000" pitchFamily="34" charset="0"/>
                <a:ea typeface="Courier New" pitchFamily="34" charset="-122"/>
                <a:cs typeface="Hind Siliguri" panose="02000000000000000000" pitchFamily="2" charset="0"/>
              </a:rPr>
              <a:t>public class </a:t>
            </a:r>
            <a:r>
              <a:rPr lang="en-US" sz="1000" dirty="0" err="1">
                <a:solidFill>
                  <a:schemeClr val="bg1"/>
                </a:solidFill>
                <a:latin typeface="Monaco" panose="020B0500000000000000" pitchFamily="34" charset="0"/>
                <a:ea typeface="Courier New" pitchFamily="34" charset="-122"/>
                <a:cs typeface="Hind Siliguri" panose="02000000000000000000" pitchFamily="2" charset="0"/>
              </a:rPr>
              <a:t>RightTriangleArea</a:t>
            </a:r>
            <a:r>
              <a:rPr lang="en-US" sz="1000" dirty="0">
                <a:solidFill>
                  <a:schemeClr val="bg1"/>
                </a:solidFill>
                <a:latin typeface="Monaco" panose="020B0500000000000000" pitchFamily="34" charset="0"/>
                <a:ea typeface="Courier New" pitchFamily="34" charset="-122"/>
                <a:cs typeface="Hind Siliguri" panose="02000000000000000000" pitchFamily="2" charset="0"/>
              </a:rPr>
              <a:t> {</a:t>
            </a:r>
          </a:p>
          <a:p>
            <a:pPr marL="0" indent="0">
              <a:buNone/>
            </a:pPr>
            <a:r>
              <a:rPr lang="en-US" sz="1000" dirty="0">
                <a:solidFill>
                  <a:schemeClr val="bg1"/>
                </a:solidFill>
                <a:latin typeface="Monaco" panose="020B0500000000000000" pitchFamily="34" charset="0"/>
                <a:ea typeface="Courier New" pitchFamily="34" charset="-122"/>
                <a:cs typeface="Hind Siliguri" panose="02000000000000000000" pitchFamily="2" charset="0"/>
              </a:rPr>
              <a:t>    public static void main(String[] </a:t>
            </a:r>
            <a:r>
              <a:rPr lang="en-US" sz="1000" dirty="0" err="1">
                <a:solidFill>
                  <a:schemeClr val="bg1"/>
                </a:solidFill>
                <a:latin typeface="Monaco" panose="020B0500000000000000" pitchFamily="34" charset="0"/>
                <a:ea typeface="Courier New" pitchFamily="34" charset="-122"/>
                <a:cs typeface="Hind Siliguri" panose="02000000000000000000" pitchFamily="2" charset="0"/>
              </a:rPr>
              <a:t>args</a:t>
            </a:r>
            <a:r>
              <a:rPr lang="en-US" sz="1000" dirty="0">
                <a:solidFill>
                  <a:schemeClr val="bg1"/>
                </a:solidFill>
                <a:latin typeface="Monaco" panose="020B0500000000000000" pitchFamily="34" charset="0"/>
                <a:ea typeface="Courier New" pitchFamily="34" charset="-122"/>
                <a:cs typeface="Hind Siliguri" panose="02000000000000000000" pitchFamily="2" charset="0"/>
              </a:rPr>
              <a:t>) {</a:t>
            </a:r>
          </a:p>
          <a:p>
            <a:pPr marL="0" indent="0">
              <a:buNone/>
            </a:pPr>
            <a:r>
              <a:rPr lang="en-US" sz="1000" dirty="0">
                <a:solidFill>
                  <a:schemeClr val="bg1"/>
                </a:solidFill>
                <a:latin typeface="Monaco" panose="020B0500000000000000" pitchFamily="34" charset="0"/>
                <a:ea typeface="Courier New" pitchFamily="34" charset="-122"/>
                <a:cs typeface="Hind Siliguri" panose="02000000000000000000" pitchFamily="2" charset="0"/>
              </a:rPr>
              <a:t>        Scanner input = new Scanner(System.in);</a:t>
            </a:r>
          </a:p>
          <a:p>
            <a:pPr marL="0" indent="0">
              <a:buNone/>
            </a:pPr>
            <a:endParaRPr lang="en-US" sz="1000" dirty="0">
              <a:solidFill>
                <a:schemeClr val="bg1"/>
              </a:solidFill>
              <a:latin typeface="Monaco" panose="020B0500000000000000" pitchFamily="34" charset="0"/>
              <a:ea typeface="Courier New" pitchFamily="34" charset="-122"/>
              <a:cs typeface="Hind Siliguri" panose="02000000000000000000" pitchFamily="2" charset="0"/>
            </a:endParaRPr>
          </a:p>
          <a:p>
            <a:pPr marL="0" indent="0">
              <a:buNone/>
            </a:pPr>
            <a:r>
              <a:rPr lang="en-US" sz="1000" dirty="0">
                <a:solidFill>
                  <a:schemeClr val="bg1"/>
                </a:solidFill>
                <a:latin typeface="Monaco" panose="020B0500000000000000" pitchFamily="34" charset="0"/>
                <a:ea typeface="Courier New" pitchFamily="34" charset="-122"/>
                <a:cs typeface="Hind Siliguri" panose="02000000000000000000" pitchFamily="2" charset="0"/>
              </a:rPr>
              <a:t>        </a:t>
            </a:r>
            <a:r>
              <a:rPr lang="en-US" sz="1000" dirty="0" err="1">
                <a:solidFill>
                  <a:schemeClr val="bg1"/>
                </a:solidFill>
                <a:latin typeface="Monaco" panose="020B0500000000000000" pitchFamily="34" charset="0"/>
                <a:ea typeface="Courier New" pitchFamily="34" charset="-122"/>
                <a:cs typeface="Hind Siliguri" panose="02000000000000000000" pitchFamily="2" charset="0"/>
              </a:rPr>
              <a:t>System.out.print</a:t>
            </a:r>
            <a:r>
              <a:rPr lang="en-US" sz="1000" dirty="0">
                <a:solidFill>
                  <a:schemeClr val="bg1"/>
                </a:solidFill>
                <a:latin typeface="Monaco" panose="020B0500000000000000" pitchFamily="34" charset="0"/>
                <a:ea typeface="Courier New" pitchFamily="34" charset="-122"/>
                <a:cs typeface="Hind Siliguri" panose="02000000000000000000" pitchFamily="2" charset="0"/>
              </a:rPr>
              <a:t>("Enter base: ");</a:t>
            </a:r>
          </a:p>
          <a:p>
            <a:pPr marL="0" indent="0">
              <a:buNone/>
            </a:pPr>
            <a:r>
              <a:rPr lang="en-US" sz="1000" dirty="0">
                <a:solidFill>
                  <a:schemeClr val="bg1"/>
                </a:solidFill>
                <a:latin typeface="Monaco" panose="020B0500000000000000" pitchFamily="34" charset="0"/>
                <a:ea typeface="Courier New" pitchFamily="34" charset="-122"/>
                <a:cs typeface="Hind Siliguri" panose="02000000000000000000" pitchFamily="2" charset="0"/>
              </a:rPr>
              <a:t>        double base = </a:t>
            </a:r>
            <a:r>
              <a:rPr lang="en-US" sz="1000" dirty="0" err="1">
                <a:solidFill>
                  <a:schemeClr val="bg1"/>
                </a:solidFill>
                <a:latin typeface="Monaco" panose="020B0500000000000000" pitchFamily="34" charset="0"/>
                <a:ea typeface="Courier New" pitchFamily="34" charset="-122"/>
                <a:cs typeface="Hind Siliguri" panose="02000000000000000000" pitchFamily="2" charset="0"/>
              </a:rPr>
              <a:t>input.nextDouble</a:t>
            </a:r>
            <a:r>
              <a:rPr lang="en-US" sz="1000" dirty="0">
                <a:solidFill>
                  <a:schemeClr val="bg1"/>
                </a:solidFill>
                <a:latin typeface="Monaco" panose="020B0500000000000000" pitchFamily="34" charset="0"/>
                <a:ea typeface="Courier New" pitchFamily="34" charset="-122"/>
                <a:cs typeface="Hind Siliguri" panose="02000000000000000000" pitchFamily="2" charset="0"/>
              </a:rPr>
              <a:t>();</a:t>
            </a:r>
          </a:p>
          <a:p>
            <a:pPr marL="0" indent="0">
              <a:buNone/>
            </a:pPr>
            <a:endParaRPr lang="en-US" sz="1000" dirty="0">
              <a:solidFill>
                <a:schemeClr val="bg1"/>
              </a:solidFill>
              <a:latin typeface="Monaco" panose="020B0500000000000000" pitchFamily="34" charset="0"/>
              <a:ea typeface="Courier New" pitchFamily="34" charset="-122"/>
              <a:cs typeface="Hind Siliguri" panose="02000000000000000000" pitchFamily="2" charset="0"/>
            </a:endParaRPr>
          </a:p>
          <a:p>
            <a:pPr marL="0" indent="0">
              <a:buNone/>
            </a:pPr>
            <a:r>
              <a:rPr lang="en-US" sz="1000" dirty="0">
                <a:solidFill>
                  <a:schemeClr val="bg1"/>
                </a:solidFill>
                <a:latin typeface="Monaco" panose="020B0500000000000000" pitchFamily="34" charset="0"/>
                <a:ea typeface="Courier New" pitchFamily="34" charset="-122"/>
                <a:cs typeface="Hind Siliguri" panose="02000000000000000000" pitchFamily="2" charset="0"/>
              </a:rPr>
              <a:t>        </a:t>
            </a:r>
            <a:r>
              <a:rPr lang="en-US" sz="1000" dirty="0" err="1">
                <a:solidFill>
                  <a:schemeClr val="bg1"/>
                </a:solidFill>
                <a:latin typeface="Monaco" panose="020B0500000000000000" pitchFamily="34" charset="0"/>
                <a:ea typeface="Courier New" pitchFamily="34" charset="-122"/>
                <a:cs typeface="Hind Siliguri" panose="02000000000000000000" pitchFamily="2" charset="0"/>
              </a:rPr>
              <a:t>System.out.print</a:t>
            </a:r>
            <a:r>
              <a:rPr lang="en-US" sz="1000" dirty="0">
                <a:solidFill>
                  <a:schemeClr val="bg1"/>
                </a:solidFill>
                <a:latin typeface="Monaco" panose="020B0500000000000000" pitchFamily="34" charset="0"/>
                <a:ea typeface="Courier New" pitchFamily="34" charset="-122"/>
                <a:cs typeface="Hind Siliguri" panose="02000000000000000000" pitchFamily="2" charset="0"/>
              </a:rPr>
              <a:t>("Enter height: ");</a:t>
            </a:r>
          </a:p>
          <a:p>
            <a:pPr marL="0" indent="0">
              <a:buNone/>
            </a:pPr>
            <a:r>
              <a:rPr lang="en-US" sz="1000" dirty="0">
                <a:solidFill>
                  <a:schemeClr val="bg1"/>
                </a:solidFill>
                <a:latin typeface="Monaco" panose="020B0500000000000000" pitchFamily="34" charset="0"/>
                <a:ea typeface="Courier New" pitchFamily="34" charset="-122"/>
                <a:cs typeface="Hind Siliguri" panose="02000000000000000000" pitchFamily="2" charset="0"/>
              </a:rPr>
              <a:t>        double height = </a:t>
            </a:r>
            <a:r>
              <a:rPr lang="en-US" sz="1000" dirty="0" err="1">
                <a:solidFill>
                  <a:schemeClr val="bg1"/>
                </a:solidFill>
                <a:latin typeface="Monaco" panose="020B0500000000000000" pitchFamily="34" charset="0"/>
                <a:ea typeface="Courier New" pitchFamily="34" charset="-122"/>
                <a:cs typeface="Hind Siliguri" panose="02000000000000000000" pitchFamily="2" charset="0"/>
              </a:rPr>
              <a:t>input.nextDouble</a:t>
            </a:r>
            <a:r>
              <a:rPr lang="en-US" sz="1000" dirty="0">
                <a:solidFill>
                  <a:schemeClr val="bg1"/>
                </a:solidFill>
                <a:latin typeface="Monaco" panose="020B0500000000000000" pitchFamily="34" charset="0"/>
                <a:ea typeface="Courier New" pitchFamily="34" charset="-122"/>
                <a:cs typeface="Hind Siliguri" panose="02000000000000000000" pitchFamily="2" charset="0"/>
              </a:rPr>
              <a:t>();</a:t>
            </a:r>
          </a:p>
          <a:p>
            <a:pPr marL="0" indent="0">
              <a:buNone/>
            </a:pPr>
            <a:endParaRPr lang="en-US" sz="1000" dirty="0">
              <a:solidFill>
                <a:schemeClr val="bg1"/>
              </a:solidFill>
              <a:latin typeface="Monaco" panose="020B0500000000000000" pitchFamily="34" charset="0"/>
              <a:ea typeface="Courier New" pitchFamily="34" charset="-122"/>
              <a:cs typeface="Hind Siliguri" panose="02000000000000000000" pitchFamily="2" charset="0"/>
            </a:endParaRPr>
          </a:p>
          <a:p>
            <a:pPr marL="0" indent="0">
              <a:buNone/>
            </a:pPr>
            <a:r>
              <a:rPr lang="en-US" sz="1000" dirty="0">
                <a:solidFill>
                  <a:schemeClr val="bg1"/>
                </a:solidFill>
                <a:latin typeface="Monaco" panose="020B0500000000000000" pitchFamily="34" charset="0"/>
                <a:ea typeface="Courier New" pitchFamily="34" charset="-122"/>
                <a:cs typeface="Hind Siliguri" panose="02000000000000000000" pitchFamily="2" charset="0"/>
              </a:rPr>
              <a:t>        double area = 0.5 * base * height;</a:t>
            </a:r>
          </a:p>
          <a:p>
            <a:pPr marL="0" indent="0">
              <a:buNone/>
            </a:pPr>
            <a:endParaRPr lang="en-US" sz="1000" dirty="0">
              <a:solidFill>
                <a:schemeClr val="bg1"/>
              </a:solidFill>
              <a:latin typeface="Monaco" panose="020B0500000000000000" pitchFamily="34" charset="0"/>
              <a:ea typeface="Courier New" pitchFamily="34" charset="-122"/>
              <a:cs typeface="Hind Siliguri" panose="02000000000000000000" pitchFamily="2" charset="0"/>
            </a:endParaRPr>
          </a:p>
          <a:p>
            <a:pPr marL="0" indent="0">
              <a:buNone/>
            </a:pPr>
            <a:r>
              <a:rPr lang="en-US" sz="1000" dirty="0">
                <a:solidFill>
                  <a:schemeClr val="bg1"/>
                </a:solidFill>
                <a:latin typeface="Monaco" panose="020B0500000000000000" pitchFamily="34" charset="0"/>
                <a:ea typeface="Courier New" pitchFamily="34" charset="-122"/>
                <a:cs typeface="Hind Siliguri" panose="02000000000000000000" pitchFamily="2" charset="0"/>
              </a:rPr>
              <a:t>        </a:t>
            </a:r>
            <a:r>
              <a:rPr lang="en-US" sz="1000" dirty="0" err="1">
                <a:solidFill>
                  <a:schemeClr val="bg1"/>
                </a:solidFill>
                <a:latin typeface="Monaco" panose="020B0500000000000000" pitchFamily="34" charset="0"/>
                <a:ea typeface="Courier New" pitchFamily="34" charset="-122"/>
                <a:cs typeface="Hind Siliguri" panose="02000000000000000000" pitchFamily="2" charset="0"/>
              </a:rPr>
              <a:t>System.out.println</a:t>
            </a:r>
            <a:r>
              <a:rPr lang="en-US" sz="1000" dirty="0">
                <a:solidFill>
                  <a:schemeClr val="bg1"/>
                </a:solidFill>
                <a:latin typeface="Monaco" panose="020B0500000000000000" pitchFamily="34" charset="0"/>
                <a:ea typeface="Courier New" pitchFamily="34" charset="-122"/>
                <a:cs typeface="Hind Siliguri" panose="02000000000000000000" pitchFamily="2" charset="0"/>
              </a:rPr>
              <a:t>("Area of Right Triangle = " + area);</a:t>
            </a:r>
          </a:p>
          <a:p>
            <a:pPr marL="0" indent="0">
              <a:buNone/>
            </a:pPr>
            <a:r>
              <a:rPr lang="en-US" sz="1000" dirty="0">
                <a:solidFill>
                  <a:schemeClr val="bg1"/>
                </a:solidFill>
                <a:latin typeface="Monaco" panose="020B0500000000000000" pitchFamily="34" charset="0"/>
                <a:ea typeface="Courier New" pitchFamily="34" charset="-122"/>
                <a:cs typeface="Hind Siliguri" panose="02000000000000000000" pitchFamily="2" charset="0"/>
              </a:rPr>
              <a:t>    }</a:t>
            </a:r>
          </a:p>
          <a:p>
            <a:pPr marL="0" indent="0">
              <a:buNone/>
            </a:pPr>
            <a:r>
              <a:rPr lang="en-US" sz="1000" dirty="0">
                <a:solidFill>
                  <a:schemeClr val="bg1"/>
                </a:solidFill>
                <a:latin typeface="Monaco" panose="020B0500000000000000" pitchFamily="34" charset="0"/>
                <a:ea typeface="Courier New" pitchFamily="34" charset="-122"/>
                <a:cs typeface="Hind Siliguri" panose="02000000000000000000" pitchFamily="2" charset="0"/>
              </a:rPr>
              <a:t>}</a:t>
            </a:r>
            <a:endParaRPr lang="en-US" sz="1000" dirty="0">
              <a:latin typeface="Monaco" panose="020B0500000000000000" pitchFamily="34" charset="0"/>
              <a:cs typeface="Hind Siliguri" panose="02000000000000000000" pitchFamily="2" charset="0"/>
            </a:endParaRPr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70916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=""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6"/>
                </a:solidFill>
              </a:defRPr>
            </a:lvl1pPr>
          </a:lstStyle>
          <a:p>
            <a:pPr algn="l"/>
            <a:fld id="{F7021451-1387-4CA6-816F-3879F97B5CBC}" type="slidenum">
              <a:rPr lang="en-US" b="0">
                <a:latin typeface="Hind Siliguri" panose="02000000000000000000" pitchFamily="2" charset="0"/>
                <a:cs typeface="Hind Siliguri" panose="02000000000000000000" pitchFamily="2" charset="0"/>
              </a:rPr>
              <a:t>9</a:t>
            </a:fld>
            <a:endParaRPr lang="en-US">
              <a:latin typeface="Hind Siliguri" panose="02000000000000000000" pitchFamily="2" charset="0"/>
              <a:cs typeface="Hind Siliguri" panose="02000000000000000000" pitchFamily="2" charset="0"/>
            </a:endParaRP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>
            <a:spLocks noGrp="1"/>
          </p:cNvSpPr>
          <p:nvPr>
            <p:ph type="title" idx="100" hasCustomPrompt="1"/>
          </p:nvPr>
        </p:nvSpPr>
        <p:spPr>
          <a:xfrm>
            <a:off x="457200" y="274320"/>
            <a:ext cx="82296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3000" b="1" dirty="0">
                <a:solidFill>
                  <a:schemeClr val="tx2"/>
                </a:solidFill>
                <a:latin typeface="Hind Siliguri" panose="02000000000000000000" pitchFamily="2" charset="0"/>
                <a:cs typeface="Hind Siliguri" panose="02000000000000000000" pitchFamily="2" charset="0"/>
              </a:rPr>
              <a:t>Celsius → Fahrenheit</a:t>
            </a:r>
            <a:endParaRPr lang="en-US" sz="3000" dirty="0">
              <a:latin typeface="Hind Siliguri" panose="02000000000000000000" pitchFamily="2" charset="0"/>
              <a:cs typeface="Hind Siliguri" panose="02000000000000000000" pitchFamily="2" charset="0"/>
            </a:endParaRPr>
          </a:p>
        </p:txBody>
      </p:sp>
      <p:sp>
        <p:nvSpPr>
          <p:cNvPr id="3" name="Problem badge"/>
          <p:cNvSpPr/>
          <p:nvPr/>
        </p:nvSpPr>
        <p:spPr>
          <a:xfrm>
            <a:off x="7406640" y="411480"/>
            <a:ext cx="1280160" cy="384048"/>
          </a:xfrm>
          <a:prstGeom prst="roundRect">
            <a:avLst>
              <a:gd name="adj" fmla="val 47619"/>
            </a:avLst>
          </a:prstGeom>
          <a:solidFill>
            <a:schemeClr val="accent1"/>
          </a:solidFill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chemeClr val="bg1"/>
                </a:solidFill>
                <a:latin typeface="Hind Siliguri" panose="02000000000000000000" pitchFamily="2" charset="0"/>
                <a:cs typeface="Hind Siliguri" panose="02000000000000000000" pitchFamily="2" charset="0"/>
              </a:rPr>
              <a:t>প্রব্লেম ৫/১০</a:t>
            </a:r>
            <a:endParaRPr lang="en-US" sz="1200" dirty="0">
              <a:latin typeface="Hind Siliguri" panose="02000000000000000000" pitchFamily="2" charset="0"/>
              <a:cs typeface="Hind Siliguri" panose="02000000000000000000" pitchFamily="2" charset="0"/>
            </a:endParaRPr>
          </a:p>
        </p:txBody>
      </p:sp>
      <p:sp>
        <p:nvSpPr>
          <p:cNvPr id="4" name="Statement card"/>
          <p:cNvSpPr/>
          <p:nvPr/>
        </p:nvSpPr>
        <p:spPr>
          <a:xfrm>
            <a:off x="457200" y="1234440"/>
            <a:ext cx="3840480" cy="1188720"/>
          </a:xfrm>
          <a:prstGeom prst="roundRect">
            <a:avLst>
              <a:gd name="adj" fmla="val 9231"/>
            </a:avLst>
          </a:prstGeom>
          <a:solidFill>
            <a:schemeClr val="bg2"/>
          </a:solidFill>
          <a:ln/>
        </p:spPr>
      </p:sp>
      <p:sp>
        <p:nvSpPr>
          <p:cNvPr id="5" name="Statement label"/>
          <p:cNvSpPr txBox="1"/>
          <p:nvPr/>
        </p:nvSpPr>
        <p:spPr>
          <a:xfrm>
            <a:off x="640080" y="1325880"/>
            <a:ext cx="3474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400" b="1" dirty="0">
                <a:solidFill>
                  <a:schemeClr val="accent1"/>
                </a:solidFill>
                <a:latin typeface="Hind Siliguri" panose="02000000000000000000" pitchFamily="2" charset="0"/>
                <a:cs typeface="Hind Siliguri" panose="02000000000000000000" pitchFamily="2" charset="0"/>
              </a:rPr>
              <a:t>সমস্যা</a:t>
            </a:r>
            <a:endParaRPr lang="en-US" sz="1400" dirty="0">
              <a:latin typeface="Hind Siliguri" panose="02000000000000000000" pitchFamily="2" charset="0"/>
              <a:cs typeface="Hind Siliguri" panose="02000000000000000000" pitchFamily="2" charset="0"/>
            </a:endParaRPr>
          </a:p>
        </p:txBody>
      </p:sp>
      <p:sp>
        <p:nvSpPr>
          <p:cNvPr id="6" name="Statement"/>
          <p:cNvSpPr txBox="1"/>
          <p:nvPr/>
        </p:nvSpPr>
        <p:spPr>
          <a:xfrm>
            <a:off x="640080" y="1627632"/>
            <a:ext cx="34747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400" dirty="0">
                <a:solidFill>
                  <a:schemeClr val="tx1"/>
                </a:solidFill>
                <a:latin typeface="Hind Siliguri" panose="02000000000000000000" pitchFamily="2" charset="0"/>
                <a:cs typeface="Hind Siliguri" panose="02000000000000000000" pitchFamily="2" charset="0"/>
              </a:rPr>
              <a:t>Java Program ব্যবহার করে Celsius থেকে Fahrenheit-এ তাপমাত্রা রূপান্তর কর।</a:t>
            </a:r>
            <a:endParaRPr lang="en-US" sz="1400" dirty="0">
              <a:latin typeface="Hind Siliguri" panose="02000000000000000000" pitchFamily="2" charset="0"/>
              <a:cs typeface="Hind Siliguri" panose="02000000000000000000" pitchFamily="2" charset="0"/>
            </a:endParaRPr>
          </a:p>
        </p:txBody>
      </p:sp>
      <p:sp>
        <p:nvSpPr>
          <p:cNvPr id="7" name="IO card"/>
          <p:cNvSpPr/>
          <p:nvPr/>
        </p:nvSpPr>
        <p:spPr>
          <a:xfrm>
            <a:off x="457200" y="2560320"/>
            <a:ext cx="3840480" cy="914400"/>
          </a:xfrm>
          <a:prstGeom prst="roundRect">
            <a:avLst>
              <a:gd name="adj" fmla="val 12000"/>
            </a:avLst>
          </a:prstGeom>
          <a:solidFill>
            <a:schemeClr val="bg2"/>
          </a:solidFill>
          <a:ln/>
        </p:spPr>
      </p:sp>
      <p:sp>
        <p:nvSpPr>
          <p:cNvPr id="8" name="IO text"/>
          <p:cNvSpPr txBox="1"/>
          <p:nvPr/>
        </p:nvSpPr>
        <p:spPr>
          <a:xfrm>
            <a:off x="640080" y="2633472"/>
            <a:ext cx="3474720" cy="8046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300" dirty="0">
                <a:solidFill>
                  <a:schemeClr val="tx1"/>
                </a:solidFill>
                <a:latin typeface="Hind Siliguri" panose="02000000000000000000" pitchFamily="2" charset="0"/>
                <a:cs typeface="Hind Siliguri" panose="02000000000000000000" pitchFamily="2" charset="0"/>
              </a:rPr>
              <a:t>ইনপুট: 100</a:t>
            </a:r>
            <a:endParaRPr lang="en-US" sz="1300" dirty="0">
              <a:latin typeface="Hind Siliguri" panose="02000000000000000000" pitchFamily="2" charset="0"/>
              <a:cs typeface="Hind Siliguri" panose="02000000000000000000" pitchFamily="2" charset="0"/>
            </a:endParaRPr>
          </a:p>
          <a:p>
            <a:pPr marL="0" indent="0">
              <a:buNone/>
            </a:pPr>
            <a:r>
              <a:rPr lang="en-US" sz="1300" dirty="0">
                <a:solidFill>
                  <a:schemeClr val="tx1"/>
                </a:solidFill>
                <a:latin typeface="Hind Siliguri" panose="02000000000000000000" pitchFamily="2" charset="0"/>
                <a:cs typeface="Hind Siliguri" panose="02000000000000000000" pitchFamily="2" charset="0"/>
              </a:rPr>
              <a:t>আউটপুট: Fahrenheit = 212.0</a:t>
            </a:r>
            <a:endParaRPr lang="en-US" sz="1300" dirty="0">
              <a:latin typeface="Hind Siliguri" panose="02000000000000000000" pitchFamily="2" charset="0"/>
              <a:cs typeface="Hind Siliguri" panose="02000000000000000000" pitchFamily="2" charset="0"/>
            </a:endParaRPr>
          </a:p>
        </p:txBody>
      </p:sp>
      <p:sp>
        <p:nvSpPr>
          <p:cNvPr id="9" name="Hint card"/>
          <p:cNvSpPr/>
          <p:nvPr/>
        </p:nvSpPr>
        <p:spPr>
          <a:xfrm>
            <a:off x="457200" y="3611880"/>
            <a:ext cx="3840480" cy="914400"/>
          </a:xfrm>
          <a:prstGeom prst="roundRect">
            <a:avLst>
              <a:gd name="adj" fmla="val 12000"/>
            </a:avLst>
          </a:prstGeom>
          <a:solidFill>
            <a:schemeClr val="bg2"/>
          </a:solidFill>
          <a:ln/>
        </p:spPr>
      </p:sp>
      <p:sp>
        <p:nvSpPr>
          <p:cNvPr id="10" name="Hint label"/>
          <p:cNvSpPr txBox="1"/>
          <p:nvPr/>
        </p:nvSpPr>
        <p:spPr>
          <a:xfrm>
            <a:off x="640080" y="3675888"/>
            <a:ext cx="3474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400" b="1" dirty="0">
                <a:solidFill>
                  <a:schemeClr val="accent3"/>
                </a:solidFill>
                <a:latin typeface="Hind Siliguri" panose="02000000000000000000" pitchFamily="2" charset="0"/>
                <a:cs typeface="Hind Siliguri" panose="02000000000000000000" pitchFamily="2" charset="0"/>
              </a:rPr>
              <a:t>আইডিয়া</a:t>
            </a:r>
            <a:endParaRPr lang="en-US" sz="1400" dirty="0">
              <a:latin typeface="Hind Siliguri" panose="02000000000000000000" pitchFamily="2" charset="0"/>
              <a:cs typeface="Hind Siliguri" panose="02000000000000000000" pitchFamily="2" charset="0"/>
            </a:endParaRPr>
          </a:p>
        </p:txBody>
      </p:sp>
      <p:sp>
        <p:nvSpPr>
          <p:cNvPr id="11" name="Hint"/>
          <p:cNvSpPr txBox="1"/>
          <p:nvPr/>
        </p:nvSpPr>
        <p:spPr>
          <a:xfrm>
            <a:off x="640080" y="3950208"/>
            <a:ext cx="34747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400" dirty="0">
                <a:solidFill>
                  <a:schemeClr val="tx1"/>
                </a:solidFill>
                <a:latin typeface="Hind Siliguri" panose="02000000000000000000" pitchFamily="2" charset="0"/>
                <a:cs typeface="Hind Siliguri" panose="02000000000000000000" pitchFamily="2" charset="0"/>
              </a:rPr>
              <a:t>F = C × 9/5 + 32। 9.0 / 5 লিখো, নাহলে ভাগফল পূর্ণসংখ্যা হবে।</a:t>
            </a:r>
            <a:endParaRPr lang="en-US" sz="1400" dirty="0">
              <a:latin typeface="Hind Siliguri" panose="02000000000000000000" pitchFamily="2" charset="0"/>
              <a:cs typeface="Hind Siliguri" panose="02000000000000000000" pitchFamily="2" charset="0"/>
            </a:endParaRPr>
          </a:p>
        </p:txBody>
      </p:sp>
      <p:sp>
        <p:nvSpPr>
          <p:cNvPr id="12" name="Code card"/>
          <p:cNvSpPr/>
          <p:nvPr/>
        </p:nvSpPr>
        <p:spPr>
          <a:xfrm>
            <a:off x="4480560" y="1234440"/>
            <a:ext cx="4206240" cy="3291840"/>
          </a:xfrm>
          <a:prstGeom prst="roundRect">
            <a:avLst>
              <a:gd name="adj" fmla="val 3333"/>
            </a:avLst>
          </a:prstGeom>
          <a:solidFill>
            <a:schemeClr val="tx1"/>
          </a:solidFill>
          <a:ln/>
        </p:spPr>
      </p:sp>
      <p:sp>
        <p:nvSpPr>
          <p:cNvPr id="13" name="Code label"/>
          <p:cNvSpPr txBox="1"/>
          <p:nvPr/>
        </p:nvSpPr>
        <p:spPr>
          <a:xfrm>
            <a:off x="4663440" y="1371600"/>
            <a:ext cx="3840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200" b="1" dirty="0">
                <a:solidFill>
                  <a:schemeClr val="accent4"/>
                </a:solidFill>
                <a:latin typeface="Hind Siliguri" panose="02000000000000000000" pitchFamily="2" charset="0"/>
                <a:cs typeface="Hind Siliguri" panose="02000000000000000000" pitchFamily="2" charset="0"/>
              </a:rPr>
              <a:t>Java কোড (main মেথডের ভেতরে)</a:t>
            </a:r>
            <a:endParaRPr lang="en-US" sz="1200" dirty="0">
              <a:latin typeface="Hind Siliguri" panose="02000000000000000000" pitchFamily="2" charset="0"/>
              <a:cs typeface="Hind Siliguri" panose="02000000000000000000" pitchFamily="2" charset="0"/>
            </a:endParaRPr>
          </a:p>
        </p:txBody>
      </p:sp>
      <p:sp>
        <p:nvSpPr>
          <p:cNvPr id="14" name="Code"/>
          <p:cNvSpPr txBox="1"/>
          <p:nvPr/>
        </p:nvSpPr>
        <p:spPr>
          <a:xfrm>
            <a:off x="4663440" y="1615440"/>
            <a:ext cx="3886200" cy="2651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r>
              <a:rPr lang="en-US" sz="1000" dirty="0">
                <a:solidFill>
                  <a:schemeClr val="bg1"/>
                </a:solidFill>
                <a:latin typeface="Monaco" panose="020B0500000000000000" pitchFamily="34" charset="0"/>
                <a:ea typeface="Courier New" pitchFamily="34" charset="-122"/>
                <a:cs typeface="Hind Siliguri" panose="02000000000000000000" pitchFamily="2" charset="0"/>
              </a:rPr>
              <a:t>import </a:t>
            </a:r>
            <a:r>
              <a:rPr lang="en-US" sz="1000" dirty="0" err="1">
                <a:solidFill>
                  <a:schemeClr val="bg1"/>
                </a:solidFill>
                <a:latin typeface="Monaco" panose="020B0500000000000000" pitchFamily="34" charset="0"/>
                <a:ea typeface="Courier New" pitchFamily="34" charset="-122"/>
                <a:cs typeface="Hind Siliguri" panose="02000000000000000000" pitchFamily="2" charset="0"/>
              </a:rPr>
              <a:t>java.util.Scanner</a:t>
            </a:r>
            <a:r>
              <a:rPr lang="en-US" sz="1000" dirty="0">
                <a:solidFill>
                  <a:schemeClr val="bg1"/>
                </a:solidFill>
                <a:latin typeface="Monaco" panose="020B0500000000000000" pitchFamily="34" charset="0"/>
                <a:ea typeface="Courier New" pitchFamily="34" charset="-122"/>
                <a:cs typeface="Hind Siliguri" panose="02000000000000000000" pitchFamily="2" charset="0"/>
              </a:rPr>
              <a:t>;</a:t>
            </a:r>
          </a:p>
          <a:p>
            <a:pPr marL="0" indent="0">
              <a:buNone/>
            </a:pPr>
            <a:endParaRPr lang="en-US" sz="1000" dirty="0">
              <a:solidFill>
                <a:schemeClr val="bg1"/>
              </a:solidFill>
              <a:latin typeface="Monaco" panose="020B0500000000000000" pitchFamily="34" charset="0"/>
              <a:ea typeface="Courier New" pitchFamily="34" charset="-122"/>
              <a:cs typeface="Hind Siliguri" panose="02000000000000000000" pitchFamily="2" charset="0"/>
            </a:endParaRPr>
          </a:p>
          <a:p>
            <a:pPr marL="0" indent="0">
              <a:buNone/>
            </a:pPr>
            <a:r>
              <a:rPr lang="en-US" sz="1000" dirty="0">
                <a:solidFill>
                  <a:schemeClr val="bg1"/>
                </a:solidFill>
                <a:latin typeface="Monaco" panose="020B0500000000000000" pitchFamily="34" charset="0"/>
                <a:ea typeface="Courier New" pitchFamily="34" charset="-122"/>
                <a:cs typeface="Hind Siliguri" panose="02000000000000000000" pitchFamily="2" charset="0"/>
              </a:rPr>
              <a:t>public class </a:t>
            </a:r>
            <a:r>
              <a:rPr lang="en-US" sz="1000" dirty="0" err="1">
                <a:solidFill>
                  <a:schemeClr val="bg1"/>
                </a:solidFill>
                <a:latin typeface="Monaco" panose="020B0500000000000000" pitchFamily="34" charset="0"/>
                <a:ea typeface="Courier New" pitchFamily="34" charset="-122"/>
                <a:cs typeface="Hind Siliguri" panose="02000000000000000000" pitchFamily="2" charset="0"/>
              </a:rPr>
              <a:t>CelsiusToFahrenheit</a:t>
            </a:r>
            <a:r>
              <a:rPr lang="en-US" sz="1000" dirty="0">
                <a:solidFill>
                  <a:schemeClr val="bg1"/>
                </a:solidFill>
                <a:latin typeface="Monaco" panose="020B0500000000000000" pitchFamily="34" charset="0"/>
                <a:ea typeface="Courier New" pitchFamily="34" charset="-122"/>
                <a:cs typeface="Hind Siliguri" panose="02000000000000000000" pitchFamily="2" charset="0"/>
              </a:rPr>
              <a:t> {</a:t>
            </a:r>
          </a:p>
          <a:p>
            <a:pPr marL="0" indent="0">
              <a:buNone/>
            </a:pPr>
            <a:r>
              <a:rPr lang="en-US" sz="1000" dirty="0">
                <a:solidFill>
                  <a:schemeClr val="bg1"/>
                </a:solidFill>
                <a:latin typeface="Monaco" panose="020B0500000000000000" pitchFamily="34" charset="0"/>
                <a:ea typeface="Courier New" pitchFamily="34" charset="-122"/>
                <a:cs typeface="Hind Siliguri" panose="02000000000000000000" pitchFamily="2" charset="0"/>
              </a:rPr>
              <a:t>    public static void main(String[] </a:t>
            </a:r>
            <a:r>
              <a:rPr lang="en-US" sz="1000" dirty="0" err="1">
                <a:solidFill>
                  <a:schemeClr val="bg1"/>
                </a:solidFill>
                <a:latin typeface="Monaco" panose="020B0500000000000000" pitchFamily="34" charset="0"/>
                <a:ea typeface="Courier New" pitchFamily="34" charset="-122"/>
                <a:cs typeface="Hind Siliguri" panose="02000000000000000000" pitchFamily="2" charset="0"/>
              </a:rPr>
              <a:t>args</a:t>
            </a:r>
            <a:r>
              <a:rPr lang="en-US" sz="1000" dirty="0">
                <a:solidFill>
                  <a:schemeClr val="bg1"/>
                </a:solidFill>
                <a:latin typeface="Monaco" panose="020B0500000000000000" pitchFamily="34" charset="0"/>
                <a:ea typeface="Courier New" pitchFamily="34" charset="-122"/>
                <a:cs typeface="Hind Siliguri" panose="02000000000000000000" pitchFamily="2" charset="0"/>
              </a:rPr>
              <a:t>) {</a:t>
            </a:r>
          </a:p>
          <a:p>
            <a:pPr marL="0" indent="0">
              <a:buNone/>
            </a:pPr>
            <a:r>
              <a:rPr lang="en-US" sz="1000" dirty="0">
                <a:solidFill>
                  <a:schemeClr val="bg1"/>
                </a:solidFill>
                <a:latin typeface="Monaco" panose="020B0500000000000000" pitchFamily="34" charset="0"/>
                <a:ea typeface="Courier New" pitchFamily="34" charset="-122"/>
                <a:cs typeface="Hind Siliguri" panose="02000000000000000000" pitchFamily="2" charset="0"/>
              </a:rPr>
              <a:t>        Scanner input = new Scanner(System.in);</a:t>
            </a:r>
          </a:p>
          <a:p>
            <a:pPr marL="0" indent="0">
              <a:buNone/>
            </a:pPr>
            <a:endParaRPr lang="en-US" sz="1000" dirty="0">
              <a:solidFill>
                <a:schemeClr val="bg1"/>
              </a:solidFill>
              <a:latin typeface="Monaco" panose="020B0500000000000000" pitchFamily="34" charset="0"/>
              <a:ea typeface="Courier New" pitchFamily="34" charset="-122"/>
              <a:cs typeface="Hind Siliguri" panose="02000000000000000000" pitchFamily="2" charset="0"/>
            </a:endParaRPr>
          </a:p>
          <a:p>
            <a:pPr marL="0" indent="0">
              <a:buNone/>
            </a:pPr>
            <a:r>
              <a:rPr lang="en-US" sz="1000" dirty="0">
                <a:solidFill>
                  <a:schemeClr val="bg1"/>
                </a:solidFill>
                <a:latin typeface="Monaco" panose="020B0500000000000000" pitchFamily="34" charset="0"/>
                <a:ea typeface="Courier New" pitchFamily="34" charset="-122"/>
                <a:cs typeface="Hind Siliguri" panose="02000000000000000000" pitchFamily="2" charset="0"/>
              </a:rPr>
              <a:t>        </a:t>
            </a:r>
            <a:r>
              <a:rPr lang="en-US" sz="1000" dirty="0" err="1">
                <a:solidFill>
                  <a:schemeClr val="bg1"/>
                </a:solidFill>
                <a:latin typeface="Monaco" panose="020B0500000000000000" pitchFamily="34" charset="0"/>
                <a:ea typeface="Courier New" pitchFamily="34" charset="-122"/>
                <a:cs typeface="Hind Siliguri" panose="02000000000000000000" pitchFamily="2" charset="0"/>
              </a:rPr>
              <a:t>System.out.print</a:t>
            </a:r>
            <a:r>
              <a:rPr lang="en-US" sz="1000" dirty="0">
                <a:solidFill>
                  <a:schemeClr val="bg1"/>
                </a:solidFill>
                <a:latin typeface="Monaco" panose="020B0500000000000000" pitchFamily="34" charset="0"/>
                <a:ea typeface="Courier New" pitchFamily="34" charset="-122"/>
                <a:cs typeface="Hind Siliguri" panose="02000000000000000000" pitchFamily="2" charset="0"/>
              </a:rPr>
              <a:t>("Enter temperature in Celsius: ");</a:t>
            </a:r>
          </a:p>
          <a:p>
            <a:pPr marL="0" indent="0">
              <a:buNone/>
            </a:pPr>
            <a:r>
              <a:rPr lang="en-US" sz="1000" dirty="0">
                <a:solidFill>
                  <a:schemeClr val="bg1"/>
                </a:solidFill>
                <a:latin typeface="Monaco" panose="020B0500000000000000" pitchFamily="34" charset="0"/>
                <a:ea typeface="Courier New" pitchFamily="34" charset="-122"/>
                <a:cs typeface="Hind Siliguri" panose="02000000000000000000" pitchFamily="2" charset="0"/>
              </a:rPr>
              <a:t>        double </a:t>
            </a:r>
            <a:r>
              <a:rPr lang="en-US" sz="1000" dirty="0" err="1">
                <a:solidFill>
                  <a:schemeClr val="bg1"/>
                </a:solidFill>
                <a:latin typeface="Monaco" panose="020B0500000000000000" pitchFamily="34" charset="0"/>
                <a:ea typeface="Courier New" pitchFamily="34" charset="-122"/>
                <a:cs typeface="Hind Siliguri" panose="02000000000000000000" pitchFamily="2" charset="0"/>
              </a:rPr>
              <a:t>celsius</a:t>
            </a:r>
            <a:r>
              <a:rPr lang="en-US" sz="1000" dirty="0">
                <a:solidFill>
                  <a:schemeClr val="bg1"/>
                </a:solidFill>
                <a:latin typeface="Monaco" panose="020B0500000000000000" pitchFamily="34" charset="0"/>
                <a:ea typeface="Courier New" pitchFamily="34" charset="-122"/>
                <a:cs typeface="Hind Siliguri" panose="02000000000000000000" pitchFamily="2" charset="0"/>
              </a:rPr>
              <a:t> = </a:t>
            </a:r>
            <a:r>
              <a:rPr lang="en-US" sz="1000" dirty="0" err="1">
                <a:solidFill>
                  <a:schemeClr val="bg1"/>
                </a:solidFill>
                <a:latin typeface="Monaco" panose="020B0500000000000000" pitchFamily="34" charset="0"/>
                <a:ea typeface="Courier New" pitchFamily="34" charset="-122"/>
                <a:cs typeface="Hind Siliguri" panose="02000000000000000000" pitchFamily="2" charset="0"/>
              </a:rPr>
              <a:t>input.nextDouble</a:t>
            </a:r>
            <a:r>
              <a:rPr lang="en-US" sz="1000" dirty="0">
                <a:solidFill>
                  <a:schemeClr val="bg1"/>
                </a:solidFill>
                <a:latin typeface="Monaco" panose="020B0500000000000000" pitchFamily="34" charset="0"/>
                <a:ea typeface="Courier New" pitchFamily="34" charset="-122"/>
                <a:cs typeface="Hind Siliguri" panose="02000000000000000000" pitchFamily="2" charset="0"/>
              </a:rPr>
              <a:t>();</a:t>
            </a:r>
          </a:p>
          <a:p>
            <a:pPr marL="0" indent="0">
              <a:buNone/>
            </a:pPr>
            <a:endParaRPr lang="en-US" sz="1000" dirty="0">
              <a:solidFill>
                <a:schemeClr val="bg1"/>
              </a:solidFill>
              <a:latin typeface="Monaco" panose="020B0500000000000000" pitchFamily="34" charset="0"/>
              <a:ea typeface="Courier New" pitchFamily="34" charset="-122"/>
              <a:cs typeface="Hind Siliguri" panose="02000000000000000000" pitchFamily="2" charset="0"/>
            </a:endParaRPr>
          </a:p>
          <a:p>
            <a:pPr marL="0" indent="0">
              <a:buNone/>
            </a:pPr>
            <a:r>
              <a:rPr lang="en-US" sz="1000" dirty="0">
                <a:solidFill>
                  <a:schemeClr val="bg1"/>
                </a:solidFill>
                <a:latin typeface="Monaco" panose="020B0500000000000000" pitchFamily="34" charset="0"/>
                <a:ea typeface="Courier New" pitchFamily="34" charset="-122"/>
                <a:cs typeface="Hind Siliguri" panose="02000000000000000000" pitchFamily="2" charset="0"/>
              </a:rPr>
              <a:t>        double </a:t>
            </a:r>
            <a:r>
              <a:rPr lang="en-US" sz="1000" dirty="0" err="1">
                <a:solidFill>
                  <a:schemeClr val="bg1"/>
                </a:solidFill>
                <a:latin typeface="Monaco" panose="020B0500000000000000" pitchFamily="34" charset="0"/>
                <a:ea typeface="Courier New" pitchFamily="34" charset="-122"/>
                <a:cs typeface="Hind Siliguri" panose="02000000000000000000" pitchFamily="2" charset="0"/>
              </a:rPr>
              <a:t>fahrenheit</a:t>
            </a:r>
            <a:r>
              <a:rPr lang="en-US" sz="1000" dirty="0">
                <a:solidFill>
                  <a:schemeClr val="bg1"/>
                </a:solidFill>
                <a:latin typeface="Monaco" panose="020B0500000000000000" pitchFamily="34" charset="0"/>
                <a:ea typeface="Courier New" pitchFamily="34" charset="-122"/>
                <a:cs typeface="Hind Siliguri" panose="02000000000000000000" pitchFamily="2" charset="0"/>
              </a:rPr>
              <a:t> = (</a:t>
            </a:r>
            <a:r>
              <a:rPr lang="en-US" sz="1000" dirty="0" err="1">
                <a:solidFill>
                  <a:schemeClr val="bg1"/>
                </a:solidFill>
                <a:latin typeface="Monaco" panose="020B0500000000000000" pitchFamily="34" charset="0"/>
                <a:ea typeface="Courier New" pitchFamily="34" charset="-122"/>
                <a:cs typeface="Hind Siliguri" panose="02000000000000000000" pitchFamily="2" charset="0"/>
              </a:rPr>
              <a:t>celsius</a:t>
            </a:r>
            <a:r>
              <a:rPr lang="en-US" sz="1000" dirty="0">
                <a:solidFill>
                  <a:schemeClr val="bg1"/>
                </a:solidFill>
                <a:latin typeface="Monaco" panose="020B0500000000000000" pitchFamily="34" charset="0"/>
                <a:ea typeface="Courier New" pitchFamily="34" charset="-122"/>
                <a:cs typeface="Hind Siliguri" panose="02000000000000000000" pitchFamily="2" charset="0"/>
              </a:rPr>
              <a:t> * 9 / 5) + 32;</a:t>
            </a:r>
          </a:p>
          <a:p>
            <a:pPr marL="0" indent="0">
              <a:buNone/>
            </a:pPr>
            <a:endParaRPr lang="en-US" sz="1000" dirty="0">
              <a:solidFill>
                <a:schemeClr val="bg1"/>
              </a:solidFill>
              <a:latin typeface="Monaco" panose="020B0500000000000000" pitchFamily="34" charset="0"/>
              <a:ea typeface="Courier New" pitchFamily="34" charset="-122"/>
              <a:cs typeface="Hind Siliguri" panose="02000000000000000000" pitchFamily="2" charset="0"/>
            </a:endParaRPr>
          </a:p>
          <a:p>
            <a:pPr marL="0" indent="0">
              <a:buNone/>
            </a:pPr>
            <a:r>
              <a:rPr lang="en-US" sz="1000" dirty="0">
                <a:solidFill>
                  <a:schemeClr val="bg1"/>
                </a:solidFill>
                <a:latin typeface="Monaco" panose="020B0500000000000000" pitchFamily="34" charset="0"/>
                <a:ea typeface="Courier New" pitchFamily="34" charset="-122"/>
                <a:cs typeface="Hind Siliguri" panose="02000000000000000000" pitchFamily="2" charset="0"/>
              </a:rPr>
              <a:t>        </a:t>
            </a:r>
            <a:r>
              <a:rPr lang="en-US" sz="1000" dirty="0" err="1">
                <a:solidFill>
                  <a:schemeClr val="bg1"/>
                </a:solidFill>
                <a:latin typeface="Monaco" panose="020B0500000000000000" pitchFamily="34" charset="0"/>
                <a:ea typeface="Courier New" pitchFamily="34" charset="-122"/>
                <a:cs typeface="Hind Siliguri" panose="02000000000000000000" pitchFamily="2" charset="0"/>
              </a:rPr>
              <a:t>System.out.println</a:t>
            </a:r>
            <a:r>
              <a:rPr lang="en-US" sz="1000" dirty="0">
                <a:solidFill>
                  <a:schemeClr val="bg1"/>
                </a:solidFill>
                <a:latin typeface="Monaco" panose="020B0500000000000000" pitchFamily="34" charset="0"/>
                <a:ea typeface="Courier New" pitchFamily="34" charset="-122"/>
                <a:cs typeface="Hind Siliguri" panose="02000000000000000000" pitchFamily="2" charset="0"/>
              </a:rPr>
              <a:t>("Temperature in Fahrenheit = " + </a:t>
            </a:r>
            <a:r>
              <a:rPr lang="en-US" sz="1000" dirty="0" err="1">
                <a:solidFill>
                  <a:schemeClr val="bg1"/>
                </a:solidFill>
                <a:latin typeface="Monaco" panose="020B0500000000000000" pitchFamily="34" charset="0"/>
                <a:ea typeface="Courier New" pitchFamily="34" charset="-122"/>
                <a:cs typeface="Hind Siliguri" panose="02000000000000000000" pitchFamily="2" charset="0"/>
              </a:rPr>
              <a:t>fahrenheit</a:t>
            </a:r>
            <a:r>
              <a:rPr lang="en-US" sz="1000" dirty="0">
                <a:solidFill>
                  <a:schemeClr val="bg1"/>
                </a:solidFill>
                <a:latin typeface="Monaco" panose="020B0500000000000000" pitchFamily="34" charset="0"/>
                <a:ea typeface="Courier New" pitchFamily="34" charset="-122"/>
                <a:cs typeface="Hind Siliguri" panose="02000000000000000000" pitchFamily="2" charset="0"/>
              </a:rPr>
              <a:t>);</a:t>
            </a:r>
          </a:p>
          <a:p>
            <a:pPr marL="0" indent="0">
              <a:buNone/>
            </a:pPr>
            <a:r>
              <a:rPr lang="en-US" sz="1000" dirty="0">
                <a:solidFill>
                  <a:schemeClr val="bg1"/>
                </a:solidFill>
                <a:latin typeface="Monaco" panose="020B0500000000000000" pitchFamily="34" charset="0"/>
                <a:ea typeface="Courier New" pitchFamily="34" charset="-122"/>
                <a:cs typeface="Hind Siliguri" panose="02000000000000000000" pitchFamily="2" charset="0"/>
              </a:rPr>
              <a:t>    }</a:t>
            </a:r>
          </a:p>
          <a:p>
            <a:pPr marL="0" indent="0">
              <a:buNone/>
            </a:pPr>
            <a:r>
              <a:rPr lang="en-US" sz="1000" dirty="0">
                <a:solidFill>
                  <a:schemeClr val="bg1"/>
                </a:solidFill>
                <a:latin typeface="Monaco" panose="020B0500000000000000" pitchFamily="34" charset="0"/>
                <a:ea typeface="Courier New" pitchFamily="34" charset="-122"/>
                <a:cs typeface="Hind Siliguri" panose="02000000000000000000" pitchFamily="2" charset="0"/>
              </a:rPr>
              <a:t>}</a:t>
            </a:r>
            <a:endParaRPr lang="en-US" sz="1000" dirty="0">
              <a:latin typeface="Monaco" panose="020B0500000000000000" pitchFamily="34" charset="0"/>
              <a:cs typeface="Hind Siliguri" panose="02000000000000000000" pitchFamily="2" charset="0"/>
            </a:endParaRPr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70916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=""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6"/>
                </a:solidFill>
              </a:defRPr>
            </a:lvl1pPr>
          </a:lstStyle>
          <a:p>
            <a:pPr algn="l"/>
            <a:fld id="{F7021451-1387-4CA6-816F-3879F97B5CBC}" type="slidenum">
              <a:rPr lang="en-US" b="0">
                <a:latin typeface="Hind Siliguri" panose="02000000000000000000" pitchFamily="2" charset="0"/>
                <a:cs typeface="Hind Siliguri" panose="02000000000000000000" pitchFamily="2" charset="0"/>
              </a:rPr>
              <a:t>10</a:t>
            </a:fld>
            <a:endParaRPr lang="en-US">
              <a:latin typeface="Hind Siliguri" panose="02000000000000000000" pitchFamily="2" charset="0"/>
              <a:cs typeface="Hind Siliguri" panose="02000000000000000000" pitchFamily="2" charset="0"/>
            </a:endParaRP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>
            <a:spLocks noGrp="1"/>
          </p:cNvSpPr>
          <p:nvPr>
            <p:ph type="title" idx="100" hasCustomPrompt="1"/>
          </p:nvPr>
        </p:nvSpPr>
        <p:spPr>
          <a:xfrm>
            <a:off x="457200" y="274320"/>
            <a:ext cx="82296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3000" b="1" dirty="0">
                <a:solidFill>
                  <a:schemeClr val="tx2"/>
                </a:solidFill>
                <a:latin typeface="Hind Siliguri" panose="02000000000000000000" pitchFamily="2" charset="0"/>
                <a:cs typeface="Hind Siliguri" panose="02000000000000000000" pitchFamily="2" charset="0"/>
              </a:rPr>
              <a:t>মিনিট → ঘণ্টা ও মিনিট</a:t>
            </a:r>
            <a:endParaRPr lang="en-US" sz="3000" dirty="0">
              <a:latin typeface="Hind Siliguri" panose="02000000000000000000" pitchFamily="2" charset="0"/>
              <a:cs typeface="Hind Siliguri" panose="02000000000000000000" pitchFamily="2" charset="0"/>
            </a:endParaRPr>
          </a:p>
        </p:txBody>
      </p:sp>
      <p:sp>
        <p:nvSpPr>
          <p:cNvPr id="3" name="Problem badge"/>
          <p:cNvSpPr/>
          <p:nvPr/>
        </p:nvSpPr>
        <p:spPr>
          <a:xfrm>
            <a:off x="7406640" y="411480"/>
            <a:ext cx="1280160" cy="384048"/>
          </a:xfrm>
          <a:prstGeom prst="roundRect">
            <a:avLst>
              <a:gd name="adj" fmla="val 47619"/>
            </a:avLst>
          </a:prstGeom>
          <a:solidFill>
            <a:schemeClr val="accent1"/>
          </a:solidFill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chemeClr val="bg1"/>
                </a:solidFill>
                <a:latin typeface="Hind Siliguri" panose="02000000000000000000" pitchFamily="2" charset="0"/>
                <a:cs typeface="Hind Siliguri" panose="02000000000000000000" pitchFamily="2" charset="0"/>
              </a:rPr>
              <a:t>প্রব্লেম ৬/১০</a:t>
            </a:r>
            <a:endParaRPr lang="en-US" sz="1200" dirty="0">
              <a:latin typeface="Hind Siliguri" panose="02000000000000000000" pitchFamily="2" charset="0"/>
              <a:cs typeface="Hind Siliguri" panose="02000000000000000000" pitchFamily="2" charset="0"/>
            </a:endParaRPr>
          </a:p>
        </p:txBody>
      </p:sp>
      <p:sp>
        <p:nvSpPr>
          <p:cNvPr id="4" name="Statement card"/>
          <p:cNvSpPr/>
          <p:nvPr/>
        </p:nvSpPr>
        <p:spPr>
          <a:xfrm>
            <a:off x="457200" y="1234440"/>
            <a:ext cx="3840480" cy="1188720"/>
          </a:xfrm>
          <a:prstGeom prst="roundRect">
            <a:avLst>
              <a:gd name="adj" fmla="val 9231"/>
            </a:avLst>
          </a:prstGeom>
          <a:solidFill>
            <a:schemeClr val="bg2"/>
          </a:solidFill>
          <a:ln/>
        </p:spPr>
      </p:sp>
      <p:sp>
        <p:nvSpPr>
          <p:cNvPr id="5" name="Statement label"/>
          <p:cNvSpPr txBox="1"/>
          <p:nvPr/>
        </p:nvSpPr>
        <p:spPr>
          <a:xfrm>
            <a:off x="640080" y="1325880"/>
            <a:ext cx="3474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400" b="1" dirty="0">
                <a:solidFill>
                  <a:schemeClr val="accent1"/>
                </a:solidFill>
                <a:latin typeface="Hind Siliguri" panose="02000000000000000000" pitchFamily="2" charset="0"/>
                <a:cs typeface="Hind Siliguri" panose="02000000000000000000" pitchFamily="2" charset="0"/>
              </a:rPr>
              <a:t>সমস্যা</a:t>
            </a:r>
            <a:endParaRPr lang="en-US" sz="1400" dirty="0">
              <a:latin typeface="Hind Siliguri" panose="02000000000000000000" pitchFamily="2" charset="0"/>
              <a:cs typeface="Hind Siliguri" panose="02000000000000000000" pitchFamily="2" charset="0"/>
            </a:endParaRPr>
          </a:p>
        </p:txBody>
      </p:sp>
      <p:sp>
        <p:nvSpPr>
          <p:cNvPr id="6" name="Statement"/>
          <p:cNvSpPr txBox="1"/>
          <p:nvPr/>
        </p:nvSpPr>
        <p:spPr>
          <a:xfrm>
            <a:off x="640080" y="1627632"/>
            <a:ext cx="34747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400" dirty="0">
                <a:solidFill>
                  <a:schemeClr val="tx1"/>
                </a:solidFill>
                <a:latin typeface="Hind Siliguri" panose="02000000000000000000" pitchFamily="2" charset="0"/>
                <a:cs typeface="Hind Siliguri" panose="02000000000000000000" pitchFamily="2" charset="0"/>
              </a:rPr>
              <a:t>Java Program ব্যবহার করে মোট মিনিটকে ঘণ্টা ও মিনিটে রূপান্তর কর।</a:t>
            </a:r>
            <a:endParaRPr lang="en-US" sz="1400" dirty="0">
              <a:latin typeface="Hind Siliguri" panose="02000000000000000000" pitchFamily="2" charset="0"/>
              <a:cs typeface="Hind Siliguri" panose="02000000000000000000" pitchFamily="2" charset="0"/>
            </a:endParaRPr>
          </a:p>
        </p:txBody>
      </p:sp>
      <p:sp>
        <p:nvSpPr>
          <p:cNvPr id="7" name="IO card"/>
          <p:cNvSpPr/>
          <p:nvPr/>
        </p:nvSpPr>
        <p:spPr>
          <a:xfrm>
            <a:off x="457200" y="2560320"/>
            <a:ext cx="3840480" cy="914400"/>
          </a:xfrm>
          <a:prstGeom prst="roundRect">
            <a:avLst>
              <a:gd name="adj" fmla="val 12000"/>
            </a:avLst>
          </a:prstGeom>
          <a:solidFill>
            <a:schemeClr val="bg2"/>
          </a:solidFill>
          <a:ln/>
        </p:spPr>
      </p:sp>
      <p:sp>
        <p:nvSpPr>
          <p:cNvPr id="8" name="IO text"/>
          <p:cNvSpPr txBox="1"/>
          <p:nvPr/>
        </p:nvSpPr>
        <p:spPr>
          <a:xfrm>
            <a:off x="640080" y="2633472"/>
            <a:ext cx="3474720" cy="8046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300" dirty="0">
                <a:solidFill>
                  <a:schemeClr val="tx1"/>
                </a:solidFill>
                <a:latin typeface="Hind Siliguri" panose="02000000000000000000" pitchFamily="2" charset="0"/>
                <a:cs typeface="Hind Siliguri" panose="02000000000000000000" pitchFamily="2" charset="0"/>
              </a:rPr>
              <a:t>ইনপুট: 135</a:t>
            </a:r>
            <a:endParaRPr lang="en-US" sz="1300" dirty="0">
              <a:latin typeface="Hind Siliguri" panose="02000000000000000000" pitchFamily="2" charset="0"/>
              <a:cs typeface="Hind Siliguri" panose="02000000000000000000" pitchFamily="2" charset="0"/>
            </a:endParaRPr>
          </a:p>
          <a:p>
            <a:pPr marL="0" indent="0">
              <a:buNone/>
            </a:pPr>
            <a:r>
              <a:rPr lang="en-US" sz="1300" dirty="0">
                <a:solidFill>
                  <a:schemeClr val="tx1"/>
                </a:solidFill>
                <a:latin typeface="Hind Siliguri" panose="02000000000000000000" pitchFamily="2" charset="0"/>
                <a:cs typeface="Hind Siliguri" panose="02000000000000000000" pitchFamily="2" charset="0"/>
              </a:rPr>
              <a:t>আউটপুট:</a:t>
            </a:r>
            <a:endParaRPr lang="en-US" sz="1300" dirty="0">
              <a:latin typeface="Hind Siliguri" panose="02000000000000000000" pitchFamily="2" charset="0"/>
              <a:cs typeface="Hind Siliguri" panose="02000000000000000000" pitchFamily="2" charset="0"/>
            </a:endParaRPr>
          </a:p>
          <a:p>
            <a:pPr marL="0" indent="0">
              <a:buNone/>
            </a:pPr>
            <a:r>
              <a:rPr lang="en-US" sz="1300" dirty="0">
                <a:solidFill>
                  <a:schemeClr val="tx1"/>
                </a:solidFill>
                <a:latin typeface="Hind Siliguri" panose="02000000000000000000" pitchFamily="2" charset="0"/>
                <a:cs typeface="Hind Siliguri" panose="02000000000000000000" pitchFamily="2" charset="0"/>
              </a:rPr>
              <a:t>Hours = 2</a:t>
            </a:r>
            <a:endParaRPr lang="en-US" sz="1300" dirty="0">
              <a:latin typeface="Hind Siliguri" panose="02000000000000000000" pitchFamily="2" charset="0"/>
              <a:cs typeface="Hind Siliguri" panose="02000000000000000000" pitchFamily="2" charset="0"/>
            </a:endParaRPr>
          </a:p>
          <a:p>
            <a:pPr marL="0" indent="0">
              <a:buNone/>
            </a:pPr>
            <a:r>
              <a:rPr lang="en-US" sz="1300" dirty="0">
                <a:solidFill>
                  <a:schemeClr val="tx1"/>
                </a:solidFill>
                <a:latin typeface="Hind Siliguri" panose="02000000000000000000" pitchFamily="2" charset="0"/>
                <a:cs typeface="Hind Siliguri" panose="02000000000000000000" pitchFamily="2" charset="0"/>
              </a:rPr>
              <a:t>Minutes = 15</a:t>
            </a:r>
            <a:endParaRPr lang="en-US" sz="1300" dirty="0">
              <a:latin typeface="Hind Siliguri" panose="02000000000000000000" pitchFamily="2" charset="0"/>
              <a:cs typeface="Hind Siliguri" panose="02000000000000000000" pitchFamily="2" charset="0"/>
            </a:endParaRPr>
          </a:p>
        </p:txBody>
      </p:sp>
      <p:sp>
        <p:nvSpPr>
          <p:cNvPr id="9" name="Hint card"/>
          <p:cNvSpPr/>
          <p:nvPr/>
        </p:nvSpPr>
        <p:spPr>
          <a:xfrm>
            <a:off x="457200" y="3611880"/>
            <a:ext cx="3840480" cy="914400"/>
          </a:xfrm>
          <a:prstGeom prst="roundRect">
            <a:avLst>
              <a:gd name="adj" fmla="val 12000"/>
            </a:avLst>
          </a:prstGeom>
          <a:solidFill>
            <a:schemeClr val="bg2"/>
          </a:solidFill>
          <a:ln/>
        </p:spPr>
      </p:sp>
      <p:sp>
        <p:nvSpPr>
          <p:cNvPr id="10" name="Hint label"/>
          <p:cNvSpPr txBox="1"/>
          <p:nvPr/>
        </p:nvSpPr>
        <p:spPr>
          <a:xfrm>
            <a:off x="640080" y="3675888"/>
            <a:ext cx="3474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400" b="1" dirty="0">
                <a:solidFill>
                  <a:schemeClr val="accent3"/>
                </a:solidFill>
                <a:latin typeface="Hind Siliguri" panose="02000000000000000000" pitchFamily="2" charset="0"/>
                <a:cs typeface="Hind Siliguri" panose="02000000000000000000" pitchFamily="2" charset="0"/>
              </a:rPr>
              <a:t>আইডিয়া</a:t>
            </a:r>
            <a:endParaRPr lang="en-US" sz="1400" dirty="0">
              <a:latin typeface="Hind Siliguri" panose="02000000000000000000" pitchFamily="2" charset="0"/>
              <a:cs typeface="Hind Siliguri" panose="02000000000000000000" pitchFamily="2" charset="0"/>
            </a:endParaRPr>
          </a:p>
        </p:txBody>
      </p:sp>
      <p:sp>
        <p:nvSpPr>
          <p:cNvPr id="11" name="Hint"/>
          <p:cNvSpPr txBox="1"/>
          <p:nvPr/>
        </p:nvSpPr>
        <p:spPr>
          <a:xfrm>
            <a:off x="640080" y="3950208"/>
            <a:ext cx="34747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400" dirty="0">
                <a:solidFill>
                  <a:schemeClr val="tx1"/>
                </a:solidFill>
                <a:latin typeface="Hind Siliguri" panose="02000000000000000000" pitchFamily="2" charset="0"/>
                <a:cs typeface="Hind Siliguri" panose="02000000000000000000" pitchFamily="2" charset="0"/>
              </a:rPr>
              <a:t>ঘণ্টা = মোট / ৬০ (ভাগফল), মিনিট = মোট % ৬০ (ভাগশেষ)।</a:t>
            </a:r>
            <a:endParaRPr lang="en-US" sz="1400" dirty="0">
              <a:latin typeface="Hind Siliguri" panose="02000000000000000000" pitchFamily="2" charset="0"/>
              <a:cs typeface="Hind Siliguri" panose="02000000000000000000" pitchFamily="2" charset="0"/>
            </a:endParaRPr>
          </a:p>
        </p:txBody>
      </p:sp>
      <p:sp>
        <p:nvSpPr>
          <p:cNvPr id="12" name="Code card"/>
          <p:cNvSpPr/>
          <p:nvPr/>
        </p:nvSpPr>
        <p:spPr>
          <a:xfrm>
            <a:off x="4480560" y="1234440"/>
            <a:ext cx="4206240" cy="3291840"/>
          </a:xfrm>
          <a:prstGeom prst="roundRect">
            <a:avLst>
              <a:gd name="adj" fmla="val 3333"/>
            </a:avLst>
          </a:prstGeom>
          <a:solidFill>
            <a:schemeClr val="tx1"/>
          </a:solidFill>
          <a:ln/>
        </p:spPr>
      </p:sp>
      <p:sp>
        <p:nvSpPr>
          <p:cNvPr id="13" name="Code label"/>
          <p:cNvSpPr txBox="1"/>
          <p:nvPr/>
        </p:nvSpPr>
        <p:spPr>
          <a:xfrm>
            <a:off x="4663440" y="1371600"/>
            <a:ext cx="3840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200" b="1" dirty="0">
                <a:solidFill>
                  <a:schemeClr val="accent4"/>
                </a:solidFill>
                <a:latin typeface="Hind Siliguri" panose="02000000000000000000" pitchFamily="2" charset="0"/>
                <a:cs typeface="Hind Siliguri" panose="02000000000000000000" pitchFamily="2" charset="0"/>
              </a:rPr>
              <a:t>Java কোড (main মেথডের ভেতরে)</a:t>
            </a:r>
            <a:endParaRPr lang="en-US" sz="1200" dirty="0">
              <a:latin typeface="Hind Siliguri" panose="02000000000000000000" pitchFamily="2" charset="0"/>
              <a:cs typeface="Hind Siliguri" panose="02000000000000000000" pitchFamily="2" charset="0"/>
            </a:endParaRPr>
          </a:p>
        </p:txBody>
      </p:sp>
      <p:sp>
        <p:nvSpPr>
          <p:cNvPr id="14" name="Code"/>
          <p:cNvSpPr txBox="1"/>
          <p:nvPr/>
        </p:nvSpPr>
        <p:spPr>
          <a:xfrm>
            <a:off x="4663440" y="1709928"/>
            <a:ext cx="3886200" cy="2651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r>
              <a:rPr lang="en-US" sz="1000" dirty="0">
                <a:solidFill>
                  <a:schemeClr val="bg1"/>
                </a:solidFill>
                <a:latin typeface="Monaco" panose="020B0500000000000000" pitchFamily="34" charset="0"/>
                <a:ea typeface="Courier New" pitchFamily="34" charset="-122"/>
                <a:cs typeface="Hind Siliguri" panose="02000000000000000000" pitchFamily="2" charset="0"/>
              </a:rPr>
              <a:t>import </a:t>
            </a:r>
            <a:r>
              <a:rPr lang="en-US" sz="1000" dirty="0" err="1">
                <a:solidFill>
                  <a:schemeClr val="bg1"/>
                </a:solidFill>
                <a:latin typeface="Monaco" panose="020B0500000000000000" pitchFamily="34" charset="0"/>
                <a:ea typeface="Courier New" pitchFamily="34" charset="-122"/>
                <a:cs typeface="Hind Siliguri" panose="02000000000000000000" pitchFamily="2" charset="0"/>
              </a:rPr>
              <a:t>java.util.Scanner</a:t>
            </a:r>
            <a:r>
              <a:rPr lang="en-US" sz="1000" dirty="0">
                <a:solidFill>
                  <a:schemeClr val="bg1"/>
                </a:solidFill>
                <a:latin typeface="Monaco" panose="020B0500000000000000" pitchFamily="34" charset="0"/>
                <a:ea typeface="Courier New" pitchFamily="34" charset="-122"/>
                <a:cs typeface="Hind Siliguri" panose="02000000000000000000" pitchFamily="2" charset="0"/>
              </a:rPr>
              <a:t>;</a:t>
            </a:r>
          </a:p>
          <a:p>
            <a:pPr marL="0" indent="0">
              <a:buNone/>
            </a:pPr>
            <a:endParaRPr lang="en-US" sz="1000" dirty="0">
              <a:solidFill>
                <a:schemeClr val="bg1"/>
              </a:solidFill>
              <a:latin typeface="Monaco" panose="020B0500000000000000" pitchFamily="34" charset="0"/>
              <a:ea typeface="Courier New" pitchFamily="34" charset="-122"/>
              <a:cs typeface="Hind Siliguri" panose="02000000000000000000" pitchFamily="2" charset="0"/>
            </a:endParaRPr>
          </a:p>
          <a:p>
            <a:pPr marL="0" indent="0">
              <a:buNone/>
            </a:pPr>
            <a:r>
              <a:rPr lang="en-US" sz="1000" dirty="0">
                <a:solidFill>
                  <a:schemeClr val="bg1"/>
                </a:solidFill>
                <a:latin typeface="Monaco" panose="020B0500000000000000" pitchFamily="34" charset="0"/>
                <a:ea typeface="Courier New" pitchFamily="34" charset="-122"/>
                <a:cs typeface="Hind Siliguri" panose="02000000000000000000" pitchFamily="2" charset="0"/>
              </a:rPr>
              <a:t>public class </a:t>
            </a:r>
            <a:r>
              <a:rPr lang="en-US" sz="1000" dirty="0" err="1">
                <a:solidFill>
                  <a:schemeClr val="bg1"/>
                </a:solidFill>
                <a:latin typeface="Monaco" panose="020B0500000000000000" pitchFamily="34" charset="0"/>
                <a:ea typeface="Courier New" pitchFamily="34" charset="-122"/>
                <a:cs typeface="Hind Siliguri" panose="02000000000000000000" pitchFamily="2" charset="0"/>
              </a:rPr>
              <a:t>MinutesToHours</a:t>
            </a:r>
            <a:r>
              <a:rPr lang="en-US" sz="1000" dirty="0">
                <a:solidFill>
                  <a:schemeClr val="bg1"/>
                </a:solidFill>
                <a:latin typeface="Monaco" panose="020B0500000000000000" pitchFamily="34" charset="0"/>
                <a:ea typeface="Courier New" pitchFamily="34" charset="-122"/>
                <a:cs typeface="Hind Siliguri" panose="02000000000000000000" pitchFamily="2" charset="0"/>
              </a:rPr>
              <a:t> {</a:t>
            </a:r>
          </a:p>
          <a:p>
            <a:pPr marL="0" indent="0">
              <a:buNone/>
            </a:pPr>
            <a:r>
              <a:rPr lang="en-US" sz="1000" dirty="0">
                <a:solidFill>
                  <a:schemeClr val="bg1"/>
                </a:solidFill>
                <a:latin typeface="Monaco" panose="020B0500000000000000" pitchFamily="34" charset="0"/>
                <a:ea typeface="Courier New" pitchFamily="34" charset="-122"/>
                <a:cs typeface="Hind Siliguri" panose="02000000000000000000" pitchFamily="2" charset="0"/>
              </a:rPr>
              <a:t>    public static void main(String[] </a:t>
            </a:r>
            <a:r>
              <a:rPr lang="en-US" sz="1000" dirty="0" err="1">
                <a:solidFill>
                  <a:schemeClr val="bg1"/>
                </a:solidFill>
                <a:latin typeface="Monaco" panose="020B0500000000000000" pitchFamily="34" charset="0"/>
                <a:ea typeface="Courier New" pitchFamily="34" charset="-122"/>
                <a:cs typeface="Hind Siliguri" panose="02000000000000000000" pitchFamily="2" charset="0"/>
              </a:rPr>
              <a:t>args</a:t>
            </a:r>
            <a:r>
              <a:rPr lang="en-US" sz="1000" dirty="0">
                <a:solidFill>
                  <a:schemeClr val="bg1"/>
                </a:solidFill>
                <a:latin typeface="Monaco" panose="020B0500000000000000" pitchFamily="34" charset="0"/>
                <a:ea typeface="Courier New" pitchFamily="34" charset="-122"/>
                <a:cs typeface="Hind Siliguri" panose="02000000000000000000" pitchFamily="2" charset="0"/>
              </a:rPr>
              <a:t>) {</a:t>
            </a:r>
          </a:p>
          <a:p>
            <a:pPr marL="0" indent="0">
              <a:buNone/>
            </a:pPr>
            <a:r>
              <a:rPr lang="en-US" sz="1000" dirty="0">
                <a:solidFill>
                  <a:schemeClr val="bg1"/>
                </a:solidFill>
                <a:latin typeface="Monaco" panose="020B0500000000000000" pitchFamily="34" charset="0"/>
                <a:ea typeface="Courier New" pitchFamily="34" charset="-122"/>
                <a:cs typeface="Hind Siliguri" panose="02000000000000000000" pitchFamily="2" charset="0"/>
              </a:rPr>
              <a:t>        Scanner input = new Scanner(System.in);</a:t>
            </a:r>
          </a:p>
          <a:p>
            <a:pPr marL="0" indent="0">
              <a:buNone/>
            </a:pPr>
            <a:endParaRPr lang="en-US" sz="1000" dirty="0">
              <a:solidFill>
                <a:schemeClr val="bg1"/>
              </a:solidFill>
              <a:latin typeface="Monaco" panose="020B0500000000000000" pitchFamily="34" charset="0"/>
              <a:ea typeface="Courier New" pitchFamily="34" charset="-122"/>
              <a:cs typeface="Hind Siliguri" panose="02000000000000000000" pitchFamily="2" charset="0"/>
            </a:endParaRPr>
          </a:p>
          <a:p>
            <a:pPr marL="0" indent="0">
              <a:buNone/>
            </a:pPr>
            <a:r>
              <a:rPr lang="en-US" sz="1000" dirty="0">
                <a:solidFill>
                  <a:schemeClr val="bg1"/>
                </a:solidFill>
                <a:latin typeface="Monaco" panose="020B0500000000000000" pitchFamily="34" charset="0"/>
                <a:ea typeface="Courier New" pitchFamily="34" charset="-122"/>
                <a:cs typeface="Hind Siliguri" panose="02000000000000000000" pitchFamily="2" charset="0"/>
              </a:rPr>
              <a:t>        </a:t>
            </a:r>
            <a:r>
              <a:rPr lang="en-US" sz="1000" dirty="0" err="1">
                <a:solidFill>
                  <a:schemeClr val="bg1"/>
                </a:solidFill>
                <a:latin typeface="Monaco" panose="020B0500000000000000" pitchFamily="34" charset="0"/>
                <a:ea typeface="Courier New" pitchFamily="34" charset="-122"/>
                <a:cs typeface="Hind Siliguri" panose="02000000000000000000" pitchFamily="2" charset="0"/>
              </a:rPr>
              <a:t>System.out.print</a:t>
            </a:r>
            <a:r>
              <a:rPr lang="en-US" sz="1000" dirty="0">
                <a:solidFill>
                  <a:schemeClr val="bg1"/>
                </a:solidFill>
                <a:latin typeface="Monaco" panose="020B0500000000000000" pitchFamily="34" charset="0"/>
                <a:ea typeface="Courier New" pitchFamily="34" charset="-122"/>
                <a:cs typeface="Hind Siliguri" panose="02000000000000000000" pitchFamily="2" charset="0"/>
              </a:rPr>
              <a:t>("Enter total minutes: ");</a:t>
            </a:r>
          </a:p>
          <a:p>
            <a:pPr marL="0" indent="0">
              <a:buNone/>
            </a:pPr>
            <a:r>
              <a:rPr lang="en-US" sz="1000" dirty="0">
                <a:solidFill>
                  <a:schemeClr val="bg1"/>
                </a:solidFill>
                <a:latin typeface="Monaco" panose="020B0500000000000000" pitchFamily="34" charset="0"/>
                <a:ea typeface="Courier New" pitchFamily="34" charset="-122"/>
                <a:cs typeface="Hind Siliguri" panose="02000000000000000000" pitchFamily="2" charset="0"/>
              </a:rPr>
              <a:t>        int </a:t>
            </a:r>
            <a:r>
              <a:rPr lang="en-US" sz="1000" dirty="0" err="1">
                <a:solidFill>
                  <a:schemeClr val="bg1"/>
                </a:solidFill>
                <a:latin typeface="Monaco" panose="020B0500000000000000" pitchFamily="34" charset="0"/>
                <a:ea typeface="Courier New" pitchFamily="34" charset="-122"/>
                <a:cs typeface="Hind Siliguri" panose="02000000000000000000" pitchFamily="2" charset="0"/>
              </a:rPr>
              <a:t>totalMinutes</a:t>
            </a:r>
            <a:r>
              <a:rPr lang="en-US" sz="1000" dirty="0">
                <a:solidFill>
                  <a:schemeClr val="bg1"/>
                </a:solidFill>
                <a:latin typeface="Monaco" panose="020B0500000000000000" pitchFamily="34" charset="0"/>
                <a:ea typeface="Courier New" pitchFamily="34" charset="-122"/>
                <a:cs typeface="Hind Siliguri" panose="02000000000000000000" pitchFamily="2" charset="0"/>
              </a:rPr>
              <a:t> = </a:t>
            </a:r>
            <a:r>
              <a:rPr lang="en-US" sz="1000" dirty="0" err="1">
                <a:solidFill>
                  <a:schemeClr val="bg1"/>
                </a:solidFill>
                <a:latin typeface="Monaco" panose="020B0500000000000000" pitchFamily="34" charset="0"/>
                <a:ea typeface="Courier New" pitchFamily="34" charset="-122"/>
                <a:cs typeface="Hind Siliguri" panose="02000000000000000000" pitchFamily="2" charset="0"/>
              </a:rPr>
              <a:t>input.nextInt</a:t>
            </a:r>
            <a:r>
              <a:rPr lang="en-US" sz="1000" dirty="0">
                <a:solidFill>
                  <a:schemeClr val="bg1"/>
                </a:solidFill>
                <a:latin typeface="Monaco" panose="020B0500000000000000" pitchFamily="34" charset="0"/>
                <a:ea typeface="Courier New" pitchFamily="34" charset="-122"/>
                <a:cs typeface="Hind Siliguri" panose="02000000000000000000" pitchFamily="2" charset="0"/>
              </a:rPr>
              <a:t>();</a:t>
            </a:r>
          </a:p>
          <a:p>
            <a:pPr marL="0" indent="0">
              <a:buNone/>
            </a:pPr>
            <a:endParaRPr lang="en-US" sz="1000" dirty="0">
              <a:solidFill>
                <a:schemeClr val="bg1"/>
              </a:solidFill>
              <a:latin typeface="Monaco" panose="020B0500000000000000" pitchFamily="34" charset="0"/>
              <a:ea typeface="Courier New" pitchFamily="34" charset="-122"/>
              <a:cs typeface="Hind Siliguri" panose="02000000000000000000" pitchFamily="2" charset="0"/>
            </a:endParaRPr>
          </a:p>
          <a:p>
            <a:pPr marL="0" indent="0">
              <a:buNone/>
            </a:pPr>
            <a:r>
              <a:rPr lang="en-US" sz="1000" dirty="0">
                <a:solidFill>
                  <a:schemeClr val="bg1"/>
                </a:solidFill>
                <a:latin typeface="Monaco" panose="020B0500000000000000" pitchFamily="34" charset="0"/>
                <a:ea typeface="Courier New" pitchFamily="34" charset="-122"/>
                <a:cs typeface="Hind Siliguri" panose="02000000000000000000" pitchFamily="2" charset="0"/>
              </a:rPr>
              <a:t>        int hours = </a:t>
            </a:r>
            <a:r>
              <a:rPr lang="en-US" sz="1000" dirty="0" err="1">
                <a:solidFill>
                  <a:schemeClr val="bg1"/>
                </a:solidFill>
                <a:latin typeface="Monaco" panose="020B0500000000000000" pitchFamily="34" charset="0"/>
                <a:ea typeface="Courier New" pitchFamily="34" charset="-122"/>
                <a:cs typeface="Hind Siliguri" panose="02000000000000000000" pitchFamily="2" charset="0"/>
              </a:rPr>
              <a:t>totalMinutes</a:t>
            </a:r>
            <a:r>
              <a:rPr lang="en-US" sz="1000" dirty="0">
                <a:solidFill>
                  <a:schemeClr val="bg1"/>
                </a:solidFill>
                <a:latin typeface="Monaco" panose="020B0500000000000000" pitchFamily="34" charset="0"/>
                <a:ea typeface="Courier New" pitchFamily="34" charset="-122"/>
                <a:cs typeface="Hind Siliguri" panose="02000000000000000000" pitchFamily="2" charset="0"/>
              </a:rPr>
              <a:t> / 60;</a:t>
            </a:r>
          </a:p>
          <a:p>
            <a:pPr marL="0" indent="0">
              <a:buNone/>
            </a:pPr>
            <a:r>
              <a:rPr lang="en-US" sz="1000" dirty="0">
                <a:solidFill>
                  <a:schemeClr val="bg1"/>
                </a:solidFill>
                <a:latin typeface="Monaco" panose="020B0500000000000000" pitchFamily="34" charset="0"/>
                <a:ea typeface="Courier New" pitchFamily="34" charset="-122"/>
                <a:cs typeface="Hind Siliguri" panose="02000000000000000000" pitchFamily="2" charset="0"/>
              </a:rPr>
              <a:t>        int minutes = </a:t>
            </a:r>
            <a:r>
              <a:rPr lang="en-US" sz="1000" dirty="0" err="1">
                <a:solidFill>
                  <a:schemeClr val="bg1"/>
                </a:solidFill>
                <a:latin typeface="Monaco" panose="020B0500000000000000" pitchFamily="34" charset="0"/>
                <a:ea typeface="Courier New" pitchFamily="34" charset="-122"/>
                <a:cs typeface="Hind Siliguri" panose="02000000000000000000" pitchFamily="2" charset="0"/>
              </a:rPr>
              <a:t>totalMinutes</a:t>
            </a:r>
            <a:r>
              <a:rPr lang="en-US" sz="1000" dirty="0">
                <a:solidFill>
                  <a:schemeClr val="bg1"/>
                </a:solidFill>
                <a:latin typeface="Monaco" panose="020B0500000000000000" pitchFamily="34" charset="0"/>
                <a:ea typeface="Courier New" pitchFamily="34" charset="-122"/>
                <a:cs typeface="Hind Siliguri" panose="02000000000000000000" pitchFamily="2" charset="0"/>
              </a:rPr>
              <a:t> % 60;</a:t>
            </a:r>
          </a:p>
          <a:p>
            <a:pPr marL="0" indent="0">
              <a:buNone/>
            </a:pPr>
            <a:endParaRPr lang="en-US" sz="1000" dirty="0">
              <a:solidFill>
                <a:schemeClr val="bg1"/>
              </a:solidFill>
              <a:latin typeface="Monaco" panose="020B0500000000000000" pitchFamily="34" charset="0"/>
              <a:ea typeface="Courier New" pitchFamily="34" charset="-122"/>
              <a:cs typeface="Hind Siliguri" panose="02000000000000000000" pitchFamily="2" charset="0"/>
            </a:endParaRPr>
          </a:p>
          <a:p>
            <a:pPr marL="0" indent="0">
              <a:buNone/>
            </a:pPr>
            <a:r>
              <a:rPr lang="en-US" sz="1000" dirty="0">
                <a:solidFill>
                  <a:schemeClr val="bg1"/>
                </a:solidFill>
                <a:latin typeface="Monaco" panose="020B0500000000000000" pitchFamily="34" charset="0"/>
                <a:ea typeface="Courier New" pitchFamily="34" charset="-122"/>
                <a:cs typeface="Hind Siliguri" panose="02000000000000000000" pitchFamily="2" charset="0"/>
              </a:rPr>
              <a:t>        </a:t>
            </a:r>
            <a:r>
              <a:rPr lang="en-US" sz="1000" dirty="0" err="1">
                <a:solidFill>
                  <a:schemeClr val="bg1"/>
                </a:solidFill>
                <a:latin typeface="Monaco" panose="020B0500000000000000" pitchFamily="34" charset="0"/>
                <a:ea typeface="Courier New" pitchFamily="34" charset="-122"/>
                <a:cs typeface="Hind Siliguri" panose="02000000000000000000" pitchFamily="2" charset="0"/>
              </a:rPr>
              <a:t>System.out.println</a:t>
            </a:r>
            <a:r>
              <a:rPr lang="en-US" sz="1000" dirty="0">
                <a:solidFill>
                  <a:schemeClr val="bg1"/>
                </a:solidFill>
                <a:latin typeface="Monaco" panose="020B0500000000000000" pitchFamily="34" charset="0"/>
                <a:ea typeface="Courier New" pitchFamily="34" charset="-122"/>
                <a:cs typeface="Hind Siliguri" panose="02000000000000000000" pitchFamily="2" charset="0"/>
              </a:rPr>
              <a:t>("Hours = " + hours);</a:t>
            </a:r>
          </a:p>
          <a:p>
            <a:pPr marL="0" indent="0">
              <a:buNone/>
            </a:pPr>
            <a:r>
              <a:rPr lang="en-US" sz="1000" dirty="0">
                <a:solidFill>
                  <a:schemeClr val="bg1"/>
                </a:solidFill>
                <a:latin typeface="Monaco" panose="020B0500000000000000" pitchFamily="34" charset="0"/>
                <a:ea typeface="Courier New" pitchFamily="34" charset="-122"/>
                <a:cs typeface="Hind Siliguri" panose="02000000000000000000" pitchFamily="2" charset="0"/>
              </a:rPr>
              <a:t>        </a:t>
            </a:r>
            <a:r>
              <a:rPr lang="en-US" sz="1000" dirty="0" err="1">
                <a:solidFill>
                  <a:schemeClr val="bg1"/>
                </a:solidFill>
                <a:latin typeface="Monaco" panose="020B0500000000000000" pitchFamily="34" charset="0"/>
                <a:ea typeface="Courier New" pitchFamily="34" charset="-122"/>
                <a:cs typeface="Hind Siliguri" panose="02000000000000000000" pitchFamily="2" charset="0"/>
              </a:rPr>
              <a:t>System.out.println</a:t>
            </a:r>
            <a:r>
              <a:rPr lang="en-US" sz="1000" dirty="0">
                <a:solidFill>
                  <a:schemeClr val="bg1"/>
                </a:solidFill>
                <a:latin typeface="Monaco" panose="020B0500000000000000" pitchFamily="34" charset="0"/>
                <a:ea typeface="Courier New" pitchFamily="34" charset="-122"/>
                <a:cs typeface="Hind Siliguri" panose="02000000000000000000" pitchFamily="2" charset="0"/>
              </a:rPr>
              <a:t>("Minutes = " + minutes);</a:t>
            </a:r>
          </a:p>
          <a:p>
            <a:pPr marL="0" indent="0">
              <a:buNone/>
            </a:pPr>
            <a:r>
              <a:rPr lang="en-US" sz="1000" dirty="0">
                <a:solidFill>
                  <a:schemeClr val="bg1"/>
                </a:solidFill>
                <a:latin typeface="Monaco" panose="020B0500000000000000" pitchFamily="34" charset="0"/>
                <a:ea typeface="Courier New" pitchFamily="34" charset="-122"/>
                <a:cs typeface="Hind Siliguri" panose="02000000000000000000" pitchFamily="2" charset="0"/>
              </a:rPr>
              <a:t>    }</a:t>
            </a:r>
          </a:p>
          <a:p>
            <a:pPr marL="0" indent="0">
              <a:buNone/>
            </a:pPr>
            <a:r>
              <a:rPr lang="en-US" sz="1000" dirty="0">
                <a:solidFill>
                  <a:schemeClr val="bg1"/>
                </a:solidFill>
                <a:latin typeface="Monaco" panose="020B0500000000000000" pitchFamily="34" charset="0"/>
                <a:ea typeface="Courier New" pitchFamily="34" charset="-122"/>
                <a:cs typeface="Hind Siliguri" panose="02000000000000000000" pitchFamily="2" charset="0"/>
              </a:rPr>
              <a:t>}</a:t>
            </a:r>
            <a:endParaRPr lang="en-US" sz="1000" dirty="0">
              <a:latin typeface="Monaco" panose="020B0500000000000000" pitchFamily="34" charset="0"/>
              <a:cs typeface="Hind Siliguri" panose="02000000000000000000" pitchFamily="2" charset="0"/>
            </a:endParaRPr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70916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=""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6"/>
                </a:solidFill>
              </a:defRPr>
            </a:lvl1pPr>
          </a:lstStyle>
          <a:p>
            <a:pPr algn="l"/>
            <a:fld id="{F7021451-1387-4CA6-816F-3879F97B5CBC}" type="slidenum">
              <a:rPr lang="en-US" b="0">
                <a:latin typeface="Hind Siliguri" panose="02000000000000000000" pitchFamily="2" charset="0"/>
                <a:cs typeface="Hind Siliguri" panose="02000000000000000000" pitchFamily="2" charset="0"/>
              </a:rPr>
              <a:t>11</a:t>
            </a:fld>
            <a:endParaRPr lang="en-US">
              <a:latin typeface="Hind Siliguri" panose="02000000000000000000" pitchFamily="2" charset="0"/>
              <a:cs typeface="Hind Siliguri" panose="02000000000000000000" pitchFamily="2" charset="0"/>
            </a:endParaRP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>
            <a:spLocks noGrp="1"/>
          </p:cNvSpPr>
          <p:nvPr>
            <p:ph type="title" idx="100" hasCustomPrompt="1"/>
          </p:nvPr>
        </p:nvSpPr>
        <p:spPr>
          <a:xfrm>
            <a:off x="457200" y="274320"/>
            <a:ext cx="82296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3000" b="1" dirty="0">
                <a:solidFill>
                  <a:schemeClr val="tx2"/>
                </a:solidFill>
                <a:latin typeface="Hind Siliguri" panose="02000000000000000000" pitchFamily="2" charset="0"/>
                <a:cs typeface="Hind Siliguri" panose="02000000000000000000" pitchFamily="2" charset="0"/>
              </a:rPr>
              <a:t>তিনটি সংখ্যার গড়</a:t>
            </a:r>
            <a:endParaRPr lang="en-US" sz="3000" dirty="0">
              <a:latin typeface="Hind Siliguri" panose="02000000000000000000" pitchFamily="2" charset="0"/>
              <a:cs typeface="Hind Siliguri" panose="02000000000000000000" pitchFamily="2" charset="0"/>
            </a:endParaRPr>
          </a:p>
        </p:txBody>
      </p:sp>
      <p:sp>
        <p:nvSpPr>
          <p:cNvPr id="3" name="Problem badge"/>
          <p:cNvSpPr/>
          <p:nvPr/>
        </p:nvSpPr>
        <p:spPr>
          <a:xfrm>
            <a:off x="7406640" y="411480"/>
            <a:ext cx="1280160" cy="384048"/>
          </a:xfrm>
          <a:prstGeom prst="roundRect">
            <a:avLst>
              <a:gd name="adj" fmla="val 47619"/>
            </a:avLst>
          </a:prstGeom>
          <a:solidFill>
            <a:schemeClr val="accent1"/>
          </a:solidFill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chemeClr val="bg1"/>
                </a:solidFill>
                <a:latin typeface="Hind Siliguri" panose="02000000000000000000" pitchFamily="2" charset="0"/>
                <a:cs typeface="Hind Siliguri" panose="02000000000000000000" pitchFamily="2" charset="0"/>
              </a:rPr>
              <a:t>প্রব্লেম ৭/১০</a:t>
            </a:r>
            <a:endParaRPr lang="en-US" sz="1200" dirty="0">
              <a:latin typeface="Hind Siliguri" panose="02000000000000000000" pitchFamily="2" charset="0"/>
              <a:cs typeface="Hind Siliguri" panose="02000000000000000000" pitchFamily="2" charset="0"/>
            </a:endParaRPr>
          </a:p>
        </p:txBody>
      </p:sp>
      <p:sp>
        <p:nvSpPr>
          <p:cNvPr id="4" name="Statement card"/>
          <p:cNvSpPr/>
          <p:nvPr/>
        </p:nvSpPr>
        <p:spPr>
          <a:xfrm>
            <a:off x="457200" y="1234440"/>
            <a:ext cx="3840480" cy="1188720"/>
          </a:xfrm>
          <a:prstGeom prst="roundRect">
            <a:avLst>
              <a:gd name="adj" fmla="val 9231"/>
            </a:avLst>
          </a:prstGeom>
          <a:solidFill>
            <a:schemeClr val="bg2"/>
          </a:solidFill>
          <a:ln/>
        </p:spPr>
      </p:sp>
      <p:sp>
        <p:nvSpPr>
          <p:cNvPr id="5" name="Statement label"/>
          <p:cNvSpPr txBox="1"/>
          <p:nvPr/>
        </p:nvSpPr>
        <p:spPr>
          <a:xfrm>
            <a:off x="640080" y="1325880"/>
            <a:ext cx="3474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400" b="1" dirty="0">
                <a:solidFill>
                  <a:schemeClr val="accent1"/>
                </a:solidFill>
                <a:latin typeface="Hind Siliguri" panose="02000000000000000000" pitchFamily="2" charset="0"/>
                <a:cs typeface="Hind Siliguri" panose="02000000000000000000" pitchFamily="2" charset="0"/>
              </a:rPr>
              <a:t>সমস্যা</a:t>
            </a:r>
            <a:endParaRPr lang="en-US" sz="1400" dirty="0">
              <a:latin typeface="Hind Siliguri" panose="02000000000000000000" pitchFamily="2" charset="0"/>
              <a:cs typeface="Hind Siliguri" panose="02000000000000000000" pitchFamily="2" charset="0"/>
            </a:endParaRPr>
          </a:p>
        </p:txBody>
      </p:sp>
      <p:sp>
        <p:nvSpPr>
          <p:cNvPr id="6" name="Statement"/>
          <p:cNvSpPr txBox="1"/>
          <p:nvPr/>
        </p:nvSpPr>
        <p:spPr>
          <a:xfrm>
            <a:off x="640080" y="1627632"/>
            <a:ext cx="34747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400" dirty="0">
                <a:solidFill>
                  <a:schemeClr val="tx1"/>
                </a:solidFill>
                <a:latin typeface="Hind Siliguri" panose="02000000000000000000" pitchFamily="2" charset="0"/>
                <a:cs typeface="Hind Siliguri" panose="02000000000000000000" pitchFamily="2" charset="0"/>
              </a:rPr>
              <a:t>Java Program ব্যবহার করে তিনটি সংখ্যার গড় নির্ণয় কর।</a:t>
            </a:r>
            <a:endParaRPr lang="en-US" sz="1400" dirty="0">
              <a:latin typeface="Hind Siliguri" panose="02000000000000000000" pitchFamily="2" charset="0"/>
              <a:cs typeface="Hind Siliguri" panose="02000000000000000000" pitchFamily="2" charset="0"/>
            </a:endParaRPr>
          </a:p>
        </p:txBody>
      </p:sp>
      <p:sp>
        <p:nvSpPr>
          <p:cNvPr id="7" name="IO card"/>
          <p:cNvSpPr/>
          <p:nvPr/>
        </p:nvSpPr>
        <p:spPr>
          <a:xfrm>
            <a:off x="457200" y="2560320"/>
            <a:ext cx="3840480" cy="914400"/>
          </a:xfrm>
          <a:prstGeom prst="roundRect">
            <a:avLst>
              <a:gd name="adj" fmla="val 12000"/>
            </a:avLst>
          </a:prstGeom>
          <a:solidFill>
            <a:schemeClr val="bg2"/>
          </a:solidFill>
          <a:ln/>
        </p:spPr>
      </p:sp>
      <p:sp>
        <p:nvSpPr>
          <p:cNvPr id="8" name="IO text"/>
          <p:cNvSpPr txBox="1"/>
          <p:nvPr/>
        </p:nvSpPr>
        <p:spPr>
          <a:xfrm>
            <a:off x="640080" y="2633472"/>
            <a:ext cx="3474720" cy="8046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300" dirty="0">
                <a:solidFill>
                  <a:schemeClr val="tx1"/>
                </a:solidFill>
                <a:latin typeface="Hind Siliguri" panose="02000000000000000000" pitchFamily="2" charset="0"/>
                <a:cs typeface="Hind Siliguri" panose="02000000000000000000" pitchFamily="2" charset="0"/>
              </a:rPr>
              <a:t>ইনপুট: 4 5 6</a:t>
            </a:r>
            <a:endParaRPr lang="en-US" sz="1300" dirty="0">
              <a:latin typeface="Hind Siliguri" panose="02000000000000000000" pitchFamily="2" charset="0"/>
              <a:cs typeface="Hind Siliguri" panose="02000000000000000000" pitchFamily="2" charset="0"/>
            </a:endParaRPr>
          </a:p>
          <a:p>
            <a:pPr marL="0" indent="0">
              <a:buNone/>
            </a:pPr>
            <a:r>
              <a:rPr lang="en-US" sz="1300" dirty="0">
                <a:solidFill>
                  <a:schemeClr val="tx1"/>
                </a:solidFill>
                <a:latin typeface="Hind Siliguri" panose="02000000000000000000" pitchFamily="2" charset="0"/>
                <a:cs typeface="Hind Siliguri" panose="02000000000000000000" pitchFamily="2" charset="0"/>
              </a:rPr>
              <a:t>আউটপুট: Average = 5.0</a:t>
            </a:r>
            <a:endParaRPr lang="en-US" sz="1300" dirty="0">
              <a:latin typeface="Hind Siliguri" panose="02000000000000000000" pitchFamily="2" charset="0"/>
              <a:cs typeface="Hind Siliguri" panose="02000000000000000000" pitchFamily="2" charset="0"/>
            </a:endParaRPr>
          </a:p>
        </p:txBody>
      </p:sp>
      <p:sp>
        <p:nvSpPr>
          <p:cNvPr id="9" name="Hint card"/>
          <p:cNvSpPr/>
          <p:nvPr/>
        </p:nvSpPr>
        <p:spPr>
          <a:xfrm>
            <a:off x="457200" y="3611880"/>
            <a:ext cx="3840480" cy="914400"/>
          </a:xfrm>
          <a:prstGeom prst="roundRect">
            <a:avLst>
              <a:gd name="adj" fmla="val 12000"/>
            </a:avLst>
          </a:prstGeom>
          <a:solidFill>
            <a:schemeClr val="bg2"/>
          </a:solidFill>
          <a:ln/>
        </p:spPr>
      </p:sp>
      <p:sp>
        <p:nvSpPr>
          <p:cNvPr id="10" name="Hint label"/>
          <p:cNvSpPr txBox="1"/>
          <p:nvPr/>
        </p:nvSpPr>
        <p:spPr>
          <a:xfrm>
            <a:off x="640080" y="3675888"/>
            <a:ext cx="3474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400" b="1" dirty="0">
                <a:solidFill>
                  <a:schemeClr val="accent3"/>
                </a:solidFill>
                <a:latin typeface="Hind Siliguri" panose="02000000000000000000" pitchFamily="2" charset="0"/>
                <a:cs typeface="Hind Siliguri" panose="02000000000000000000" pitchFamily="2" charset="0"/>
              </a:rPr>
              <a:t>আইডিয়া</a:t>
            </a:r>
            <a:endParaRPr lang="en-US" sz="1400" dirty="0">
              <a:latin typeface="Hind Siliguri" panose="02000000000000000000" pitchFamily="2" charset="0"/>
              <a:cs typeface="Hind Siliguri" panose="02000000000000000000" pitchFamily="2" charset="0"/>
            </a:endParaRPr>
          </a:p>
        </p:txBody>
      </p:sp>
      <p:sp>
        <p:nvSpPr>
          <p:cNvPr id="11" name="Hint"/>
          <p:cNvSpPr txBox="1"/>
          <p:nvPr/>
        </p:nvSpPr>
        <p:spPr>
          <a:xfrm>
            <a:off x="640080" y="3950208"/>
            <a:ext cx="34747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400" dirty="0">
                <a:solidFill>
                  <a:schemeClr val="tx1"/>
                </a:solidFill>
                <a:latin typeface="Hind Siliguri" panose="02000000000000000000" pitchFamily="2" charset="0"/>
                <a:cs typeface="Hind Siliguri" panose="02000000000000000000" pitchFamily="2" charset="0"/>
              </a:rPr>
              <a:t>গড় = (a + b + c) / 3.0। 3.0 লিখলে দশমিকসহ ফলাফল আসবে।</a:t>
            </a:r>
            <a:endParaRPr lang="en-US" sz="1400" dirty="0">
              <a:latin typeface="Hind Siliguri" panose="02000000000000000000" pitchFamily="2" charset="0"/>
              <a:cs typeface="Hind Siliguri" panose="02000000000000000000" pitchFamily="2" charset="0"/>
            </a:endParaRPr>
          </a:p>
        </p:txBody>
      </p:sp>
      <p:sp>
        <p:nvSpPr>
          <p:cNvPr id="12" name="Code card"/>
          <p:cNvSpPr/>
          <p:nvPr/>
        </p:nvSpPr>
        <p:spPr>
          <a:xfrm>
            <a:off x="4480560" y="1234440"/>
            <a:ext cx="4206240" cy="3291840"/>
          </a:xfrm>
          <a:prstGeom prst="roundRect">
            <a:avLst>
              <a:gd name="adj" fmla="val 3333"/>
            </a:avLst>
          </a:prstGeom>
          <a:solidFill>
            <a:schemeClr val="tx1"/>
          </a:solidFill>
          <a:ln/>
        </p:spPr>
      </p:sp>
      <p:sp>
        <p:nvSpPr>
          <p:cNvPr id="13" name="Code label"/>
          <p:cNvSpPr txBox="1"/>
          <p:nvPr/>
        </p:nvSpPr>
        <p:spPr>
          <a:xfrm>
            <a:off x="4663440" y="1371600"/>
            <a:ext cx="3840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200" b="1" dirty="0">
                <a:solidFill>
                  <a:schemeClr val="accent4"/>
                </a:solidFill>
                <a:latin typeface="Hind Siliguri" panose="02000000000000000000" pitchFamily="2" charset="0"/>
                <a:cs typeface="Hind Siliguri" panose="02000000000000000000" pitchFamily="2" charset="0"/>
              </a:rPr>
              <a:t>Java কোড (main মেথডের ভেতরে)</a:t>
            </a:r>
            <a:endParaRPr lang="en-US" sz="1200" dirty="0">
              <a:latin typeface="Hind Siliguri" panose="02000000000000000000" pitchFamily="2" charset="0"/>
              <a:cs typeface="Hind Siliguri" panose="02000000000000000000" pitchFamily="2" charset="0"/>
            </a:endParaRPr>
          </a:p>
        </p:txBody>
      </p:sp>
      <p:sp>
        <p:nvSpPr>
          <p:cNvPr id="14" name="Code"/>
          <p:cNvSpPr txBox="1"/>
          <p:nvPr/>
        </p:nvSpPr>
        <p:spPr>
          <a:xfrm>
            <a:off x="4663440" y="1600200"/>
            <a:ext cx="3886200" cy="2651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r>
              <a:rPr lang="en-US" sz="900" dirty="0">
                <a:solidFill>
                  <a:schemeClr val="bg1"/>
                </a:solidFill>
                <a:latin typeface="Monaco" panose="020B0500000000000000" pitchFamily="34" charset="0"/>
                <a:ea typeface="Courier New" pitchFamily="34" charset="-122"/>
                <a:cs typeface="Hind Siliguri" panose="02000000000000000000" pitchFamily="2" charset="0"/>
              </a:rPr>
              <a:t>import </a:t>
            </a:r>
            <a:r>
              <a:rPr lang="en-US" sz="900" dirty="0" err="1">
                <a:solidFill>
                  <a:schemeClr val="bg1"/>
                </a:solidFill>
                <a:latin typeface="Monaco" panose="020B0500000000000000" pitchFamily="34" charset="0"/>
                <a:ea typeface="Courier New" pitchFamily="34" charset="-122"/>
                <a:cs typeface="Hind Siliguri" panose="02000000000000000000" pitchFamily="2" charset="0"/>
              </a:rPr>
              <a:t>java.util.Scanner</a:t>
            </a:r>
            <a:r>
              <a:rPr lang="en-US" sz="900" dirty="0">
                <a:solidFill>
                  <a:schemeClr val="bg1"/>
                </a:solidFill>
                <a:latin typeface="Monaco" panose="020B0500000000000000" pitchFamily="34" charset="0"/>
                <a:ea typeface="Courier New" pitchFamily="34" charset="-122"/>
                <a:cs typeface="Hind Siliguri" panose="02000000000000000000" pitchFamily="2" charset="0"/>
              </a:rPr>
              <a:t>;</a:t>
            </a:r>
          </a:p>
          <a:p>
            <a:endParaRPr lang="en-US" sz="900" dirty="0">
              <a:solidFill>
                <a:schemeClr val="bg1"/>
              </a:solidFill>
              <a:latin typeface="Monaco" panose="020B0500000000000000" pitchFamily="34" charset="0"/>
              <a:ea typeface="Courier New" pitchFamily="34" charset="-122"/>
              <a:cs typeface="Hind Siliguri" panose="02000000000000000000" pitchFamily="2" charset="0"/>
            </a:endParaRPr>
          </a:p>
          <a:p>
            <a:r>
              <a:rPr lang="en-US" sz="900" dirty="0">
                <a:solidFill>
                  <a:schemeClr val="bg1"/>
                </a:solidFill>
                <a:latin typeface="Monaco" panose="020B0500000000000000" pitchFamily="34" charset="0"/>
                <a:ea typeface="Courier New" pitchFamily="34" charset="-122"/>
                <a:cs typeface="Hind Siliguri" panose="02000000000000000000" pitchFamily="2" charset="0"/>
              </a:rPr>
              <a:t>public class </a:t>
            </a:r>
            <a:r>
              <a:rPr lang="en-US" sz="900" dirty="0" err="1">
                <a:solidFill>
                  <a:schemeClr val="bg1"/>
                </a:solidFill>
                <a:latin typeface="Monaco" panose="020B0500000000000000" pitchFamily="34" charset="0"/>
                <a:ea typeface="Courier New" pitchFamily="34" charset="-122"/>
                <a:cs typeface="Hind Siliguri" panose="02000000000000000000" pitchFamily="2" charset="0"/>
              </a:rPr>
              <a:t>AverageOfThreeNumbers</a:t>
            </a:r>
            <a:r>
              <a:rPr lang="en-US" sz="900" dirty="0">
                <a:solidFill>
                  <a:schemeClr val="bg1"/>
                </a:solidFill>
                <a:latin typeface="Monaco" panose="020B0500000000000000" pitchFamily="34" charset="0"/>
                <a:ea typeface="Courier New" pitchFamily="34" charset="-122"/>
                <a:cs typeface="Hind Siliguri" panose="02000000000000000000" pitchFamily="2" charset="0"/>
              </a:rPr>
              <a:t> {</a:t>
            </a:r>
          </a:p>
          <a:p>
            <a:r>
              <a:rPr lang="en-US" sz="900" dirty="0">
                <a:solidFill>
                  <a:schemeClr val="bg1"/>
                </a:solidFill>
                <a:latin typeface="Monaco" panose="020B0500000000000000" pitchFamily="34" charset="0"/>
                <a:ea typeface="Courier New" pitchFamily="34" charset="-122"/>
                <a:cs typeface="Hind Siliguri" panose="02000000000000000000" pitchFamily="2" charset="0"/>
              </a:rPr>
              <a:t>    public static void main(String[] </a:t>
            </a:r>
            <a:r>
              <a:rPr lang="en-US" sz="900" dirty="0" err="1">
                <a:solidFill>
                  <a:schemeClr val="bg1"/>
                </a:solidFill>
                <a:latin typeface="Monaco" panose="020B0500000000000000" pitchFamily="34" charset="0"/>
                <a:ea typeface="Courier New" pitchFamily="34" charset="-122"/>
                <a:cs typeface="Hind Siliguri" panose="02000000000000000000" pitchFamily="2" charset="0"/>
              </a:rPr>
              <a:t>args</a:t>
            </a:r>
            <a:r>
              <a:rPr lang="en-US" sz="900" dirty="0">
                <a:solidFill>
                  <a:schemeClr val="bg1"/>
                </a:solidFill>
                <a:latin typeface="Monaco" panose="020B0500000000000000" pitchFamily="34" charset="0"/>
                <a:ea typeface="Courier New" pitchFamily="34" charset="-122"/>
                <a:cs typeface="Hind Siliguri" panose="02000000000000000000" pitchFamily="2" charset="0"/>
              </a:rPr>
              <a:t>) {</a:t>
            </a:r>
          </a:p>
          <a:p>
            <a:r>
              <a:rPr lang="en-US" sz="900" dirty="0">
                <a:solidFill>
                  <a:schemeClr val="bg1"/>
                </a:solidFill>
                <a:latin typeface="Monaco" panose="020B0500000000000000" pitchFamily="34" charset="0"/>
                <a:ea typeface="Courier New" pitchFamily="34" charset="-122"/>
                <a:cs typeface="Hind Siliguri" panose="02000000000000000000" pitchFamily="2" charset="0"/>
              </a:rPr>
              <a:t>        Scanner input = new Scanner(System.in);</a:t>
            </a:r>
          </a:p>
          <a:p>
            <a:endParaRPr lang="en-US" sz="900" dirty="0">
              <a:solidFill>
                <a:schemeClr val="bg1"/>
              </a:solidFill>
              <a:latin typeface="Monaco" panose="020B0500000000000000" pitchFamily="34" charset="0"/>
              <a:ea typeface="Courier New" pitchFamily="34" charset="-122"/>
              <a:cs typeface="Hind Siliguri" panose="02000000000000000000" pitchFamily="2" charset="0"/>
            </a:endParaRPr>
          </a:p>
          <a:p>
            <a:r>
              <a:rPr lang="en-US" sz="900" dirty="0">
                <a:solidFill>
                  <a:schemeClr val="bg1"/>
                </a:solidFill>
                <a:latin typeface="Monaco" panose="020B0500000000000000" pitchFamily="34" charset="0"/>
                <a:ea typeface="Courier New" pitchFamily="34" charset="-122"/>
                <a:cs typeface="Hind Siliguri" panose="02000000000000000000" pitchFamily="2" charset="0"/>
              </a:rPr>
              <a:t>        </a:t>
            </a:r>
            <a:r>
              <a:rPr lang="en-US" sz="900" dirty="0" err="1">
                <a:solidFill>
                  <a:schemeClr val="bg1"/>
                </a:solidFill>
                <a:latin typeface="Monaco" panose="020B0500000000000000" pitchFamily="34" charset="0"/>
                <a:ea typeface="Courier New" pitchFamily="34" charset="-122"/>
                <a:cs typeface="Hind Siliguri" panose="02000000000000000000" pitchFamily="2" charset="0"/>
              </a:rPr>
              <a:t>System.out.print</a:t>
            </a:r>
            <a:r>
              <a:rPr lang="en-US" sz="900" dirty="0">
                <a:solidFill>
                  <a:schemeClr val="bg1"/>
                </a:solidFill>
                <a:latin typeface="Monaco" panose="020B0500000000000000" pitchFamily="34" charset="0"/>
                <a:ea typeface="Courier New" pitchFamily="34" charset="-122"/>
                <a:cs typeface="Hind Siliguri" panose="02000000000000000000" pitchFamily="2" charset="0"/>
              </a:rPr>
              <a:t>("Enter first number: ");</a:t>
            </a:r>
          </a:p>
          <a:p>
            <a:r>
              <a:rPr lang="en-US" sz="900" dirty="0">
                <a:solidFill>
                  <a:schemeClr val="bg1"/>
                </a:solidFill>
                <a:latin typeface="Monaco" panose="020B0500000000000000" pitchFamily="34" charset="0"/>
                <a:ea typeface="Courier New" pitchFamily="34" charset="-122"/>
                <a:cs typeface="Hind Siliguri" panose="02000000000000000000" pitchFamily="2" charset="0"/>
              </a:rPr>
              <a:t>        double a = </a:t>
            </a:r>
            <a:r>
              <a:rPr lang="en-US" sz="900" dirty="0" err="1">
                <a:solidFill>
                  <a:schemeClr val="bg1"/>
                </a:solidFill>
                <a:latin typeface="Monaco" panose="020B0500000000000000" pitchFamily="34" charset="0"/>
                <a:ea typeface="Courier New" pitchFamily="34" charset="-122"/>
                <a:cs typeface="Hind Siliguri" panose="02000000000000000000" pitchFamily="2" charset="0"/>
              </a:rPr>
              <a:t>input.nextDouble</a:t>
            </a:r>
            <a:r>
              <a:rPr lang="en-US" sz="900" dirty="0">
                <a:solidFill>
                  <a:schemeClr val="bg1"/>
                </a:solidFill>
                <a:latin typeface="Monaco" panose="020B0500000000000000" pitchFamily="34" charset="0"/>
                <a:ea typeface="Courier New" pitchFamily="34" charset="-122"/>
                <a:cs typeface="Hind Siliguri" panose="02000000000000000000" pitchFamily="2" charset="0"/>
              </a:rPr>
              <a:t>();</a:t>
            </a:r>
          </a:p>
          <a:p>
            <a:endParaRPr lang="en-US" sz="900" dirty="0">
              <a:solidFill>
                <a:schemeClr val="bg1"/>
              </a:solidFill>
              <a:latin typeface="Monaco" panose="020B0500000000000000" pitchFamily="34" charset="0"/>
              <a:ea typeface="Courier New" pitchFamily="34" charset="-122"/>
              <a:cs typeface="Hind Siliguri" panose="02000000000000000000" pitchFamily="2" charset="0"/>
            </a:endParaRPr>
          </a:p>
          <a:p>
            <a:r>
              <a:rPr lang="en-US" sz="900" dirty="0">
                <a:solidFill>
                  <a:schemeClr val="bg1"/>
                </a:solidFill>
                <a:latin typeface="Monaco" panose="020B0500000000000000" pitchFamily="34" charset="0"/>
                <a:ea typeface="Courier New" pitchFamily="34" charset="-122"/>
                <a:cs typeface="Hind Siliguri" panose="02000000000000000000" pitchFamily="2" charset="0"/>
              </a:rPr>
              <a:t>        </a:t>
            </a:r>
            <a:r>
              <a:rPr lang="en-US" sz="900" dirty="0" err="1">
                <a:solidFill>
                  <a:schemeClr val="bg1"/>
                </a:solidFill>
                <a:latin typeface="Monaco" panose="020B0500000000000000" pitchFamily="34" charset="0"/>
                <a:ea typeface="Courier New" pitchFamily="34" charset="-122"/>
                <a:cs typeface="Hind Siliguri" panose="02000000000000000000" pitchFamily="2" charset="0"/>
              </a:rPr>
              <a:t>System.out.print</a:t>
            </a:r>
            <a:r>
              <a:rPr lang="en-US" sz="900" dirty="0">
                <a:solidFill>
                  <a:schemeClr val="bg1"/>
                </a:solidFill>
                <a:latin typeface="Monaco" panose="020B0500000000000000" pitchFamily="34" charset="0"/>
                <a:ea typeface="Courier New" pitchFamily="34" charset="-122"/>
                <a:cs typeface="Hind Siliguri" panose="02000000000000000000" pitchFamily="2" charset="0"/>
              </a:rPr>
              <a:t>("Enter second number: ");</a:t>
            </a:r>
          </a:p>
          <a:p>
            <a:r>
              <a:rPr lang="en-US" sz="900" dirty="0">
                <a:solidFill>
                  <a:schemeClr val="bg1"/>
                </a:solidFill>
                <a:latin typeface="Monaco" panose="020B0500000000000000" pitchFamily="34" charset="0"/>
                <a:ea typeface="Courier New" pitchFamily="34" charset="-122"/>
                <a:cs typeface="Hind Siliguri" panose="02000000000000000000" pitchFamily="2" charset="0"/>
              </a:rPr>
              <a:t>        double b = </a:t>
            </a:r>
            <a:r>
              <a:rPr lang="en-US" sz="900" dirty="0" err="1">
                <a:solidFill>
                  <a:schemeClr val="bg1"/>
                </a:solidFill>
                <a:latin typeface="Monaco" panose="020B0500000000000000" pitchFamily="34" charset="0"/>
                <a:ea typeface="Courier New" pitchFamily="34" charset="-122"/>
                <a:cs typeface="Hind Siliguri" panose="02000000000000000000" pitchFamily="2" charset="0"/>
              </a:rPr>
              <a:t>input.nextDouble</a:t>
            </a:r>
            <a:r>
              <a:rPr lang="en-US" sz="900" dirty="0">
                <a:solidFill>
                  <a:schemeClr val="bg1"/>
                </a:solidFill>
                <a:latin typeface="Monaco" panose="020B0500000000000000" pitchFamily="34" charset="0"/>
                <a:ea typeface="Courier New" pitchFamily="34" charset="-122"/>
                <a:cs typeface="Hind Siliguri" panose="02000000000000000000" pitchFamily="2" charset="0"/>
              </a:rPr>
              <a:t>();</a:t>
            </a:r>
          </a:p>
          <a:p>
            <a:endParaRPr lang="en-US" sz="900" dirty="0">
              <a:solidFill>
                <a:schemeClr val="bg1"/>
              </a:solidFill>
              <a:latin typeface="Monaco" panose="020B0500000000000000" pitchFamily="34" charset="0"/>
              <a:ea typeface="Courier New" pitchFamily="34" charset="-122"/>
              <a:cs typeface="Hind Siliguri" panose="02000000000000000000" pitchFamily="2" charset="0"/>
            </a:endParaRPr>
          </a:p>
          <a:p>
            <a:r>
              <a:rPr lang="en-US" sz="900" dirty="0">
                <a:solidFill>
                  <a:schemeClr val="bg1"/>
                </a:solidFill>
                <a:latin typeface="Monaco" panose="020B0500000000000000" pitchFamily="34" charset="0"/>
                <a:ea typeface="Courier New" pitchFamily="34" charset="-122"/>
                <a:cs typeface="Hind Siliguri" panose="02000000000000000000" pitchFamily="2" charset="0"/>
              </a:rPr>
              <a:t>        </a:t>
            </a:r>
            <a:r>
              <a:rPr lang="en-US" sz="900" dirty="0" err="1">
                <a:solidFill>
                  <a:schemeClr val="bg1"/>
                </a:solidFill>
                <a:latin typeface="Monaco" panose="020B0500000000000000" pitchFamily="34" charset="0"/>
                <a:ea typeface="Courier New" pitchFamily="34" charset="-122"/>
                <a:cs typeface="Hind Siliguri" panose="02000000000000000000" pitchFamily="2" charset="0"/>
              </a:rPr>
              <a:t>System.out.print</a:t>
            </a:r>
            <a:r>
              <a:rPr lang="en-US" sz="900" dirty="0">
                <a:solidFill>
                  <a:schemeClr val="bg1"/>
                </a:solidFill>
                <a:latin typeface="Monaco" panose="020B0500000000000000" pitchFamily="34" charset="0"/>
                <a:ea typeface="Courier New" pitchFamily="34" charset="-122"/>
                <a:cs typeface="Hind Siliguri" panose="02000000000000000000" pitchFamily="2" charset="0"/>
              </a:rPr>
              <a:t>("Enter third number: ");</a:t>
            </a:r>
          </a:p>
          <a:p>
            <a:r>
              <a:rPr lang="en-US" sz="900" dirty="0">
                <a:solidFill>
                  <a:schemeClr val="bg1"/>
                </a:solidFill>
                <a:latin typeface="Monaco" panose="020B0500000000000000" pitchFamily="34" charset="0"/>
                <a:ea typeface="Courier New" pitchFamily="34" charset="-122"/>
                <a:cs typeface="Hind Siliguri" panose="02000000000000000000" pitchFamily="2" charset="0"/>
              </a:rPr>
              <a:t>        double c = </a:t>
            </a:r>
            <a:r>
              <a:rPr lang="en-US" sz="900" dirty="0" err="1">
                <a:solidFill>
                  <a:schemeClr val="bg1"/>
                </a:solidFill>
                <a:latin typeface="Monaco" panose="020B0500000000000000" pitchFamily="34" charset="0"/>
                <a:ea typeface="Courier New" pitchFamily="34" charset="-122"/>
                <a:cs typeface="Hind Siliguri" panose="02000000000000000000" pitchFamily="2" charset="0"/>
              </a:rPr>
              <a:t>input.nextDouble</a:t>
            </a:r>
            <a:r>
              <a:rPr lang="en-US" sz="900" dirty="0">
                <a:solidFill>
                  <a:schemeClr val="bg1"/>
                </a:solidFill>
                <a:latin typeface="Monaco" panose="020B0500000000000000" pitchFamily="34" charset="0"/>
                <a:ea typeface="Courier New" pitchFamily="34" charset="-122"/>
                <a:cs typeface="Hind Siliguri" panose="02000000000000000000" pitchFamily="2" charset="0"/>
              </a:rPr>
              <a:t>();</a:t>
            </a:r>
          </a:p>
          <a:p>
            <a:endParaRPr lang="en-US" sz="900" dirty="0">
              <a:solidFill>
                <a:schemeClr val="bg1"/>
              </a:solidFill>
              <a:latin typeface="Monaco" panose="020B0500000000000000" pitchFamily="34" charset="0"/>
              <a:ea typeface="Courier New" pitchFamily="34" charset="-122"/>
              <a:cs typeface="Hind Siliguri" panose="02000000000000000000" pitchFamily="2" charset="0"/>
            </a:endParaRPr>
          </a:p>
          <a:p>
            <a:r>
              <a:rPr lang="en-US" sz="900" dirty="0">
                <a:solidFill>
                  <a:schemeClr val="bg1"/>
                </a:solidFill>
                <a:latin typeface="Monaco" panose="020B0500000000000000" pitchFamily="34" charset="0"/>
                <a:ea typeface="Courier New" pitchFamily="34" charset="-122"/>
                <a:cs typeface="Hind Siliguri" panose="02000000000000000000" pitchFamily="2" charset="0"/>
              </a:rPr>
              <a:t>        double average = (a + b + c) / 3;</a:t>
            </a:r>
          </a:p>
          <a:p>
            <a:endParaRPr lang="en-US" sz="900" dirty="0">
              <a:solidFill>
                <a:schemeClr val="bg1"/>
              </a:solidFill>
              <a:latin typeface="Monaco" panose="020B0500000000000000" pitchFamily="34" charset="0"/>
              <a:ea typeface="Courier New" pitchFamily="34" charset="-122"/>
              <a:cs typeface="Hind Siliguri" panose="02000000000000000000" pitchFamily="2" charset="0"/>
            </a:endParaRPr>
          </a:p>
          <a:p>
            <a:r>
              <a:rPr lang="en-US" sz="900" dirty="0">
                <a:solidFill>
                  <a:schemeClr val="bg1"/>
                </a:solidFill>
                <a:latin typeface="Monaco" panose="020B0500000000000000" pitchFamily="34" charset="0"/>
                <a:ea typeface="Courier New" pitchFamily="34" charset="-122"/>
                <a:cs typeface="Hind Siliguri" panose="02000000000000000000" pitchFamily="2" charset="0"/>
              </a:rPr>
              <a:t>        </a:t>
            </a:r>
            <a:r>
              <a:rPr lang="en-US" sz="900" dirty="0" err="1">
                <a:solidFill>
                  <a:schemeClr val="bg1"/>
                </a:solidFill>
                <a:latin typeface="Monaco" panose="020B0500000000000000" pitchFamily="34" charset="0"/>
                <a:ea typeface="Courier New" pitchFamily="34" charset="-122"/>
                <a:cs typeface="Hind Siliguri" panose="02000000000000000000" pitchFamily="2" charset="0"/>
              </a:rPr>
              <a:t>System.out.println</a:t>
            </a:r>
            <a:r>
              <a:rPr lang="en-US" sz="900" dirty="0">
                <a:solidFill>
                  <a:schemeClr val="bg1"/>
                </a:solidFill>
                <a:latin typeface="Monaco" panose="020B0500000000000000" pitchFamily="34" charset="0"/>
                <a:ea typeface="Courier New" pitchFamily="34" charset="-122"/>
                <a:cs typeface="Hind Siliguri" panose="02000000000000000000" pitchFamily="2" charset="0"/>
              </a:rPr>
              <a:t>("Average = " + average);</a:t>
            </a:r>
          </a:p>
          <a:p>
            <a:endParaRPr lang="en-US" sz="900" dirty="0">
              <a:solidFill>
                <a:schemeClr val="bg1"/>
              </a:solidFill>
              <a:latin typeface="Monaco" panose="020B0500000000000000" pitchFamily="34" charset="0"/>
              <a:ea typeface="Courier New" pitchFamily="34" charset="-122"/>
              <a:cs typeface="Hind Siliguri" panose="02000000000000000000" pitchFamily="2" charset="0"/>
            </a:endParaRPr>
          </a:p>
          <a:p>
            <a:r>
              <a:rPr lang="en-US" sz="900" dirty="0">
                <a:solidFill>
                  <a:schemeClr val="bg1"/>
                </a:solidFill>
                <a:latin typeface="Monaco" panose="020B0500000000000000" pitchFamily="34" charset="0"/>
                <a:ea typeface="Courier New" pitchFamily="34" charset="-122"/>
                <a:cs typeface="Hind Siliguri" panose="02000000000000000000" pitchFamily="2" charset="0"/>
              </a:rPr>
              <a:t>    }</a:t>
            </a:r>
          </a:p>
          <a:p>
            <a:r>
              <a:rPr lang="en-US" sz="900" dirty="0">
                <a:solidFill>
                  <a:schemeClr val="bg1"/>
                </a:solidFill>
                <a:latin typeface="Monaco" panose="020B0500000000000000" pitchFamily="34" charset="0"/>
                <a:ea typeface="Courier New" pitchFamily="34" charset="-122"/>
                <a:cs typeface="Hind Siliguri" panose="02000000000000000000" pitchFamily="2" charset="0"/>
              </a:rPr>
              <a:t>}</a:t>
            </a:r>
            <a:endParaRPr lang="en-US" sz="900" dirty="0">
              <a:latin typeface="Monaco" panose="020B0500000000000000" pitchFamily="34" charset="0"/>
              <a:cs typeface="Hind Siliguri" panose="02000000000000000000" pitchFamily="2" charset="0"/>
            </a:endParaRPr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70916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=""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6"/>
                </a:solidFill>
              </a:defRPr>
            </a:lvl1pPr>
          </a:lstStyle>
          <a:p>
            <a:pPr algn="l"/>
            <a:fld id="{F7021451-1387-4CA6-816F-3879F97B5CBC}" type="slidenum">
              <a:rPr lang="en-US" b="0">
                <a:latin typeface="Hind Siliguri" panose="02000000000000000000" pitchFamily="2" charset="0"/>
                <a:cs typeface="Hind Siliguri" panose="02000000000000000000" pitchFamily="2" charset="0"/>
              </a:rPr>
              <a:t>12</a:t>
            </a:fld>
            <a:endParaRPr lang="en-US">
              <a:latin typeface="Hind Siliguri" panose="02000000000000000000" pitchFamily="2" charset="0"/>
              <a:cs typeface="Hind Siliguri" panose="02000000000000000000" pitchFamily="2" charset="0"/>
            </a:endParaRP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>
            <a:spLocks noGrp="1"/>
          </p:cNvSpPr>
          <p:nvPr>
            <p:ph type="title" idx="100" hasCustomPrompt="1"/>
          </p:nvPr>
        </p:nvSpPr>
        <p:spPr>
          <a:xfrm>
            <a:off x="457200" y="274320"/>
            <a:ext cx="82296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3000" b="1" dirty="0">
                <a:solidFill>
                  <a:schemeClr val="tx2"/>
                </a:solidFill>
                <a:latin typeface="Hind Siliguri" panose="02000000000000000000" pitchFamily="2" charset="0"/>
                <a:cs typeface="Hind Siliguri" panose="02000000000000000000" pitchFamily="2" charset="0"/>
              </a:rPr>
              <a:t>বৃত্তের ক্ষেত্রফল</a:t>
            </a:r>
            <a:endParaRPr lang="en-US" sz="3000" dirty="0">
              <a:latin typeface="Hind Siliguri" panose="02000000000000000000" pitchFamily="2" charset="0"/>
              <a:cs typeface="Hind Siliguri" panose="02000000000000000000" pitchFamily="2" charset="0"/>
            </a:endParaRPr>
          </a:p>
        </p:txBody>
      </p:sp>
      <p:sp>
        <p:nvSpPr>
          <p:cNvPr id="3" name="Problem badge"/>
          <p:cNvSpPr/>
          <p:nvPr/>
        </p:nvSpPr>
        <p:spPr>
          <a:xfrm>
            <a:off x="7406640" y="411480"/>
            <a:ext cx="1280160" cy="384048"/>
          </a:xfrm>
          <a:prstGeom prst="roundRect">
            <a:avLst>
              <a:gd name="adj" fmla="val 47619"/>
            </a:avLst>
          </a:prstGeom>
          <a:solidFill>
            <a:schemeClr val="accent1"/>
          </a:solidFill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chemeClr val="bg1"/>
                </a:solidFill>
                <a:latin typeface="Hind Siliguri" panose="02000000000000000000" pitchFamily="2" charset="0"/>
                <a:cs typeface="Hind Siliguri" panose="02000000000000000000" pitchFamily="2" charset="0"/>
              </a:rPr>
              <a:t>প্রব্লেম ৮/১০</a:t>
            </a:r>
            <a:endParaRPr lang="en-US" sz="1200" dirty="0">
              <a:latin typeface="Hind Siliguri" panose="02000000000000000000" pitchFamily="2" charset="0"/>
              <a:cs typeface="Hind Siliguri" panose="02000000000000000000" pitchFamily="2" charset="0"/>
            </a:endParaRPr>
          </a:p>
        </p:txBody>
      </p:sp>
      <p:sp>
        <p:nvSpPr>
          <p:cNvPr id="4" name="Statement card"/>
          <p:cNvSpPr/>
          <p:nvPr/>
        </p:nvSpPr>
        <p:spPr>
          <a:xfrm>
            <a:off x="457200" y="1234440"/>
            <a:ext cx="3840480" cy="1188720"/>
          </a:xfrm>
          <a:prstGeom prst="roundRect">
            <a:avLst>
              <a:gd name="adj" fmla="val 9231"/>
            </a:avLst>
          </a:prstGeom>
          <a:solidFill>
            <a:schemeClr val="bg2"/>
          </a:solidFill>
          <a:ln/>
        </p:spPr>
      </p:sp>
      <p:sp>
        <p:nvSpPr>
          <p:cNvPr id="5" name="Statement label"/>
          <p:cNvSpPr txBox="1"/>
          <p:nvPr/>
        </p:nvSpPr>
        <p:spPr>
          <a:xfrm>
            <a:off x="640080" y="1325880"/>
            <a:ext cx="3474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400" b="1" dirty="0">
                <a:solidFill>
                  <a:schemeClr val="accent1"/>
                </a:solidFill>
                <a:latin typeface="Hind Siliguri" panose="02000000000000000000" pitchFamily="2" charset="0"/>
                <a:cs typeface="Hind Siliguri" panose="02000000000000000000" pitchFamily="2" charset="0"/>
              </a:rPr>
              <a:t>সমস্যা</a:t>
            </a:r>
            <a:endParaRPr lang="en-US" sz="1400" dirty="0">
              <a:latin typeface="Hind Siliguri" panose="02000000000000000000" pitchFamily="2" charset="0"/>
              <a:cs typeface="Hind Siliguri" panose="02000000000000000000" pitchFamily="2" charset="0"/>
            </a:endParaRPr>
          </a:p>
        </p:txBody>
      </p:sp>
      <p:sp>
        <p:nvSpPr>
          <p:cNvPr id="6" name="Statement"/>
          <p:cNvSpPr txBox="1"/>
          <p:nvPr/>
        </p:nvSpPr>
        <p:spPr>
          <a:xfrm>
            <a:off x="640080" y="1627632"/>
            <a:ext cx="34747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400" dirty="0">
                <a:solidFill>
                  <a:schemeClr val="tx1"/>
                </a:solidFill>
                <a:latin typeface="Hind Siliguri" panose="02000000000000000000" pitchFamily="2" charset="0"/>
                <a:cs typeface="Hind Siliguri" panose="02000000000000000000" pitchFamily="2" charset="0"/>
              </a:rPr>
              <a:t>Java Program ব্যবহার করে একটি বৃত্তের ক্ষেত্রফল নির্ণয় কর।</a:t>
            </a:r>
            <a:endParaRPr lang="en-US" sz="1400" dirty="0">
              <a:latin typeface="Hind Siliguri" panose="02000000000000000000" pitchFamily="2" charset="0"/>
              <a:cs typeface="Hind Siliguri" panose="02000000000000000000" pitchFamily="2" charset="0"/>
            </a:endParaRPr>
          </a:p>
        </p:txBody>
      </p:sp>
      <p:sp>
        <p:nvSpPr>
          <p:cNvPr id="7" name="IO card"/>
          <p:cNvSpPr/>
          <p:nvPr/>
        </p:nvSpPr>
        <p:spPr>
          <a:xfrm>
            <a:off x="457200" y="2560320"/>
            <a:ext cx="3840480" cy="914400"/>
          </a:xfrm>
          <a:prstGeom prst="roundRect">
            <a:avLst>
              <a:gd name="adj" fmla="val 12000"/>
            </a:avLst>
          </a:prstGeom>
          <a:solidFill>
            <a:schemeClr val="bg2"/>
          </a:solidFill>
          <a:ln/>
        </p:spPr>
      </p:sp>
      <p:sp>
        <p:nvSpPr>
          <p:cNvPr id="8" name="IO text"/>
          <p:cNvSpPr txBox="1"/>
          <p:nvPr/>
        </p:nvSpPr>
        <p:spPr>
          <a:xfrm>
            <a:off x="640080" y="2633472"/>
            <a:ext cx="3474720" cy="8046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300" dirty="0">
                <a:solidFill>
                  <a:schemeClr val="tx1"/>
                </a:solidFill>
                <a:latin typeface="Hind Siliguri" panose="02000000000000000000" pitchFamily="2" charset="0"/>
                <a:cs typeface="Hind Siliguri" panose="02000000000000000000" pitchFamily="2" charset="0"/>
              </a:rPr>
              <a:t>ইনপুট: 7</a:t>
            </a:r>
            <a:endParaRPr lang="en-US" sz="1300" dirty="0">
              <a:latin typeface="Hind Siliguri" panose="02000000000000000000" pitchFamily="2" charset="0"/>
              <a:cs typeface="Hind Siliguri" panose="02000000000000000000" pitchFamily="2" charset="0"/>
            </a:endParaRPr>
          </a:p>
          <a:p>
            <a:pPr marL="0" indent="0">
              <a:buNone/>
            </a:pPr>
            <a:r>
              <a:rPr lang="en-US" sz="1300" dirty="0">
                <a:solidFill>
                  <a:schemeClr val="tx1"/>
                </a:solidFill>
                <a:latin typeface="Hind Siliguri" panose="02000000000000000000" pitchFamily="2" charset="0"/>
                <a:cs typeface="Hind Siliguri" panose="02000000000000000000" pitchFamily="2" charset="0"/>
              </a:rPr>
              <a:t>আউটপুট: Area ≈ 153.94</a:t>
            </a:r>
            <a:endParaRPr lang="en-US" sz="1300" dirty="0">
              <a:latin typeface="Hind Siliguri" panose="02000000000000000000" pitchFamily="2" charset="0"/>
              <a:cs typeface="Hind Siliguri" panose="02000000000000000000" pitchFamily="2" charset="0"/>
            </a:endParaRPr>
          </a:p>
        </p:txBody>
      </p:sp>
      <p:sp>
        <p:nvSpPr>
          <p:cNvPr id="9" name="Hint card"/>
          <p:cNvSpPr/>
          <p:nvPr/>
        </p:nvSpPr>
        <p:spPr>
          <a:xfrm>
            <a:off x="457200" y="3611880"/>
            <a:ext cx="3840480" cy="914400"/>
          </a:xfrm>
          <a:prstGeom prst="roundRect">
            <a:avLst>
              <a:gd name="adj" fmla="val 12000"/>
            </a:avLst>
          </a:prstGeom>
          <a:solidFill>
            <a:schemeClr val="bg2"/>
          </a:solidFill>
          <a:ln/>
        </p:spPr>
      </p:sp>
      <p:sp>
        <p:nvSpPr>
          <p:cNvPr id="10" name="Hint label"/>
          <p:cNvSpPr txBox="1"/>
          <p:nvPr/>
        </p:nvSpPr>
        <p:spPr>
          <a:xfrm>
            <a:off x="640080" y="3675888"/>
            <a:ext cx="3474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400" b="1" dirty="0">
                <a:solidFill>
                  <a:schemeClr val="accent3"/>
                </a:solidFill>
                <a:latin typeface="Hind Siliguri" panose="02000000000000000000" pitchFamily="2" charset="0"/>
                <a:cs typeface="Hind Siliguri" panose="02000000000000000000" pitchFamily="2" charset="0"/>
              </a:rPr>
              <a:t>আইডিয়া</a:t>
            </a:r>
            <a:endParaRPr lang="en-US" sz="1400" dirty="0">
              <a:latin typeface="Hind Siliguri" panose="02000000000000000000" pitchFamily="2" charset="0"/>
              <a:cs typeface="Hind Siliguri" panose="02000000000000000000" pitchFamily="2" charset="0"/>
            </a:endParaRPr>
          </a:p>
        </p:txBody>
      </p:sp>
      <p:sp>
        <p:nvSpPr>
          <p:cNvPr id="11" name="Hint"/>
          <p:cNvSpPr txBox="1"/>
          <p:nvPr/>
        </p:nvSpPr>
        <p:spPr>
          <a:xfrm>
            <a:off x="640080" y="3950208"/>
            <a:ext cx="34747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400" dirty="0">
                <a:solidFill>
                  <a:schemeClr val="tx1"/>
                </a:solidFill>
                <a:latin typeface="Hind Siliguri" panose="02000000000000000000" pitchFamily="2" charset="0"/>
                <a:cs typeface="Hind Siliguri" panose="02000000000000000000" pitchFamily="2" charset="0"/>
              </a:rPr>
              <a:t>ক্ষেত্রফল = π × r²। π-র জন্য Math.PI ব্যবহার করো।</a:t>
            </a:r>
            <a:endParaRPr lang="en-US" sz="1400" dirty="0">
              <a:latin typeface="Hind Siliguri" panose="02000000000000000000" pitchFamily="2" charset="0"/>
              <a:cs typeface="Hind Siliguri" panose="02000000000000000000" pitchFamily="2" charset="0"/>
            </a:endParaRPr>
          </a:p>
        </p:txBody>
      </p:sp>
      <p:sp>
        <p:nvSpPr>
          <p:cNvPr id="12" name="Code card"/>
          <p:cNvSpPr/>
          <p:nvPr/>
        </p:nvSpPr>
        <p:spPr>
          <a:xfrm>
            <a:off x="4480560" y="1234440"/>
            <a:ext cx="4206240" cy="3291840"/>
          </a:xfrm>
          <a:prstGeom prst="roundRect">
            <a:avLst>
              <a:gd name="adj" fmla="val 3333"/>
            </a:avLst>
          </a:prstGeom>
          <a:solidFill>
            <a:schemeClr val="tx1"/>
          </a:solidFill>
          <a:ln/>
        </p:spPr>
      </p:sp>
      <p:sp>
        <p:nvSpPr>
          <p:cNvPr id="13" name="Code label"/>
          <p:cNvSpPr txBox="1"/>
          <p:nvPr/>
        </p:nvSpPr>
        <p:spPr>
          <a:xfrm>
            <a:off x="4663440" y="1371600"/>
            <a:ext cx="3840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200" b="1" dirty="0">
                <a:solidFill>
                  <a:schemeClr val="accent4"/>
                </a:solidFill>
                <a:latin typeface="Hind Siliguri" panose="02000000000000000000" pitchFamily="2" charset="0"/>
                <a:cs typeface="Hind Siliguri" panose="02000000000000000000" pitchFamily="2" charset="0"/>
              </a:rPr>
              <a:t>Java কোড (main মেথডের ভেতরে)</a:t>
            </a:r>
            <a:endParaRPr lang="en-US" sz="1200" dirty="0">
              <a:latin typeface="Hind Siliguri" panose="02000000000000000000" pitchFamily="2" charset="0"/>
              <a:cs typeface="Hind Siliguri" panose="02000000000000000000" pitchFamily="2" charset="0"/>
            </a:endParaRPr>
          </a:p>
        </p:txBody>
      </p:sp>
      <p:sp>
        <p:nvSpPr>
          <p:cNvPr id="14" name="Code"/>
          <p:cNvSpPr txBox="1"/>
          <p:nvPr/>
        </p:nvSpPr>
        <p:spPr>
          <a:xfrm>
            <a:off x="4663440" y="1645920"/>
            <a:ext cx="3886200" cy="2651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000" dirty="0">
                <a:solidFill>
                  <a:schemeClr val="bg1"/>
                </a:solidFill>
                <a:latin typeface="Monaco" panose="020B0500000000000000" pitchFamily="34" charset="0"/>
                <a:ea typeface="Courier New" pitchFamily="34" charset="-122"/>
                <a:cs typeface="Hind Siliguri" panose="02000000000000000000" pitchFamily="2" charset="0"/>
              </a:rPr>
              <a:t>import </a:t>
            </a:r>
            <a:r>
              <a:rPr lang="en-US" sz="1000" dirty="0" err="1">
                <a:solidFill>
                  <a:schemeClr val="bg1"/>
                </a:solidFill>
                <a:latin typeface="Monaco" panose="020B0500000000000000" pitchFamily="34" charset="0"/>
                <a:ea typeface="Courier New" pitchFamily="34" charset="-122"/>
                <a:cs typeface="Hind Siliguri" panose="02000000000000000000" pitchFamily="2" charset="0"/>
              </a:rPr>
              <a:t>java.util.Scanner</a:t>
            </a:r>
            <a:r>
              <a:rPr lang="en-US" sz="1000" dirty="0">
                <a:solidFill>
                  <a:schemeClr val="bg1"/>
                </a:solidFill>
                <a:latin typeface="Monaco" panose="020B0500000000000000" pitchFamily="34" charset="0"/>
                <a:ea typeface="Courier New" pitchFamily="34" charset="-122"/>
                <a:cs typeface="Hind Siliguri" panose="02000000000000000000" pitchFamily="2" charset="0"/>
              </a:rPr>
              <a:t>;</a:t>
            </a:r>
          </a:p>
          <a:p>
            <a:pPr marL="0" indent="0">
              <a:buNone/>
            </a:pPr>
            <a:endParaRPr lang="en-US" sz="1000" dirty="0">
              <a:solidFill>
                <a:schemeClr val="bg1"/>
              </a:solidFill>
              <a:latin typeface="Monaco" panose="020B0500000000000000" pitchFamily="34" charset="0"/>
              <a:ea typeface="Courier New" pitchFamily="34" charset="-122"/>
              <a:cs typeface="Hind Siliguri" panose="02000000000000000000" pitchFamily="2" charset="0"/>
            </a:endParaRPr>
          </a:p>
          <a:p>
            <a:pPr marL="0" indent="0">
              <a:buNone/>
            </a:pPr>
            <a:r>
              <a:rPr lang="en-US" sz="1000" dirty="0">
                <a:solidFill>
                  <a:schemeClr val="bg1"/>
                </a:solidFill>
                <a:latin typeface="Monaco" panose="020B0500000000000000" pitchFamily="34" charset="0"/>
                <a:ea typeface="Courier New" pitchFamily="34" charset="-122"/>
                <a:cs typeface="Hind Siliguri" panose="02000000000000000000" pitchFamily="2" charset="0"/>
              </a:rPr>
              <a:t>public class </a:t>
            </a:r>
            <a:r>
              <a:rPr lang="en-US" sz="1000" dirty="0" err="1">
                <a:solidFill>
                  <a:schemeClr val="bg1"/>
                </a:solidFill>
                <a:latin typeface="Monaco" panose="020B0500000000000000" pitchFamily="34" charset="0"/>
                <a:ea typeface="Courier New" pitchFamily="34" charset="-122"/>
                <a:cs typeface="Hind Siliguri" panose="02000000000000000000" pitchFamily="2" charset="0"/>
              </a:rPr>
              <a:t>CircleArea</a:t>
            </a:r>
            <a:r>
              <a:rPr lang="en-US" sz="1000" dirty="0">
                <a:solidFill>
                  <a:schemeClr val="bg1"/>
                </a:solidFill>
                <a:latin typeface="Monaco" panose="020B0500000000000000" pitchFamily="34" charset="0"/>
                <a:ea typeface="Courier New" pitchFamily="34" charset="-122"/>
                <a:cs typeface="Hind Siliguri" panose="02000000000000000000" pitchFamily="2" charset="0"/>
              </a:rPr>
              <a:t> {</a:t>
            </a:r>
          </a:p>
          <a:p>
            <a:pPr marL="0" indent="0">
              <a:buNone/>
            </a:pPr>
            <a:r>
              <a:rPr lang="en-US" sz="1000" dirty="0">
                <a:solidFill>
                  <a:schemeClr val="bg1"/>
                </a:solidFill>
                <a:latin typeface="Monaco" panose="020B0500000000000000" pitchFamily="34" charset="0"/>
                <a:ea typeface="Courier New" pitchFamily="34" charset="-122"/>
                <a:cs typeface="Hind Siliguri" panose="02000000000000000000" pitchFamily="2" charset="0"/>
              </a:rPr>
              <a:t>    public static void main(String[] </a:t>
            </a:r>
            <a:r>
              <a:rPr lang="en-US" sz="1000" dirty="0" err="1">
                <a:solidFill>
                  <a:schemeClr val="bg1"/>
                </a:solidFill>
                <a:latin typeface="Monaco" panose="020B0500000000000000" pitchFamily="34" charset="0"/>
                <a:ea typeface="Courier New" pitchFamily="34" charset="-122"/>
                <a:cs typeface="Hind Siliguri" panose="02000000000000000000" pitchFamily="2" charset="0"/>
              </a:rPr>
              <a:t>args</a:t>
            </a:r>
            <a:r>
              <a:rPr lang="en-US" sz="1000" dirty="0">
                <a:solidFill>
                  <a:schemeClr val="bg1"/>
                </a:solidFill>
                <a:latin typeface="Monaco" panose="020B0500000000000000" pitchFamily="34" charset="0"/>
                <a:ea typeface="Courier New" pitchFamily="34" charset="-122"/>
                <a:cs typeface="Hind Siliguri" panose="02000000000000000000" pitchFamily="2" charset="0"/>
              </a:rPr>
              <a:t>) {</a:t>
            </a:r>
          </a:p>
          <a:p>
            <a:pPr marL="0" indent="0">
              <a:buNone/>
            </a:pPr>
            <a:r>
              <a:rPr lang="en-US" sz="1000" dirty="0">
                <a:solidFill>
                  <a:schemeClr val="bg1"/>
                </a:solidFill>
                <a:latin typeface="Monaco" panose="020B0500000000000000" pitchFamily="34" charset="0"/>
                <a:ea typeface="Courier New" pitchFamily="34" charset="-122"/>
                <a:cs typeface="Hind Siliguri" panose="02000000000000000000" pitchFamily="2" charset="0"/>
              </a:rPr>
              <a:t>        Scanner input = new Scanner(System.in);</a:t>
            </a:r>
          </a:p>
          <a:p>
            <a:pPr marL="0" indent="0">
              <a:buNone/>
            </a:pPr>
            <a:endParaRPr lang="en-US" sz="1000" dirty="0">
              <a:solidFill>
                <a:schemeClr val="bg1"/>
              </a:solidFill>
              <a:latin typeface="Monaco" panose="020B0500000000000000" pitchFamily="34" charset="0"/>
              <a:ea typeface="Courier New" pitchFamily="34" charset="-122"/>
              <a:cs typeface="Hind Siliguri" panose="02000000000000000000" pitchFamily="2" charset="0"/>
            </a:endParaRPr>
          </a:p>
          <a:p>
            <a:pPr marL="0" indent="0">
              <a:buNone/>
            </a:pPr>
            <a:r>
              <a:rPr lang="en-US" sz="1000" dirty="0">
                <a:solidFill>
                  <a:schemeClr val="bg1"/>
                </a:solidFill>
                <a:latin typeface="Monaco" panose="020B0500000000000000" pitchFamily="34" charset="0"/>
                <a:ea typeface="Courier New" pitchFamily="34" charset="-122"/>
                <a:cs typeface="Hind Siliguri" panose="02000000000000000000" pitchFamily="2" charset="0"/>
              </a:rPr>
              <a:t>        </a:t>
            </a:r>
            <a:r>
              <a:rPr lang="en-US" sz="1000" dirty="0" err="1">
                <a:solidFill>
                  <a:schemeClr val="bg1"/>
                </a:solidFill>
                <a:latin typeface="Monaco" panose="020B0500000000000000" pitchFamily="34" charset="0"/>
                <a:ea typeface="Courier New" pitchFamily="34" charset="-122"/>
                <a:cs typeface="Hind Siliguri" panose="02000000000000000000" pitchFamily="2" charset="0"/>
              </a:rPr>
              <a:t>System.out.print</a:t>
            </a:r>
            <a:r>
              <a:rPr lang="en-US" sz="1000" dirty="0">
                <a:solidFill>
                  <a:schemeClr val="bg1"/>
                </a:solidFill>
                <a:latin typeface="Monaco" panose="020B0500000000000000" pitchFamily="34" charset="0"/>
                <a:ea typeface="Courier New" pitchFamily="34" charset="-122"/>
                <a:cs typeface="Hind Siliguri" panose="02000000000000000000" pitchFamily="2" charset="0"/>
              </a:rPr>
              <a:t>("Enter radius: ");</a:t>
            </a:r>
          </a:p>
          <a:p>
            <a:pPr marL="0" indent="0">
              <a:buNone/>
            </a:pPr>
            <a:r>
              <a:rPr lang="en-US" sz="1000" dirty="0">
                <a:solidFill>
                  <a:schemeClr val="bg1"/>
                </a:solidFill>
                <a:latin typeface="Monaco" panose="020B0500000000000000" pitchFamily="34" charset="0"/>
                <a:ea typeface="Courier New" pitchFamily="34" charset="-122"/>
                <a:cs typeface="Hind Siliguri" panose="02000000000000000000" pitchFamily="2" charset="0"/>
              </a:rPr>
              <a:t>        double radius = </a:t>
            </a:r>
            <a:r>
              <a:rPr lang="en-US" sz="1000" dirty="0" err="1">
                <a:solidFill>
                  <a:schemeClr val="bg1"/>
                </a:solidFill>
                <a:latin typeface="Monaco" panose="020B0500000000000000" pitchFamily="34" charset="0"/>
                <a:ea typeface="Courier New" pitchFamily="34" charset="-122"/>
                <a:cs typeface="Hind Siliguri" panose="02000000000000000000" pitchFamily="2" charset="0"/>
              </a:rPr>
              <a:t>input.nextDouble</a:t>
            </a:r>
            <a:r>
              <a:rPr lang="en-US" sz="1000" dirty="0">
                <a:solidFill>
                  <a:schemeClr val="bg1"/>
                </a:solidFill>
                <a:latin typeface="Monaco" panose="020B0500000000000000" pitchFamily="34" charset="0"/>
                <a:ea typeface="Courier New" pitchFamily="34" charset="-122"/>
                <a:cs typeface="Hind Siliguri" panose="02000000000000000000" pitchFamily="2" charset="0"/>
              </a:rPr>
              <a:t>();</a:t>
            </a:r>
          </a:p>
          <a:p>
            <a:pPr marL="0" indent="0">
              <a:buNone/>
            </a:pPr>
            <a:endParaRPr lang="en-US" sz="1000" dirty="0">
              <a:solidFill>
                <a:schemeClr val="bg1"/>
              </a:solidFill>
              <a:latin typeface="Monaco" panose="020B0500000000000000" pitchFamily="34" charset="0"/>
              <a:ea typeface="Courier New" pitchFamily="34" charset="-122"/>
              <a:cs typeface="Hind Siliguri" panose="02000000000000000000" pitchFamily="2" charset="0"/>
            </a:endParaRPr>
          </a:p>
          <a:p>
            <a:pPr marL="0" indent="0">
              <a:buNone/>
            </a:pPr>
            <a:r>
              <a:rPr lang="en-US" sz="1000" dirty="0">
                <a:solidFill>
                  <a:schemeClr val="bg1"/>
                </a:solidFill>
                <a:latin typeface="Monaco" panose="020B0500000000000000" pitchFamily="34" charset="0"/>
                <a:ea typeface="Courier New" pitchFamily="34" charset="-122"/>
                <a:cs typeface="Hind Siliguri" panose="02000000000000000000" pitchFamily="2" charset="0"/>
              </a:rPr>
              <a:t>        double area = </a:t>
            </a:r>
            <a:r>
              <a:rPr lang="en-US" sz="1000" dirty="0" err="1">
                <a:solidFill>
                  <a:schemeClr val="bg1"/>
                </a:solidFill>
                <a:latin typeface="Monaco" panose="020B0500000000000000" pitchFamily="34" charset="0"/>
                <a:ea typeface="Courier New" pitchFamily="34" charset="-122"/>
                <a:cs typeface="Hind Siliguri" panose="02000000000000000000" pitchFamily="2" charset="0"/>
              </a:rPr>
              <a:t>Math.PI</a:t>
            </a:r>
            <a:r>
              <a:rPr lang="en-US" sz="1000" dirty="0">
                <a:solidFill>
                  <a:schemeClr val="bg1"/>
                </a:solidFill>
                <a:latin typeface="Monaco" panose="020B0500000000000000" pitchFamily="34" charset="0"/>
                <a:ea typeface="Courier New" pitchFamily="34" charset="-122"/>
                <a:cs typeface="Hind Siliguri" panose="02000000000000000000" pitchFamily="2" charset="0"/>
              </a:rPr>
              <a:t> * radius * radius;</a:t>
            </a:r>
          </a:p>
          <a:p>
            <a:pPr marL="0" indent="0">
              <a:buNone/>
            </a:pPr>
            <a:endParaRPr lang="en-US" sz="1000" dirty="0">
              <a:solidFill>
                <a:schemeClr val="bg1"/>
              </a:solidFill>
              <a:latin typeface="Monaco" panose="020B0500000000000000" pitchFamily="34" charset="0"/>
              <a:ea typeface="Courier New" pitchFamily="34" charset="-122"/>
              <a:cs typeface="Hind Siliguri" panose="02000000000000000000" pitchFamily="2" charset="0"/>
            </a:endParaRPr>
          </a:p>
          <a:p>
            <a:pPr marL="0" indent="0">
              <a:buNone/>
            </a:pPr>
            <a:r>
              <a:rPr lang="en-US" sz="1000" dirty="0">
                <a:solidFill>
                  <a:schemeClr val="bg1"/>
                </a:solidFill>
                <a:latin typeface="Monaco" panose="020B0500000000000000" pitchFamily="34" charset="0"/>
                <a:ea typeface="Courier New" pitchFamily="34" charset="-122"/>
                <a:cs typeface="Hind Siliguri" panose="02000000000000000000" pitchFamily="2" charset="0"/>
              </a:rPr>
              <a:t>        </a:t>
            </a:r>
            <a:r>
              <a:rPr lang="en-US" sz="1000" dirty="0" err="1">
                <a:solidFill>
                  <a:schemeClr val="bg1"/>
                </a:solidFill>
                <a:latin typeface="Monaco" panose="020B0500000000000000" pitchFamily="34" charset="0"/>
                <a:ea typeface="Courier New" pitchFamily="34" charset="-122"/>
                <a:cs typeface="Hind Siliguri" panose="02000000000000000000" pitchFamily="2" charset="0"/>
              </a:rPr>
              <a:t>System.out.println</a:t>
            </a:r>
            <a:r>
              <a:rPr lang="en-US" sz="1000" dirty="0">
                <a:solidFill>
                  <a:schemeClr val="bg1"/>
                </a:solidFill>
                <a:latin typeface="Monaco" panose="020B0500000000000000" pitchFamily="34" charset="0"/>
                <a:ea typeface="Courier New" pitchFamily="34" charset="-122"/>
                <a:cs typeface="Hind Siliguri" panose="02000000000000000000" pitchFamily="2" charset="0"/>
              </a:rPr>
              <a:t>("Area of Circle = " + area);</a:t>
            </a:r>
          </a:p>
          <a:p>
            <a:pPr marL="0" indent="0">
              <a:buNone/>
            </a:pPr>
            <a:endParaRPr lang="en-US" sz="1000" dirty="0">
              <a:solidFill>
                <a:schemeClr val="bg1"/>
              </a:solidFill>
              <a:latin typeface="Monaco" panose="020B0500000000000000" pitchFamily="34" charset="0"/>
              <a:ea typeface="Courier New" pitchFamily="34" charset="-122"/>
              <a:cs typeface="Hind Siliguri" panose="02000000000000000000" pitchFamily="2" charset="0"/>
            </a:endParaRPr>
          </a:p>
          <a:p>
            <a:pPr marL="0" indent="0">
              <a:buNone/>
            </a:pPr>
            <a:r>
              <a:rPr lang="en-US" sz="1000" dirty="0">
                <a:solidFill>
                  <a:schemeClr val="bg1"/>
                </a:solidFill>
                <a:latin typeface="Monaco" panose="020B0500000000000000" pitchFamily="34" charset="0"/>
                <a:ea typeface="Courier New" pitchFamily="34" charset="-122"/>
                <a:cs typeface="Hind Siliguri" panose="02000000000000000000" pitchFamily="2" charset="0"/>
              </a:rPr>
              <a:t>        </a:t>
            </a:r>
            <a:r>
              <a:rPr lang="en-US" sz="1000" dirty="0" err="1">
                <a:solidFill>
                  <a:schemeClr val="bg1"/>
                </a:solidFill>
                <a:latin typeface="Monaco" panose="020B0500000000000000" pitchFamily="34" charset="0"/>
                <a:ea typeface="Courier New" pitchFamily="34" charset="-122"/>
                <a:cs typeface="Hind Siliguri" panose="02000000000000000000" pitchFamily="2" charset="0"/>
              </a:rPr>
              <a:t>input.close</a:t>
            </a:r>
            <a:r>
              <a:rPr lang="en-US" sz="1000" dirty="0">
                <a:solidFill>
                  <a:schemeClr val="bg1"/>
                </a:solidFill>
                <a:latin typeface="Monaco" panose="020B0500000000000000" pitchFamily="34" charset="0"/>
                <a:ea typeface="Courier New" pitchFamily="34" charset="-122"/>
                <a:cs typeface="Hind Siliguri" panose="02000000000000000000" pitchFamily="2" charset="0"/>
              </a:rPr>
              <a:t>();</a:t>
            </a:r>
          </a:p>
          <a:p>
            <a:pPr marL="0" indent="0">
              <a:buNone/>
            </a:pPr>
            <a:r>
              <a:rPr lang="en-US" sz="1000" dirty="0">
                <a:solidFill>
                  <a:schemeClr val="bg1"/>
                </a:solidFill>
                <a:latin typeface="Monaco" panose="020B0500000000000000" pitchFamily="34" charset="0"/>
                <a:ea typeface="Courier New" pitchFamily="34" charset="-122"/>
                <a:cs typeface="Hind Siliguri" panose="02000000000000000000" pitchFamily="2" charset="0"/>
              </a:rPr>
              <a:t>    }</a:t>
            </a:r>
          </a:p>
          <a:p>
            <a:pPr marL="0" indent="0">
              <a:buNone/>
            </a:pPr>
            <a:r>
              <a:rPr lang="en-US" sz="1000" dirty="0">
                <a:solidFill>
                  <a:schemeClr val="bg1"/>
                </a:solidFill>
                <a:latin typeface="Monaco" panose="020B0500000000000000" pitchFamily="34" charset="0"/>
                <a:ea typeface="Courier New" pitchFamily="34" charset="-122"/>
                <a:cs typeface="Hind Siliguri" panose="02000000000000000000" pitchFamily="2" charset="0"/>
              </a:rPr>
              <a:t>}</a:t>
            </a:r>
            <a:endParaRPr lang="en-US" sz="1000" dirty="0">
              <a:latin typeface="Monaco" panose="020B0500000000000000" pitchFamily="34" charset="0"/>
              <a:cs typeface="Hind Siliguri" panose="02000000000000000000" pitchFamily="2" charset="0"/>
            </a:endParaRPr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70916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=""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6"/>
                </a:solidFill>
              </a:defRPr>
            </a:lvl1pPr>
          </a:lstStyle>
          <a:p>
            <a:pPr algn="l"/>
            <a:fld id="{F7021451-1387-4CA6-816F-3879F97B5CBC}" type="slidenum">
              <a:rPr lang="en-US" b="0">
                <a:latin typeface="Hind Siliguri" panose="02000000000000000000" pitchFamily="2" charset="0"/>
                <a:cs typeface="Hind Siliguri" panose="02000000000000000000" pitchFamily="2" charset="0"/>
              </a:rPr>
              <a:t>13</a:t>
            </a:fld>
            <a:endParaRPr lang="en-US">
              <a:latin typeface="Hind Siliguri" panose="02000000000000000000" pitchFamily="2" charset="0"/>
              <a:cs typeface="Hind Siliguri" panose="02000000000000000000" pitchFamily="2" charset="0"/>
            </a:endParaRP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>
            <a:spLocks noGrp="1"/>
          </p:cNvSpPr>
          <p:nvPr>
            <p:ph type="title" idx="100" hasCustomPrompt="1"/>
          </p:nvPr>
        </p:nvSpPr>
        <p:spPr>
          <a:xfrm>
            <a:off x="457200" y="274320"/>
            <a:ext cx="82296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3000" b="1" dirty="0">
                <a:solidFill>
                  <a:schemeClr val="tx2"/>
                </a:solidFill>
                <a:latin typeface="Hind Siliguri" panose="02000000000000000000" pitchFamily="2" charset="0"/>
                <a:cs typeface="Hind Siliguri" panose="02000000000000000000" pitchFamily="2" charset="0"/>
              </a:rPr>
              <a:t>আয়তক্ষেত্রের পরিসীমা</a:t>
            </a:r>
            <a:endParaRPr lang="en-US" sz="3000" dirty="0">
              <a:latin typeface="Hind Siliguri" panose="02000000000000000000" pitchFamily="2" charset="0"/>
              <a:cs typeface="Hind Siliguri" panose="02000000000000000000" pitchFamily="2" charset="0"/>
            </a:endParaRPr>
          </a:p>
        </p:txBody>
      </p:sp>
      <p:sp>
        <p:nvSpPr>
          <p:cNvPr id="3" name="Problem badge"/>
          <p:cNvSpPr/>
          <p:nvPr/>
        </p:nvSpPr>
        <p:spPr>
          <a:xfrm>
            <a:off x="7406640" y="411480"/>
            <a:ext cx="1280160" cy="384048"/>
          </a:xfrm>
          <a:prstGeom prst="roundRect">
            <a:avLst>
              <a:gd name="adj" fmla="val 47619"/>
            </a:avLst>
          </a:prstGeom>
          <a:solidFill>
            <a:schemeClr val="accent1"/>
          </a:solidFill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chemeClr val="bg1"/>
                </a:solidFill>
                <a:latin typeface="Hind Siliguri" panose="02000000000000000000" pitchFamily="2" charset="0"/>
                <a:cs typeface="Hind Siliguri" panose="02000000000000000000" pitchFamily="2" charset="0"/>
              </a:rPr>
              <a:t>প্রব্লেম ৯/১০</a:t>
            </a:r>
            <a:endParaRPr lang="en-US" sz="1200" dirty="0">
              <a:latin typeface="Hind Siliguri" panose="02000000000000000000" pitchFamily="2" charset="0"/>
              <a:cs typeface="Hind Siliguri" panose="02000000000000000000" pitchFamily="2" charset="0"/>
            </a:endParaRPr>
          </a:p>
        </p:txBody>
      </p:sp>
      <p:sp>
        <p:nvSpPr>
          <p:cNvPr id="4" name="Statement card"/>
          <p:cNvSpPr/>
          <p:nvPr/>
        </p:nvSpPr>
        <p:spPr>
          <a:xfrm>
            <a:off x="457200" y="1234440"/>
            <a:ext cx="3840480" cy="1188720"/>
          </a:xfrm>
          <a:prstGeom prst="roundRect">
            <a:avLst>
              <a:gd name="adj" fmla="val 9231"/>
            </a:avLst>
          </a:prstGeom>
          <a:solidFill>
            <a:schemeClr val="bg2"/>
          </a:solidFill>
          <a:ln/>
        </p:spPr>
      </p:sp>
      <p:sp>
        <p:nvSpPr>
          <p:cNvPr id="5" name="Statement label"/>
          <p:cNvSpPr txBox="1"/>
          <p:nvPr/>
        </p:nvSpPr>
        <p:spPr>
          <a:xfrm>
            <a:off x="640080" y="1325880"/>
            <a:ext cx="3474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400" b="1" dirty="0">
                <a:solidFill>
                  <a:schemeClr val="accent1"/>
                </a:solidFill>
                <a:latin typeface="Hind Siliguri" panose="02000000000000000000" pitchFamily="2" charset="0"/>
                <a:cs typeface="Hind Siliguri" panose="02000000000000000000" pitchFamily="2" charset="0"/>
              </a:rPr>
              <a:t>সমস্যা</a:t>
            </a:r>
            <a:endParaRPr lang="en-US" sz="1400" dirty="0">
              <a:latin typeface="Hind Siliguri" panose="02000000000000000000" pitchFamily="2" charset="0"/>
              <a:cs typeface="Hind Siliguri" panose="02000000000000000000" pitchFamily="2" charset="0"/>
            </a:endParaRPr>
          </a:p>
        </p:txBody>
      </p:sp>
      <p:sp>
        <p:nvSpPr>
          <p:cNvPr id="6" name="Statement"/>
          <p:cNvSpPr txBox="1"/>
          <p:nvPr/>
        </p:nvSpPr>
        <p:spPr>
          <a:xfrm>
            <a:off x="640080" y="1627632"/>
            <a:ext cx="34747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400" dirty="0">
                <a:solidFill>
                  <a:schemeClr val="tx1"/>
                </a:solidFill>
                <a:latin typeface="Hind Siliguri" panose="02000000000000000000" pitchFamily="2" charset="0"/>
                <a:cs typeface="Hind Siliguri" panose="02000000000000000000" pitchFamily="2" charset="0"/>
              </a:rPr>
              <a:t>Java Program ব্যবহার করে একটি আয়তক্ষেত্রের পরিসীমা নির্ণয় কর।</a:t>
            </a:r>
            <a:endParaRPr lang="en-US" sz="1400" dirty="0">
              <a:latin typeface="Hind Siliguri" panose="02000000000000000000" pitchFamily="2" charset="0"/>
              <a:cs typeface="Hind Siliguri" panose="02000000000000000000" pitchFamily="2" charset="0"/>
            </a:endParaRPr>
          </a:p>
        </p:txBody>
      </p:sp>
      <p:sp>
        <p:nvSpPr>
          <p:cNvPr id="7" name="IO card"/>
          <p:cNvSpPr/>
          <p:nvPr/>
        </p:nvSpPr>
        <p:spPr>
          <a:xfrm>
            <a:off x="457200" y="2560320"/>
            <a:ext cx="3840480" cy="914400"/>
          </a:xfrm>
          <a:prstGeom prst="roundRect">
            <a:avLst>
              <a:gd name="adj" fmla="val 12000"/>
            </a:avLst>
          </a:prstGeom>
          <a:solidFill>
            <a:schemeClr val="bg2"/>
          </a:solidFill>
          <a:ln/>
        </p:spPr>
      </p:sp>
      <p:sp>
        <p:nvSpPr>
          <p:cNvPr id="8" name="IO text"/>
          <p:cNvSpPr txBox="1"/>
          <p:nvPr/>
        </p:nvSpPr>
        <p:spPr>
          <a:xfrm>
            <a:off x="640080" y="2633472"/>
            <a:ext cx="3474720" cy="8046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300" dirty="0">
                <a:solidFill>
                  <a:schemeClr val="tx1"/>
                </a:solidFill>
                <a:latin typeface="Hind Siliguri" panose="02000000000000000000" pitchFamily="2" charset="0"/>
                <a:cs typeface="Hind Siliguri" panose="02000000000000000000" pitchFamily="2" charset="0"/>
              </a:rPr>
              <a:t>ইনপুট: 5 3</a:t>
            </a:r>
            <a:endParaRPr lang="en-US" sz="1300" dirty="0">
              <a:latin typeface="Hind Siliguri" panose="02000000000000000000" pitchFamily="2" charset="0"/>
              <a:cs typeface="Hind Siliguri" panose="02000000000000000000" pitchFamily="2" charset="0"/>
            </a:endParaRPr>
          </a:p>
          <a:p>
            <a:pPr marL="0" indent="0">
              <a:buNone/>
            </a:pPr>
            <a:r>
              <a:rPr lang="en-US" sz="1300" dirty="0">
                <a:solidFill>
                  <a:schemeClr val="tx1"/>
                </a:solidFill>
                <a:latin typeface="Hind Siliguri" panose="02000000000000000000" pitchFamily="2" charset="0"/>
                <a:cs typeface="Hind Siliguri" panose="02000000000000000000" pitchFamily="2" charset="0"/>
              </a:rPr>
              <a:t>আউটপুট: Perimeter = 16.0</a:t>
            </a:r>
            <a:endParaRPr lang="en-US" sz="1300" dirty="0">
              <a:latin typeface="Hind Siliguri" panose="02000000000000000000" pitchFamily="2" charset="0"/>
              <a:cs typeface="Hind Siliguri" panose="02000000000000000000" pitchFamily="2" charset="0"/>
            </a:endParaRPr>
          </a:p>
        </p:txBody>
      </p:sp>
      <p:sp>
        <p:nvSpPr>
          <p:cNvPr id="9" name="Hint card"/>
          <p:cNvSpPr/>
          <p:nvPr/>
        </p:nvSpPr>
        <p:spPr>
          <a:xfrm>
            <a:off x="457200" y="3611880"/>
            <a:ext cx="3840480" cy="914400"/>
          </a:xfrm>
          <a:prstGeom prst="roundRect">
            <a:avLst>
              <a:gd name="adj" fmla="val 12000"/>
            </a:avLst>
          </a:prstGeom>
          <a:solidFill>
            <a:schemeClr val="bg2"/>
          </a:solidFill>
          <a:ln/>
        </p:spPr>
      </p:sp>
      <p:sp>
        <p:nvSpPr>
          <p:cNvPr id="10" name="Hint label"/>
          <p:cNvSpPr txBox="1"/>
          <p:nvPr/>
        </p:nvSpPr>
        <p:spPr>
          <a:xfrm>
            <a:off x="640080" y="3675888"/>
            <a:ext cx="3474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400" b="1" dirty="0">
                <a:solidFill>
                  <a:schemeClr val="accent3"/>
                </a:solidFill>
                <a:latin typeface="Hind Siliguri" panose="02000000000000000000" pitchFamily="2" charset="0"/>
                <a:cs typeface="Hind Siliguri" panose="02000000000000000000" pitchFamily="2" charset="0"/>
              </a:rPr>
              <a:t>আইডিয়া</a:t>
            </a:r>
            <a:endParaRPr lang="en-US" sz="1400" dirty="0">
              <a:latin typeface="Hind Siliguri" panose="02000000000000000000" pitchFamily="2" charset="0"/>
              <a:cs typeface="Hind Siliguri" panose="02000000000000000000" pitchFamily="2" charset="0"/>
            </a:endParaRPr>
          </a:p>
        </p:txBody>
      </p:sp>
      <p:sp>
        <p:nvSpPr>
          <p:cNvPr id="11" name="Hint"/>
          <p:cNvSpPr txBox="1"/>
          <p:nvPr/>
        </p:nvSpPr>
        <p:spPr>
          <a:xfrm>
            <a:off x="640080" y="3950208"/>
            <a:ext cx="34747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400" dirty="0">
                <a:solidFill>
                  <a:schemeClr val="tx1"/>
                </a:solidFill>
                <a:latin typeface="Hind Siliguri" panose="02000000000000000000" pitchFamily="2" charset="0"/>
                <a:cs typeface="Hind Siliguri" panose="02000000000000000000" pitchFamily="2" charset="0"/>
              </a:rPr>
              <a:t>পরিসীমা = ২ × (দৈর্ঘ্য + প্রস্থ)। যোগ আগে করতে বন্ধনী দাও।</a:t>
            </a:r>
            <a:endParaRPr lang="en-US" sz="1400" dirty="0">
              <a:latin typeface="Hind Siliguri" panose="02000000000000000000" pitchFamily="2" charset="0"/>
              <a:cs typeface="Hind Siliguri" panose="02000000000000000000" pitchFamily="2" charset="0"/>
            </a:endParaRPr>
          </a:p>
        </p:txBody>
      </p:sp>
      <p:sp>
        <p:nvSpPr>
          <p:cNvPr id="12" name="Code card"/>
          <p:cNvSpPr/>
          <p:nvPr/>
        </p:nvSpPr>
        <p:spPr>
          <a:xfrm>
            <a:off x="4480560" y="1234440"/>
            <a:ext cx="4206240" cy="3291840"/>
          </a:xfrm>
          <a:prstGeom prst="roundRect">
            <a:avLst>
              <a:gd name="adj" fmla="val 3333"/>
            </a:avLst>
          </a:prstGeom>
          <a:solidFill>
            <a:schemeClr val="tx1"/>
          </a:solidFill>
          <a:ln/>
        </p:spPr>
      </p:sp>
      <p:sp>
        <p:nvSpPr>
          <p:cNvPr id="13" name="Code label"/>
          <p:cNvSpPr txBox="1"/>
          <p:nvPr/>
        </p:nvSpPr>
        <p:spPr>
          <a:xfrm>
            <a:off x="4663440" y="1371600"/>
            <a:ext cx="3840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200" b="1" dirty="0">
                <a:solidFill>
                  <a:schemeClr val="accent4"/>
                </a:solidFill>
                <a:latin typeface="Hind Siliguri" panose="02000000000000000000" pitchFamily="2" charset="0"/>
                <a:cs typeface="Hind Siliguri" panose="02000000000000000000" pitchFamily="2" charset="0"/>
              </a:rPr>
              <a:t>Java কোড (main মেথডের ভেতরে)</a:t>
            </a:r>
            <a:endParaRPr lang="en-US" sz="1200" dirty="0">
              <a:latin typeface="Hind Siliguri" panose="02000000000000000000" pitchFamily="2" charset="0"/>
              <a:cs typeface="Hind Siliguri" panose="02000000000000000000" pitchFamily="2" charset="0"/>
            </a:endParaRPr>
          </a:p>
        </p:txBody>
      </p:sp>
      <p:sp>
        <p:nvSpPr>
          <p:cNvPr id="14" name="Code"/>
          <p:cNvSpPr txBox="1"/>
          <p:nvPr/>
        </p:nvSpPr>
        <p:spPr>
          <a:xfrm>
            <a:off x="4663440" y="1620012"/>
            <a:ext cx="3886200" cy="2651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r>
              <a:rPr lang="en-US" sz="1000" dirty="0">
                <a:solidFill>
                  <a:schemeClr val="bg1"/>
                </a:solidFill>
                <a:latin typeface="Monaco" panose="020B0500000000000000" pitchFamily="34" charset="0"/>
                <a:ea typeface="Courier New" pitchFamily="34" charset="-122"/>
                <a:cs typeface="Hind Siliguri" panose="02000000000000000000" pitchFamily="2" charset="0"/>
              </a:rPr>
              <a:t>import </a:t>
            </a:r>
            <a:r>
              <a:rPr lang="en-US" sz="1000" dirty="0" err="1">
                <a:solidFill>
                  <a:schemeClr val="bg1"/>
                </a:solidFill>
                <a:latin typeface="Monaco" panose="020B0500000000000000" pitchFamily="34" charset="0"/>
                <a:ea typeface="Courier New" pitchFamily="34" charset="-122"/>
                <a:cs typeface="Hind Siliguri" panose="02000000000000000000" pitchFamily="2" charset="0"/>
              </a:rPr>
              <a:t>java.util.Scanner</a:t>
            </a:r>
            <a:r>
              <a:rPr lang="en-US" sz="1000" dirty="0">
                <a:solidFill>
                  <a:schemeClr val="bg1"/>
                </a:solidFill>
                <a:latin typeface="Monaco" panose="020B0500000000000000" pitchFamily="34" charset="0"/>
                <a:ea typeface="Courier New" pitchFamily="34" charset="-122"/>
                <a:cs typeface="Hind Siliguri" panose="02000000000000000000" pitchFamily="2" charset="0"/>
              </a:rPr>
              <a:t>;</a:t>
            </a:r>
          </a:p>
          <a:p>
            <a:pPr marL="0" indent="0">
              <a:buNone/>
            </a:pPr>
            <a:r>
              <a:rPr lang="en-US" sz="1000" dirty="0">
                <a:solidFill>
                  <a:schemeClr val="bg1"/>
                </a:solidFill>
                <a:latin typeface="Monaco" panose="020B0500000000000000" pitchFamily="34" charset="0"/>
                <a:ea typeface="Courier New" pitchFamily="34" charset="-122"/>
                <a:cs typeface="Hind Siliguri" panose="02000000000000000000" pitchFamily="2" charset="0"/>
              </a:rPr>
              <a:t>public class </a:t>
            </a:r>
            <a:r>
              <a:rPr lang="en-US" sz="1000" dirty="0" err="1">
                <a:solidFill>
                  <a:schemeClr val="bg1"/>
                </a:solidFill>
                <a:latin typeface="Monaco" panose="020B0500000000000000" pitchFamily="34" charset="0"/>
                <a:ea typeface="Courier New" pitchFamily="34" charset="-122"/>
                <a:cs typeface="Hind Siliguri" panose="02000000000000000000" pitchFamily="2" charset="0"/>
              </a:rPr>
              <a:t>RectanglePerimeter</a:t>
            </a:r>
            <a:r>
              <a:rPr lang="en-US" sz="1000" dirty="0">
                <a:solidFill>
                  <a:schemeClr val="bg1"/>
                </a:solidFill>
                <a:latin typeface="Monaco" panose="020B0500000000000000" pitchFamily="34" charset="0"/>
                <a:ea typeface="Courier New" pitchFamily="34" charset="-122"/>
                <a:cs typeface="Hind Siliguri" panose="02000000000000000000" pitchFamily="2" charset="0"/>
              </a:rPr>
              <a:t> {</a:t>
            </a:r>
          </a:p>
          <a:p>
            <a:pPr marL="0" indent="0">
              <a:buNone/>
            </a:pPr>
            <a:r>
              <a:rPr lang="en-US" sz="1000" dirty="0">
                <a:solidFill>
                  <a:schemeClr val="bg1"/>
                </a:solidFill>
                <a:latin typeface="Monaco" panose="020B0500000000000000" pitchFamily="34" charset="0"/>
                <a:ea typeface="Courier New" pitchFamily="34" charset="-122"/>
                <a:cs typeface="Hind Siliguri" panose="02000000000000000000" pitchFamily="2" charset="0"/>
              </a:rPr>
              <a:t>    public static void main(String[] </a:t>
            </a:r>
            <a:r>
              <a:rPr lang="en-US" sz="1000" dirty="0" err="1">
                <a:solidFill>
                  <a:schemeClr val="bg1"/>
                </a:solidFill>
                <a:latin typeface="Monaco" panose="020B0500000000000000" pitchFamily="34" charset="0"/>
                <a:ea typeface="Courier New" pitchFamily="34" charset="-122"/>
                <a:cs typeface="Hind Siliguri" panose="02000000000000000000" pitchFamily="2" charset="0"/>
              </a:rPr>
              <a:t>args</a:t>
            </a:r>
            <a:r>
              <a:rPr lang="en-US" sz="1000" dirty="0">
                <a:solidFill>
                  <a:schemeClr val="bg1"/>
                </a:solidFill>
                <a:latin typeface="Monaco" panose="020B0500000000000000" pitchFamily="34" charset="0"/>
                <a:ea typeface="Courier New" pitchFamily="34" charset="-122"/>
                <a:cs typeface="Hind Siliguri" panose="02000000000000000000" pitchFamily="2" charset="0"/>
              </a:rPr>
              <a:t>) {</a:t>
            </a:r>
          </a:p>
          <a:p>
            <a:pPr marL="0" indent="0">
              <a:buNone/>
            </a:pPr>
            <a:r>
              <a:rPr lang="en-US" sz="1000" dirty="0">
                <a:solidFill>
                  <a:schemeClr val="bg1"/>
                </a:solidFill>
                <a:latin typeface="Monaco" panose="020B0500000000000000" pitchFamily="34" charset="0"/>
                <a:ea typeface="Courier New" pitchFamily="34" charset="-122"/>
                <a:cs typeface="Hind Siliguri" panose="02000000000000000000" pitchFamily="2" charset="0"/>
              </a:rPr>
              <a:t>        Scanner input = new Scanner(System.in);</a:t>
            </a:r>
          </a:p>
          <a:p>
            <a:pPr marL="0" indent="0">
              <a:buNone/>
            </a:pPr>
            <a:endParaRPr lang="en-US" sz="1000" dirty="0">
              <a:solidFill>
                <a:schemeClr val="bg1"/>
              </a:solidFill>
              <a:latin typeface="Monaco" panose="020B0500000000000000" pitchFamily="34" charset="0"/>
              <a:ea typeface="Courier New" pitchFamily="34" charset="-122"/>
              <a:cs typeface="Hind Siliguri" panose="02000000000000000000" pitchFamily="2" charset="0"/>
            </a:endParaRPr>
          </a:p>
          <a:p>
            <a:pPr marL="0" indent="0">
              <a:buNone/>
            </a:pPr>
            <a:r>
              <a:rPr lang="en-US" sz="1000" dirty="0">
                <a:solidFill>
                  <a:schemeClr val="bg1"/>
                </a:solidFill>
                <a:latin typeface="Monaco" panose="020B0500000000000000" pitchFamily="34" charset="0"/>
                <a:ea typeface="Courier New" pitchFamily="34" charset="-122"/>
                <a:cs typeface="Hind Siliguri" panose="02000000000000000000" pitchFamily="2" charset="0"/>
              </a:rPr>
              <a:t>        </a:t>
            </a:r>
            <a:r>
              <a:rPr lang="en-US" sz="1000" dirty="0" err="1">
                <a:solidFill>
                  <a:schemeClr val="bg1"/>
                </a:solidFill>
                <a:latin typeface="Monaco" panose="020B0500000000000000" pitchFamily="34" charset="0"/>
                <a:ea typeface="Courier New" pitchFamily="34" charset="-122"/>
                <a:cs typeface="Hind Siliguri" panose="02000000000000000000" pitchFamily="2" charset="0"/>
              </a:rPr>
              <a:t>System.out.print</a:t>
            </a:r>
            <a:r>
              <a:rPr lang="en-US" sz="1000" dirty="0">
                <a:solidFill>
                  <a:schemeClr val="bg1"/>
                </a:solidFill>
                <a:latin typeface="Monaco" panose="020B0500000000000000" pitchFamily="34" charset="0"/>
                <a:ea typeface="Courier New" pitchFamily="34" charset="-122"/>
                <a:cs typeface="Hind Siliguri" panose="02000000000000000000" pitchFamily="2" charset="0"/>
              </a:rPr>
              <a:t>("Enter length: ");</a:t>
            </a:r>
          </a:p>
          <a:p>
            <a:pPr marL="0" indent="0">
              <a:buNone/>
            </a:pPr>
            <a:r>
              <a:rPr lang="en-US" sz="1000" dirty="0">
                <a:solidFill>
                  <a:schemeClr val="bg1"/>
                </a:solidFill>
                <a:latin typeface="Monaco" panose="020B0500000000000000" pitchFamily="34" charset="0"/>
                <a:ea typeface="Courier New" pitchFamily="34" charset="-122"/>
                <a:cs typeface="Hind Siliguri" panose="02000000000000000000" pitchFamily="2" charset="0"/>
              </a:rPr>
              <a:t>        double length = </a:t>
            </a:r>
            <a:r>
              <a:rPr lang="en-US" sz="1000" dirty="0" err="1">
                <a:solidFill>
                  <a:schemeClr val="bg1"/>
                </a:solidFill>
                <a:latin typeface="Monaco" panose="020B0500000000000000" pitchFamily="34" charset="0"/>
                <a:ea typeface="Courier New" pitchFamily="34" charset="-122"/>
                <a:cs typeface="Hind Siliguri" panose="02000000000000000000" pitchFamily="2" charset="0"/>
              </a:rPr>
              <a:t>input.nextDouble</a:t>
            </a:r>
            <a:r>
              <a:rPr lang="en-US" sz="1000" dirty="0">
                <a:solidFill>
                  <a:schemeClr val="bg1"/>
                </a:solidFill>
                <a:latin typeface="Monaco" panose="020B0500000000000000" pitchFamily="34" charset="0"/>
                <a:ea typeface="Courier New" pitchFamily="34" charset="-122"/>
                <a:cs typeface="Hind Siliguri" panose="02000000000000000000" pitchFamily="2" charset="0"/>
              </a:rPr>
              <a:t>();</a:t>
            </a:r>
          </a:p>
          <a:p>
            <a:pPr marL="0" indent="0">
              <a:buNone/>
            </a:pPr>
            <a:endParaRPr lang="en-US" sz="1000" dirty="0">
              <a:solidFill>
                <a:schemeClr val="bg1"/>
              </a:solidFill>
              <a:latin typeface="Monaco" panose="020B0500000000000000" pitchFamily="34" charset="0"/>
              <a:ea typeface="Courier New" pitchFamily="34" charset="-122"/>
              <a:cs typeface="Hind Siliguri" panose="02000000000000000000" pitchFamily="2" charset="0"/>
            </a:endParaRPr>
          </a:p>
          <a:p>
            <a:pPr marL="0" indent="0">
              <a:buNone/>
            </a:pPr>
            <a:r>
              <a:rPr lang="en-US" sz="1000" dirty="0">
                <a:solidFill>
                  <a:schemeClr val="bg1"/>
                </a:solidFill>
                <a:latin typeface="Monaco" panose="020B0500000000000000" pitchFamily="34" charset="0"/>
                <a:ea typeface="Courier New" pitchFamily="34" charset="-122"/>
                <a:cs typeface="Hind Siliguri" panose="02000000000000000000" pitchFamily="2" charset="0"/>
              </a:rPr>
              <a:t>        </a:t>
            </a:r>
            <a:r>
              <a:rPr lang="en-US" sz="1000" dirty="0" err="1">
                <a:solidFill>
                  <a:schemeClr val="bg1"/>
                </a:solidFill>
                <a:latin typeface="Monaco" panose="020B0500000000000000" pitchFamily="34" charset="0"/>
                <a:ea typeface="Courier New" pitchFamily="34" charset="-122"/>
                <a:cs typeface="Hind Siliguri" panose="02000000000000000000" pitchFamily="2" charset="0"/>
              </a:rPr>
              <a:t>System.out.print</a:t>
            </a:r>
            <a:r>
              <a:rPr lang="en-US" sz="1000" dirty="0">
                <a:solidFill>
                  <a:schemeClr val="bg1"/>
                </a:solidFill>
                <a:latin typeface="Monaco" panose="020B0500000000000000" pitchFamily="34" charset="0"/>
                <a:ea typeface="Courier New" pitchFamily="34" charset="-122"/>
                <a:cs typeface="Hind Siliguri" panose="02000000000000000000" pitchFamily="2" charset="0"/>
              </a:rPr>
              <a:t>("Enter width: ");</a:t>
            </a:r>
          </a:p>
          <a:p>
            <a:pPr marL="0" indent="0">
              <a:buNone/>
            </a:pPr>
            <a:r>
              <a:rPr lang="en-US" sz="1000" dirty="0">
                <a:solidFill>
                  <a:schemeClr val="bg1"/>
                </a:solidFill>
                <a:latin typeface="Monaco" panose="020B0500000000000000" pitchFamily="34" charset="0"/>
                <a:ea typeface="Courier New" pitchFamily="34" charset="-122"/>
                <a:cs typeface="Hind Siliguri" panose="02000000000000000000" pitchFamily="2" charset="0"/>
              </a:rPr>
              <a:t>        double width = </a:t>
            </a:r>
            <a:r>
              <a:rPr lang="en-US" sz="1000" dirty="0" err="1">
                <a:solidFill>
                  <a:schemeClr val="bg1"/>
                </a:solidFill>
                <a:latin typeface="Monaco" panose="020B0500000000000000" pitchFamily="34" charset="0"/>
                <a:ea typeface="Courier New" pitchFamily="34" charset="-122"/>
                <a:cs typeface="Hind Siliguri" panose="02000000000000000000" pitchFamily="2" charset="0"/>
              </a:rPr>
              <a:t>input.nextDouble</a:t>
            </a:r>
            <a:r>
              <a:rPr lang="en-US" sz="1000" dirty="0">
                <a:solidFill>
                  <a:schemeClr val="bg1"/>
                </a:solidFill>
                <a:latin typeface="Monaco" panose="020B0500000000000000" pitchFamily="34" charset="0"/>
                <a:ea typeface="Courier New" pitchFamily="34" charset="-122"/>
                <a:cs typeface="Hind Siliguri" panose="02000000000000000000" pitchFamily="2" charset="0"/>
              </a:rPr>
              <a:t>();</a:t>
            </a:r>
          </a:p>
          <a:p>
            <a:pPr marL="0" indent="0">
              <a:buNone/>
            </a:pPr>
            <a:endParaRPr lang="en-US" sz="1000" dirty="0">
              <a:solidFill>
                <a:schemeClr val="bg1"/>
              </a:solidFill>
              <a:latin typeface="Monaco" panose="020B0500000000000000" pitchFamily="34" charset="0"/>
              <a:ea typeface="Courier New" pitchFamily="34" charset="-122"/>
              <a:cs typeface="Hind Siliguri" panose="02000000000000000000" pitchFamily="2" charset="0"/>
            </a:endParaRPr>
          </a:p>
          <a:p>
            <a:pPr marL="0" indent="0">
              <a:buNone/>
            </a:pPr>
            <a:r>
              <a:rPr lang="en-US" sz="1000" dirty="0">
                <a:solidFill>
                  <a:schemeClr val="bg1"/>
                </a:solidFill>
                <a:latin typeface="Monaco" panose="020B0500000000000000" pitchFamily="34" charset="0"/>
                <a:ea typeface="Courier New" pitchFamily="34" charset="-122"/>
                <a:cs typeface="Hind Siliguri" panose="02000000000000000000" pitchFamily="2" charset="0"/>
              </a:rPr>
              <a:t>        double perimeter = 2 * (length + width);</a:t>
            </a:r>
          </a:p>
          <a:p>
            <a:pPr marL="0" indent="0">
              <a:buNone/>
            </a:pPr>
            <a:endParaRPr lang="en-US" sz="1000" dirty="0">
              <a:solidFill>
                <a:schemeClr val="bg1"/>
              </a:solidFill>
              <a:latin typeface="Monaco" panose="020B0500000000000000" pitchFamily="34" charset="0"/>
              <a:ea typeface="Courier New" pitchFamily="34" charset="-122"/>
              <a:cs typeface="Hind Siliguri" panose="02000000000000000000" pitchFamily="2" charset="0"/>
            </a:endParaRPr>
          </a:p>
          <a:p>
            <a:pPr marL="0" indent="0">
              <a:buNone/>
            </a:pPr>
            <a:r>
              <a:rPr lang="en-US" sz="1000" dirty="0">
                <a:solidFill>
                  <a:schemeClr val="bg1"/>
                </a:solidFill>
                <a:latin typeface="Monaco" panose="020B0500000000000000" pitchFamily="34" charset="0"/>
                <a:ea typeface="Courier New" pitchFamily="34" charset="-122"/>
                <a:cs typeface="Hind Siliguri" panose="02000000000000000000" pitchFamily="2" charset="0"/>
              </a:rPr>
              <a:t>        </a:t>
            </a:r>
            <a:r>
              <a:rPr lang="en-US" sz="1000" dirty="0" err="1">
                <a:solidFill>
                  <a:schemeClr val="bg1"/>
                </a:solidFill>
                <a:latin typeface="Monaco" panose="020B0500000000000000" pitchFamily="34" charset="0"/>
                <a:ea typeface="Courier New" pitchFamily="34" charset="-122"/>
                <a:cs typeface="Hind Siliguri" panose="02000000000000000000" pitchFamily="2" charset="0"/>
              </a:rPr>
              <a:t>System.out.println</a:t>
            </a:r>
            <a:r>
              <a:rPr lang="en-US" sz="1000" dirty="0">
                <a:solidFill>
                  <a:schemeClr val="bg1"/>
                </a:solidFill>
                <a:latin typeface="Monaco" panose="020B0500000000000000" pitchFamily="34" charset="0"/>
                <a:ea typeface="Courier New" pitchFamily="34" charset="-122"/>
                <a:cs typeface="Hind Siliguri" panose="02000000000000000000" pitchFamily="2" charset="0"/>
              </a:rPr>
              <a:t>("Perimeter of Rectangle = " + perimeter);</a:t>
            </a:r>
          </a:p>
          <a:p>
            <a:pPr marL="0" indent="0">
              <a:buNone/>
            </a:pPr>
            <a:endParaRPr lang="en-US" sz="1000" dirty="0">
              <a:solidFill>
                <a:schemeClr val="bg1"/>
              </a:solidFill>
              <a:latin typeface="Monaco" panose="020B0500000000000000" pitchFamily="34" charset="0"/>
              <a:ea typeface="Courier New" pitchFamily="34" charset="-122"/>
              <a:cs typeface="Hind Siliguri" panose="02000000000000000000" pitchFamily="2" charset="0"/>
            </a:endParaRPr>
          </a:p>
          <a:p>
            <a:pPr marL="0" indent="0">
              <a:buNone/>
            </a:pPr>
            <a:r>
              <a:rPr lang="en-US" sz="1000" dirty="0">
                <a:solidFill>
                  <a:schemeClr val="bg1"/>
                </a:solidFill>
                <a:latin typeface="Monaco" panose="020B0500000000000000" pitchFamily="34" charset="0"/>
                <a:ea typeface="Courier New" pitchFamily="34" charset="-122"/>
                <a:cs typeface="Hind Siliguri" panose="02000000000000000000" pitchFamily="2" charset="0"/>
              </a:rPr>
              <a:t>        </a:t>
            </a:r>
            <a:r>
              <a:rPr lang="en-US" sz="1000" dirty="0" err="1">
                <a:solidFill>
                  <a:schemeClr val="bg1"/>
                </a:solidFill>
                <a:latin typeface="Monaco" panose="020B0500000000000000" pitchFamily="34" charset="0"/>
                <a:ea typeface="Courier New" pitchFamily="34" charset="-122"/>
                <a:cs typeface="Hind Siliguri" panose="02000000000000000000" pitchFamily="2" charset="0"/>
              </a:rPr>
              <a:t>input.close</a:t>
            </a:r>
            <a:r>
              <a:rPr lang="en-US" sz="1000" dirty="0">
                <a:solidFill>
                  <a:schemeClr val="bg1"/>
                </a:solidFill>
                <a:latin typeface="Monaco" panose="020B0500000000000000" pitchFamily="34" charset="0"/>
                <a:ea typeface="Courier New" pitchFamily="34" charset="-122"/>
                <a:cs typeface="Hind Siliguri" panose="02000000000000000000" pitchFamily="2" charset="0"/>
              </a:rPr>
              <a:t>();</a:t>
            </a:r>
          </a:p>
          <a:p>
            <a:pPr marL="0" indent="0">
              <a:buNone/>
            </a:pPr>
            <a:r>
              <a:rPr lang="en-US" sz="1000" dirty="0">
                <a:solidFill>
                  <a:schemeClr val="bg1"/>
                </a:solidFill>
                <a:latin typeface="Monaco" panose="020B0500000000000000" pitchFamily="34" charset="0"/>
                <a:ea typeface="Courier New" pitchFamily="34" charset="-122"/>
                <a:cs typeface="Hind Siliguri" panose="02000000000000000000" pitchFamily="2" charset="0"/>
              </a:rPr>
              <a:t>    }</a:t>
            </a:r>
          </a:p>
          <a:p>
            <a:pPr marL="0" indent="0">
              <a:buNone/>
            </a:pPr>
            <a:r>
              <a:rPr lang="en-US" sz="1000" dirty="0">
                <a:solidFill>
                  <a:schemeClr val="bg1"/>
                </a:solidFill>
                <a:latin typeface="Monaco" panose="020B0500000000000000" pitchFamily="34" charset="0"/>
                <a:ea typeface="Courier New" pitchFamily="34" charset="-122"/>
                <a:cs typeface="Hind Siliguri" panose="02000000000000000000" pitchFamily="2" charset="0"/>
              </a:rPr>
              <a:t>}</a:t>
            </a:r>
            <a:endParaRPr lang="en-US" sz="1000" dirty="0">
              <a:latin typeface="Monaco" panose="020B0500000000000000" pitchFamily="34" charset="0"/>
              <a:cs typeface="Hind Siliguri" panose="02000000000000000000" pitchFamily="2" charset="0"/>
            </a:endParaRPr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70916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=""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6"/>
                </a:solidFill>
              </a:defRPr>
            </a:lvl1pPr>
          </a:lstStyle>
          <a:p>
            <a:pPr algn="l"/>
            <a:fld id="{F7021451-1387-4CA6-816F-3879F97B5CBC}" type="slidenum">
              <a:rPr lang="en-US" b="0">
                <a:latin typeface="Hind Siliguri" panose="02000000000000000000" pitchFamily="2" charset="0"/>
                <a:cs typeface="Hind Siliguri" panose="02000000000000000000" pitchFamily="2" charset="0"/>
              </a:rPr>
              <a:t>14</a:t>
            </a:fld>
            <a:endParaRPr lang="en-US">
              <a:latin typeface="Hind Siliguri" panose="02000000000000000000" pitchFamily="2" charset="0"/>
              <a:cs typeface="Hind Siliguri" panose="02000000000000000000" pitchFamily="2" charset="0"/>
            </a:endParaRP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>
            <a:spLocks noGrp="1"/>
          </p:cNvSpPr>
          <p:nvPr>
            <p:ph type="title" idx="100" hasCustomPrompt="1"/>
          </p:nvPr>
        </p:nvSpPr>
        <p:spPr>
          <a:xfrm>
            <a:off x="457200" y="274320"/>
            <a:ext cx="82296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3000" b="1" dirty="0">
                <a:solidFill>
                  <a:schemeClr val="tx2"/>
                </a:solidFill>
                <a:latin typeface="Hind Siliguri" panose="02000000000000000000" pitchFamily="2" charset="0"/>
                <a:cs typeface="Hind Siliguri" panose="02000000000000000000" pitchFamily="2" charset="0"/>
              </a:rPr>
              <a:t>Kilometer → Meter</a:t>
            </a:r>
            <a:endParaRPr lang="en-US" sz="3000" dirty="0">
              <a:latin typeface="Hind Siliguri" panose="02000000000000000000" pitchFamily="2" charset="0"/>
              <a:cs typeface="Hind Siliguri" panose="02000000000000000000" pitchFamily="2" charset="0"/>
            </a:endParaRPr>
          </a:p>
        </p:txBody>
      </p:sp>
      <p:sp>
        <p:nvSpPr>
          <p:cNvPr id="3" name="Problem badge"/>
          <p:cNvSpPr/>
          <p:nvPr/>
        </p:nvSpPr>
        <p:spPr>
          <a:xfrm>
            <a:off x="7406640" y="411480"/>
            <a:ext cx="1280160" cy="384048"/>
          </a:xfrm>
          <a:prstGeom prst="roundRect">
            <a:avLst>
              <a:gd name="adj" fmla="val 47619"/>
            </a:avLst>
          </a:prstGeom>
          <a:solidFill>
            <a:schemeClr val="accent1"/>
          </a:solidFill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chemeClr val="bg1"/>
                </a:solidFill>
                <a:latin typeface="Hind Siliguri" panose="02000000000000000000" pitchFamily="2" charset="0"/>
                <a:cs typeface="Hind Siliguri" panose="02000000000000000000" pitchFamily="2" charset="0"/>
              </a:rPr>
              <a:t>প্রব্লেম ১০/১০</a:t>
            </a:r>
            <a:endParaRPr lang="en-US" sz="1200" dirty="0">
              <a:latin typeface="Hind Siliguri" panose="02000000000000000000" pitchFamily="2" charset="0"/>
              <a:cs typeface="Hind Siliguri" panose="02000000000000000000" pitchFamily="2" charset="0"/>
            </a:endParaRPr>
          </a:p>
        </p:txBody>
      </p:sp>
      <p:sp>
        <p:nvSpPr>
          <p:cNvPr id="4" name="Statement card"/>
          <p:cNvSpPr/>
          <p:nvPr/>
        </p:nvSpPr>
        <p:spPr>
          <a:xfrm>
            <a:off x="457200" y="1234440"/>
            <a:ext cx="3840480" cy="1188720"/>
          </a:xfrm>
          <a:prstGeom prst="roundRect">
            <a:avLst>
              <a:gd name="adj" fmla="val 9231"/>
            </a:avLst>
          </a:prstGeom>
          <a:solidFill>
            <a:schemeClr val="bg2"/>
          </a:solidFill>
          <a:ln/>
        </p:spPr>
      </p:sp>
      <p:sp>
        <p:nvSpPr>
          <p:cNvPr id="5" name="Statement label"/>
          <p:cNvSpPr txBox="1"/>
          <p:nvPr/>
        </p:nvSpPr>
        <p:spPr>
          <a:xfrm>
            <a:off x="640080" y="1325880"/>
            <a:ext cx="3474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400" b="1" dirty="0">
                <a:solidFill>
                  <a:schemeClr val="accent1"/>
                </a:solidFill>
                <a:latin typeface="Hind Siliguri" panose="02000000000000000000" pitchFamily="2" charset="0"/>
                <a:cs typeface="Hind Siliguri" panose="02000000000000000000" pitchFamily="2" charset="0"/>
              </a:rPr>
              <a:t>সমস্যা</a:t>
            </a:r>
            <a:endParaRPr lang="en-US" sz="1400" dirty="0">
              <a:latin typeface="Hind Siliguri" panose="02000000000000000000" pitchFamily="2" charset="0"/>
              <a:cs typeface="Hind Siliguri" panose="02000000000000000000" pitchFamily="2" charset="0"/>
            </a:endParaRPr>
          </a:p>
        </p:txBody>
      </p:sp>
      <p:sp>
        <p:nvSpPr>
          <p:cNvPr id="6" name="Statement"/>
          <p:cNvSpPr txBox="1"/>
          <p:nvPr/>
        </p:nvSpPr>
        <p:spPr>
          <a:xfrm>
            <a:off x="640080" y="1627632"/>
            <a:ext cx="34747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400" dirty="0">
                <a:solidFill>
                  <a:schemeClr val="tx1"/>
                </a:solidFill>
                <a:latin typeface="Hind Siliguri" panose="02000000000000000000" pitchFamily="2" charset="0"/>
                <a:cs typeface="Hind Siliguri" panose="02000000000000000000" pitchFamily="2" charset="0"/>
              </a:rPr>
              <a:t>Java Program ব্যবহার করে Kilometer-কে Meter-এ রূপান্তর কর।</a:t>
            </a:r>
            <a:endParaRPr lang="en-US" sz="1400" dirty="0">
              <a:latin typeface="Hind Siliguri" panose="02000000000000000000" pitchFamily="2" charset="0"/>
              <a:cs typeface="Hind Siliguri" panose="02000000000000000000" pitchFamily="2" charset="0"/>
            </a:endParaRPr>
          </a:p>
        </p:txBody>
      </p:sp>
      <p:sp>
        <p:nvSpPr>
          <p:cNvPr id="7" name="IO card"/>
          <p:cNvSpPr/>
          <p:nvPr/>
        </p:nvSpPr>
        <p:spPr>
          <a:xfrm>
            <a:off x="457200" y="2560320"/>
            <a:ext cx="3840480" cy="914400"/>
          </a:xfrm>
          <a:prstGeom prst="roundRect">
            <a:avLst>
              <a:gd name="adj" fmla="val 12000"/>
            </a:avLst>
          </a:prstGeom>
          <a:solidFill>
            <a:schemeClr val="bg2"/>
          </a:solidFill>
          <a:ln/>
        </p:spPr>
      </p:sp>
      <p:sp>
        <p:nvSpPr>
          <p:cNvPr id="8" name="IO text"/>
          <p:cNvSpPr txBox="1"/>
          <p:nvPr/>
        </p:nvSpPr>
        <p:spPr>
          <a:xfrm>
            <a:off x="640080" y="2633472"/>
            <a:ext cx="3474720" cy="8046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300" dirty="0">
                <a:solidFill>
                  <a:schemeClr val="tx1"/>
                </a:solidFill>
                <a:latin typeface="Hind Siliguri" panose="02000000000000000000" pitchFamily="2" charset="0"/>
                <a:cs typeface="Hind Siliguri" panose="02000000000000000000" pitchFamily="2" charset="0"/>
              </a:rPr>
              <a:t>ইনপুট: 2.5</a:t>
            </a:r>
            <a:endParaRPr lang="en-US" sz="1300" dirty="0">
              <a:latin typeface="Hind Siliguri" panose="02000000000000000000" pitchFamily="2" charset="0"/>
              <a:cs typeface="Hind Siliguri" panose="02000000000000000000" pitchFamily="2" charset="0"/>
            </a:endParaRPr>
          </a:p>
          <a:p>
            <a:pPr marL="0" indent="0">
              <a:buNone/>
            </a:pPr>
            <a:r>
              <a:rPr lang="en-US" sz="1300" dirty="0">
                <a:solidFill>
                  <a:schemeClr val="tx1"/>
                </a:solidFill>
                <a:latin typeface="Hind Siliguri" panose="02000000000000000000" pitchFamily="2" charset="0"/>
                <a:cs typeface="Hind Siliguri" panose="02000000000000000000" pitchFamily="2" charset="0"/>
              </a:rPr>
              <a:t>আউটপুট: Meter = 2500.0</a:t>
            </a:r>
            <a:endParaRPr lang="en-US" sz="1300" dirty="0">
              <a:latin typeface="Hind Siliguri" panose="02000000000000000000" pitchFamily="2" charset="0"/>
              <a:cs typeface="Hind Siliguri" panose="02000000000000000000" pitchFamily="2" charset="0"/>
            </a:endParaRPr>
          </a:p>
        </p:txBody>
      </p:sp>
      <p:sp>
        <p:nvSpPr>
          <p:cNvPr id="9" name="Hint card"/>
          <p:cNvSpPr/>
          <p:nvPr/>
        </p:nvSpPr>
        <p:spPr>
          <a:xfrm>
            <a:off x="457200" y="3611880"/>
            <a:ext cx="3840480" cy="914400"/>
          </a:xfrm>
          <a:prstGeom prst="roundRect">
            <a:avLst>
              <a:gd name="adj" fmla="val 12000"/>
            </a:avLst>
          </a:prstGeom>
          <a:solidFill>
            <a:schemeClr val="bg2"/>
          </a:solidFill>
          <a:ln/>
        </p:spPr>
      </p:sp>
      <p:sp>
        <p:nvSpPr>
          <p:cNvPr id="10" name="Hint label"/>
          <p:cNvSpPr txBox="1"/>
          <p:nvPr/>
        </p:nvSpPr>
        <p:spPr>
          <a:xfrm>
            <a:off x="640080" y="3675888"/>
            <a:ext cx="3474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400" b="1" dirty="0">
                <a:solidFill>
                  <a:schemeClr val="accent3"/>
                </a:solidFill>
                <a:latin typeface="Hind Siliguri" panose="02000000000000000000" pitchFamily="2" charset="0"/>
                <a:cs typeface="Hind Siliguri" panose="02000000000000000000" pitchFamily="2" charset="0"/>
              </a:rPr>
              <a:t>আইডিয়া</a:t>
            </a:r>
            <a:endParaRPr lang="en-US" sz="1400" dirty="0">
              <a:latin typeface="Hind Siliguri" panose="02000000000000000000" pitchFamily="2" charset="0"/>
              <a:cs typeface="Hind Siliguri" panose="02000000000000000000" pitchFamily="2" charset="0"/>
            </a:endParaRPr>
          </a:p>
        </p:txBody>
      </p:sp>
      <p:sp>
        <p:nvSpPr>
          <p:cNvPr id="11" name="Hint"/>
          <p:cNvSpPr txBox="1"/>
          <p:nvPr/>
        </p:nvSpPr>
        <p:spPr>
          <a:xfrm>
            <a:off x="640080" y="3950208"/>
            <a:ext cx="34747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400" dirty="0">
                <a:solidFill>
                  <a:schemeClr val="tx1"/>
                </a:solidFill>
                <a:latin typeface="Hind Siliguri" panose="02000000000000000000" pitchFamily="2" charset="0"/>
                <a:cs typeface="Hind Siliguri" panose="02000000000000000000" pitchFamily="2" charset="0"/>
              </a:rPr>
              <a:t>১ কিলোমিটার = ১০০০ মিটার, তাই km × 1000।</a:t>
            </a:r>
            <a:endParaRPr lang="en-US" sz="1400" dirty="0">
              <a:latin typeface="Hind Siliguri" panose="02000000000000000000" pitchFamily="2" charset="0"/>
              <a:cs typeface="Hind Siliguri" panose="02000000000000000000" pitchFamily="2" charset="0"/>
            </a:endParaRPr>
          </a:p>
        </p:txBody>
      </p:sp>
      <p:sp>
        <p:nvSpPr>
          <p:cNvPr id="12" name="Code card"/>
          <p:cNvSpPr/>
          <p:nvPr/>
        </p:nvSpPr>
        <p:spPr>
          <a:xfrm>
            <a:off x="4480560" y="1234440"/>
            <a:ext cx="4206240" cy="3291840"/>
          </a:xfrm>
          <a:prstGeom prst="roundRect">
            <a:avLst>
              <a:gd name="adj" fmla="val 3333"/>
            </a:avLst>
          </a:prstGeom>
          <a:solidFill>
            <a:schemeClr val="tx1"/>
          </a:solidFill>
          <a:ln/>
        </p:spPr>
      </p:sp>
      <p:sp>
        <p:nvSpPr>
          <p:cNvPr id="13" name="Code label"/>
          <p:cNvSpPr txBox="1"/>
          <p:nvPr/>
        </p:nvSpPr>
        <p:spPr>
          <a:xfrm>
            <a:off x="4663440" y="1371600"/>
            <a:ext cx="3840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200" b="1" dirty="0">
                <a:solidFill>
                  <a:schemeClr val="accent4"/>
                </a:solidFill>
                <a:latin typeface="Hind Siliguri" panose="02000000000000000000" pitchFamily="2" charset="0"/>
                <a:cs typeface="Hind Siliguri" panose="02000000000000000000" pitchFamily="2" charset="0"/>
              </a:rPr>
              <a:t>Java কোড (main মেথডের ভেতরে)</a:t>
            </a:r>
            <a:endParaRPr lang="en-US" sz="1200" dirty="0">
              <a:latin typeface="Hind Siliguri" panose="02000000000000000000" pitchFamily="2" charset="0"/>
              <a:cs typeface="Hind Siliguri" panose="02000000000000000000" pitchFamily="2" charset="0"/>
            </a:endParaRPr>
          </a:p>
        </p:txBody>
      </p:sp>
      <p:sp>
        <p:nvSpPr>
          <p:cNvPr id="14" name="Code"/>
          <p:cNvSpPr txBox="1"/>
          <p:nvPr/>
        </p:nvSpPr>
        <p:spPr>
          <a:xfrm>
            <a:off x="4663440" y="1607820"/>
            <a:ext cx="3886200" cy="2651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000" dirty="0">
                <a:solidFill>
                  <a:schemeClr val="bg1"/>
                </a:solidFill>
                <a:latin typeface="Monaco" panose="020B0500000000000000" pitchFamily="34" charset="0"/>
                <a:ea typeface="Courier New" pitchFamily="34" charset="-122"/>
                <a:cs typeface="Hind Siliguri" panose="02000000000000000000" pitchFamily="2" charset="0"/>
              </a:rPr>
              <a:t>import </a:t>
            </a:r>
            <a:r>
              <a:rPr lang="en-US" sz="1000" dirty="0" err="1">
                <a:solidFill>
                  <a:schemeClr val="bg1"/>
                </a:solidFill>
                <a:latin typeface="Monaco" panose="020B0500000000000000" pitchFamily="34" charset="0"/>
                <a:ea typeface="Courier New" pitchFamily="34" charset="-122"/>
                <a:cs typeface="Hind Siliguri" panose="02000000000000000000" pitchFamily="2" charset="0"/>
              </a:rPr>
              <a:t>java.util.Scanner</a:t>
            </a:r>
            <a:r>
              <a:rPr lang="en-US" sz="1000" dirty="0">
                <a:solidFill>
                  <a:schemeClr val="bg1"/>
                </a:solidFill>
                <a:latin typeface="Monaco" panose="020B0500000000000000" pitchFamily="34" charset="0"/>
                <a:ea typeface="Courier New" pitchFamily="34" charset="-122"/>
                <a:cs typeface="Hind Siliguri" panose="02000000000000000000" pitchFamily="2" charset="0"/>
              </a:rPr>
              <a:t>;</a:t>
            </a:r>
          </a:p>
          <a:p>
            <a:pPr marL="0" indent="0">
              <a:buNone/>
            </a:pPr>
            <a:endParaRPr lang="en-US" sz="1000" dirty="0">
              <a:solidFill>
                <a:schemeClr val="bg1"/>
              </a:solidFill>
              <a:latin typeface="Monaco" panose="020B0500000000000000" pitchFamily="34" charset="0"/>
              <a:ea typeface="Courier New" pitchFamily="34" charset="-122"/>
              <a:cs typeface="Hind Siliguri" panose="02000000000000000000" pitchFamily="2" charset="0"/>
            </a:endParaRPr>
          </a:p>
          <a:p>
            <a:pPr marL="0" indent="0">
              <a:buNone/>
            </a:pPr>
            <a:r>
              <a:rPr lang="en-US" sz="1000" dirty="0">
                <a:solidFill>
                  <a:schemeClr val="bg1"/>
                </a:solidFill>
                <a:latin typeface="Monaco" panose="020B0500000000000000" pitchFamily="34" charset="0"/>
                <a:ea typeface="Courier New" pitchFamily="34" charset="-122"/>
                <a:cs typeface="Hind Siliguri" panose="02000000000000000000" pitchFamily="2" charset="0"/>
              </a:rPr>
              <a:t>public class </a:t>
            </a:r>
            <a:r>
              <a:rPr lang="en-US" sz="1000" dirty="0" err="1">
                <a:solidFill>
                  <a:schemeClr val="bg1"/>
                </a:solidFill>
                <a:latin typeface="Monaco" panose="020B0500000000000000" pitchFamily="34" charset="0"/>
                <a:ea typeface="Courier New" pitchFamily="34" charset="-122"/>
                <a:cs typeface="Hind Siliguri" panose="02000000000000000000" pitchFamily="2" charset="0"/>
              </a:rPr>
              <a:t>KilometerToMeter</a:t>
            </a:r>
            <a:r>
              <a:rPr lang="en-US" sz="1000" dirty="0">
                <a:solidFill>
                  <a:schemeClr val="bg1"/>
                </a:solidFill>
                <a:latin typeface="Monaco" panose="020B0500000000000000" pitchFamily="34" charset="0"/>
                <a:ea typeface="Courier New" pitchFamily="34" charset="-122"/>
                <a:cs typeface="Hind Siliguri" panose="02000000000000000000" pitchFamily="2" charset="0"/>
              </a:rPr>
              <a:t> {</a:t>
            </a:r>
          </a:p>
          <a:p>
            <a:pPr marL="0" indent="0">
              <a:buNone/>
            </a:pPr>
            <a:r>
              <a:rPr lang="en-US" sz="1000" dirty="0">
                <a:solidFill>
                  <a:schemeClr val="bg1"/>
                </a:solidFill>
                <a:latin typeface="Monaco" panose="020B0500000000000000" pitchFamily="34" charset="0"/>
                <a:ea typeface="Courier New" pitchFamily="34" charset="-122"/>
                <a:cs typeface="Hind Siliguri" panose="02000000000000000000" pitchFamily="2" charset="0"/>
              </a:rPr>
              <a:t>    public static void main(String[] </a:t>
            </a:r>
            <a:r>
              <a:rPr lang="en-US" sz="1000" dirty="0" err="1">
                <a:solidFill>
                  <a:schemeClr val="bg1"/>
                </a:solidFill>
                <a:latin typeface="Monaco" panose="020B0500000000000000" pitchFamily="34" charset="0"/>
                <a:ea typeface="Courier New" pitchFamily="34" charset="-122"/>
                <a:cs typeface="Hind Siliguri" panose="02000000000000000000" pitchFamily="2" charset="0"/>
              </a:rPr>
              <a:t>args</a:t>
            </a:r>
            <a:r>
              <a:rPr lang="en-US" sz="1000" dirty="0">
                <a:solidFill>
                  <a:schemeClr val="bg1"/>
                </a:solidFill>
                <a:latin typeface="Monaco" panose="020B0500000000000000" pitchFamily="34" charset="0"/>
                <a:ea typeface="Courier New" pitchFamily="34" charset="-122"/>
                <a:cs typeface="Hind Siliguri" panose="02000000000000000000" pitchFamily="2" charset="0"/>
              </a:rPr>
              <a:t>) {</a:t>
            </a:r>
          </a:p>
          <a:p>
            <a:pPr marL="0" indent="0">
              <a:buNone/>
            </a:pPr>
            <a:r>
              <a:rPr lang="en-US" sz="1000" dirty="0">
                <a:solidFill>
                  <a:schemeClr val="bg1"/>
                </a:solidFill>
                <a:latin typeface="Monaco" panose="020B0500000000000000" pitchFamily="34" charset="0"/>
                <a:ea typeface="Courier New" pitchFamily="34" charset="-122"/>
                <a:cs typeface="Hind Siliguri" panose="02000000000000000000" pitchFamily="2" charset="0"/>
              </a:rPr>
              <a:t>        Scanner input = new Scanner(System.in);</a:t>
            </a:r>
          </a:p>
          <a:p>
            <a:pPr marL="0" indent="0">
              <a:buNone/>
            </a:pPr>
            <a:endParaRPr lang="en-US" sz="1000" dirty="0">
              <a:solidFill>
                <a:schemeClr val="bg1"/>
              </a:solidFill>
              <a:latin typeface="Monaco" panose="020B0500000000000000" pitchFamily="34" charset="0"/>
              <a:ea typeface="Courier New" pitchFamily="34" charset="-122"/>
              <a:cs typeface="Hind Siliguri" panose="02000000000000000000" pitchFamily="2" charset="0"/>
            </a:endParaRPr>
          </a:p>
          <a:p>
            <a:pPr marL="0" indent="0">
              <a:buNone/>
            </a:pPr>
            <a:r>
              <a:rPr lang="en-US" sz="1000" dirty="0">
                <a:solidFill>
                  <a:schemeClr val="bg1"/>
                </a:solidFill>
                <a:latin typeface="Monaco" panose="020B0500000000000000" pitchFamily="34" charset="0"/>
                <a:ea typeface="Courier New" pitchFamily="34" charset="-122"/>
                <a:cs typeface="Hind Siliguri" panose="02000000000000000000" pitchFamily="2" charset="0"/>
              </a:rPr>
              <a:t>        </a:t>
            </a:r>
            <a:r>
              <a:rPr lang="en-US" sz="1000" dirty="0" err="1">
                <a:solidFill>
                  <a:schemeClr val="bg1"/>
                </a:solidFill>
                <a:latin typeface="Monaco" panose="020B0500000000000000" pitchFamily="34" charset="0"/>
                <a:ea typeface="Courier New" pitchFamily="34" charset="-122"/>
                <a:cs typeface="Hind Siliguri" panose="02000000000000000000" pitchFamily="2" charset="0"/>
              </a:rPr>
              <a:t>System.out.print</a:t>
            </a:r>
            <a:r>
              <a:rPr lang="en-US" sz="1000" dirty="0">
                <a:solidFill>
                  <a:schemeClr val="bg1"/>
                </a:solidFill>
                <a:latin typeface="Monaco" panose="020B0500000000000000" pitchFamily="34" charset="0"/>
                <a:ea typeface="Courier New" pitchFamily="34" charset="-122"/>
                <a:cs typeface="Hind Siliguri" panose="02000000000000000000" pitchFamily="2" charset="0"/>
              </a:rPr>
              <a:t>("Enter distance in kilometer: ");</a:t>
            </a:r>
          </a:p>
          <a:p>
            <a:pPr marL="0" indent="0">
              <a:buNone/>
            </a:pPr>
            <a:r>
              <a:rPr lang="en-US" sz="1000" dirty="0">
                <a:solidFill>
                  <a:schemeClr val="bg1"/>
                </a:solidFill>
                <a:latin typeface="Monaco" panose="020B0500000000000000" pitchFamily="34" charset="0"/>
                <a:ea typeface="Courier New" pitchFamily="34" charset="-122"/>
                <a:cs typeface="Hind Siliguri" panose="02000000000000000000" pitchFamily="2" charset="0"/>
              </a:rPr>
              <a:t>        double kilometer = </a:t>
            </a:r>
            <a:r>
              <a:rPr lang="en-US" sz="1000" dirty="0" err="1">
                <a:solidFill>
                  <a:schemeClr val="bg1"/>
                </a:solidFill>
                <a:latin typeface="Monaco" panose="020B0500000000000000" pitchFamily="34" charset="0"/>
                <a:ea typeface="Courier New" pitchFamily="34" charset="-122"/>
                <a:cs typeface="Hind Siliguri" panose="02000000000000000000" pitchFamily="2" charset="0"/>
              </a:rPr>
              <a:t>input.nextDouble</a:t>
            </a:r>
            <a:r>
              <a:rPr lang="en-US" sz="1000" dirty="0">
                <a:solidFill>
                  <a:schemeClr val="bg1"/>
                </a:solidFill>
                <a:latin typeface="Monaco" panose="020B0500000000000000" pitchFamily="34" charset="0"/>
                <a:ea typeface="Courier New" pitchFamily="34" charset="-122"/>
                <a:cs typeface="Hind Siliguri" panose="02000000000000000000" pitchFamily="2" charset="0"/>
              </a:rPr>
              <a:t>();</a:t>
            </a:r>
          </a:p>
          <a:p>
            <a:pPr marL="0" indent="0">
              <a:buNone/>
            </a:pPr>
            <a:endParaRPr lang="en-US" sz="1000" dirty="0">
              <a:solidFill>
                <a:schemeClr val="bg1"/>
              </a:solidFill>
              <a:latin typeface="Monaco" panose="020B0500000000000000" pitchFamily="34" charset="0"/>
              <a:ea typeface="Courier New" pitchFamily="34" charset="-122"/>
              <a:cs typeface="Hind Siliguri" panose="02000000000000000000" pitchFamily="2" charset="0"/>
            </a:endParaRPr>
          </a:p>
          <a:p>
            <a:pPr marL="0" indent="0">
              <a:buNone/>
            </a:pPr>
            <a:r>
              <a:rPr lang="en-US" sz="1000" dirty="0">
                <a:solidFill>
                  <a:schemeClr val="bg1"/>
                </a:solidFill>
                <a:latin typeface="Monaco" panose="020B0500000000000000" pitchFamily="34" charset="0"/>
                <a:ea typeface="Courier New" pitchFamily="34" charset="-122"/>
                <a:cs typeface="Hind Siliguri" panose="02000000000000000000" pitchFamily="2" charset="0"/>
              </a:rPr>
              <a:t>        double meter = kilometer * 1000;</a:t>
            </a:r>
          </a:p>
          <a:p>
            <a:pPr marL="0" indent="0">
              <a:buNone/>
            </a:pPr>
            <a:endParaRPr lang="en-US" sz="1000" dirty="0">
              <a:solidFill>
                <a:schemeClr val="bg1"/>
              </a:solidFill>
              <a:latin typeface="Monaco" panose="020B0500000000000000" pitchFamily="34" charset="0"/>
              <a:ea typeface="Courier New" pitchFamily="34" charset="-122"/>
              <a:cs typeface="Hind Siliguri" panose="02000000000000000000" pitchFamily="2" charset="0"/>
            </a:endParaRPr>
          </a:p>
          <a:p>
            <a:pPr marL="0" indent="0">
              <a:buNone/>
            </a:pPr>
            <a:r>
              <a:rPr lang="en-US" sz="1000" dirty="0">
                <a:solidFill>
                  <a:schemeClr val="bg1"/>
                </a:solidFill>
                <a:latin typeface="Monaco" panose="020B0500000000000000" pitchFamily="34" charset="0"/>
                <a:ea typeface="Courier New" pitchFamily="34" charset="-122"/>
                <a:cs typeface="Hind Siliguri" panose="02000000000000000000" pitchFamily="2" charset="0"/>
              </a:rPr>
              <a:t>        </a:t>
            </a:r>
            <a:r>
              <a:rPr lang="en-US" sz="1000" dirty="0" err="1">
                <a:solidFill>
                  <a:schemeClr val="bg1"/>
                </a:solidFill>
                <a:latin typeface="Monaco" panose="020B0500000000000000" pitchFamily="34" charset="0"/>
                <a:ea typeface="Courier New" pitchFamily="34" charset="-122"/>
                <a:cs typeface="Hind Siliguri" panose="02000000000000000000" pitchFamily="2" charset="0"/>
              </a:rPr>
              <a:t>System.out.println</a:t>
            </a:r>
            <a:r>
              <a:rPr lang="en-US" sz="1000" dirty="0">
                <a:solidFill>
                  <a:schemeClr val="bg1"/>
                </a:solidFill>
                <a:latin typeface="Monaco" panose="020B0500000000000000" pitchFamily="34" charset="0"/>
                <a:ea typeface="Courier New" pitchFamily="34" charset="-122"/>
                <a:cs typeface="Hind Siliguri" panose="02000000000000000000" pitchFamily="2" charset="0"/>
              </a:rPr>
              <a:t>("Distance in Meter = " + meter);</a:t>
            </a:r>
          </a:p>
          <a:p>
            <a:pPr marL="0" indent="0">
              <a:buNone/>
            </a:pPr>
            <a:endParaRPr lang="en-US" sz="1000" dirty="0">
              <a:solidFill>
                <a:schemeClr val="bg1"/>
              </a:solidFill>
              <a:latin typeface="Monaco" panose="020B0500000000000000" pitchFamily="34" charset="0"/>
              <a:ea typeface="Courier New" pitchFamily="34" charset="-122"/>
              <a:cs typeface="Hind Siliguri" panose="02000000000000000000" pitchFamily="2" charset="0"/>
            </a:endParaRPr>
          </a:p>
          <a:p>
            <a:pPr marL="0" indent="0">
              <a:buNone/>
            </a:pPr>
            <a:r>
              <a:rPr lang="en-US" sz="1000" dirty="0">
                <a:solidFill>
                  <a:schemeClr val="bg1"/>
                </a:solidFill>
                <a:latin typeface="Monaco" panose="020B0500000000000000" pitchFamily="34" charset="0"/>
                <a:ea typeface="Courier New" pitchFamily="34" charset="-122"/>
                <a:cs typeface="Hind Siliguri" panose="02000000000000000000" pitchFamily="2" charset="0"/>
              </a:rPr>
              <a:t>        </a:t>
            </a:r>
            <a:r>
              <a:rPr lang="en-US" sz="1000" dirty="0" err="1">
                <a:solidFill>
                  <a:schemeClr val="bg1"/>
                </a:solidFill>
                <a:latin typeface="Monaco" panose="020B0500000000000000" pitchFamily="34" charset="0"/>
                <a:ea typeface="Courier New" pitchFamily="34" charset="-122"/>
                <a:cs typeface="Hind Siliguri" panose="02000000000000000000" pitchFamily="2" charset="0"/>
              </a:rPr>
              <a:t>input.close</a:t>
            </a:r>
            <a:r>
              <a:rPr lang="en-US" sz="1000" dirty="0">
                <a:solidFill>
                  <a:schemeClr val="bg1"/>
                </a:solidFill>
                <a:latin typeface="Monaco" panose="020B0500000000000000" pitchFamily="34" charset="0"/>
                <a:ea typeface="Courier New" pitchFamily="34" charset="-122"/>
                <a:cs typeface="Hind Siliguri" panose="02000000000000000000" pitchFamily="2" charset="0"/>
              </a:rPr>
              <a:t>();</a:t>
            </a:r>
          </a:p>
          <a:p>
            <a:pPr marL="0" indent="0">
              <a:buNone/>
            </a:pPr>
            <a:r>
              <a:rPr lang="en-US" sz="1000" dirty="0">
                <a:solidFill>
                  <a:schemeClr val="bg1"/>
                </a:solidFill>
                <a:latin typeface="Monaco" panose="020B0500000000000000" pitchFamily="34" charset="0"/>
                <a:ea typeface="Courier New" pitchFamily="34" charset="-122"/>
                <a:cs typeface="Hind Siliguri" panose="02000000000000000000" pitchFamily="2" charset="0"/>
              </a:rPr>
              <a:t>    }</a:t>
            </a:r>
          </a:p>
          <a:p>
            <a:pPr marL="0" indent="0">
              <a:buNone/>
            </a:pPr>
            <a:r>
              <a:rPr lang="en-US" sz="1000" dirty="0">
                <a:solidFill>
                  <a:schemeClr val="bg1"/>
                </a:solidFill>
                <a:latin typeface="Monaco" panose="020B0500000000000000" pitchFamily="34" charset="0"/>
                <a:ea typeface="Courier New" pitchFamily="34" charset="-122"/>
                <a:cs typeface="Hind Siliguri" panose="02000000000000000000" pitchFamily="2" charset="0"/>
              </a:rPr>
              <a:t>}</a:t>
            </a:r>
            <a:endParaRPr lang="en-US" sz="1000" dirty="0">
              <a:latin typeface="Monaco" panose="020B0500000000000000" pitchFamily="34" charset="0"/>
              <a:cs typeface="Hind Siliguri" panose="02000000000000000000" pitchFamily="2" charset="0"/>
            </a:endParaRPr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70916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=""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6"/>
                </a:solidFill>
              </a:defRPr>
            </a:lvl1pPr>
          </a:lstStyle>
          <a:p>
            <a:pPr algn="l"/>
            <a:fld id="{F7021451-1387-4CA6-816F-3879F97B5CBC}" type="slidenum">
              <a:rPr lang="en-US" b="0">
                <a:latin typeface="Hind Siliguri" panose="02000000000000000000" pitchFamily="2" charset="0"/>
                <a:cs typeface="Hind Siliguri" panose="02000000000000000000" pitchFamily="2" charset="0"/>
              </a:rPr>
              <a:t>15</a:t>
            </a:fld>
            <a:endParaRPr lang="en-US">
              <a:latin typeface="Hind Siliguri" panose="02000000000000000000" pitchFamily="2" charset="0"/>
              <a:cs typeface="Hind Siliguri" panose="02000000000000000000" pitchFamily="2" charset="0"/>
            </a:endParaRP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hanks"/>
          <p:cNvSpPr txBox="1"/>
          <p:nvPr/>
        </p:nvSpPr>
        <p:spPr>
          <a:xfrm>
            <a:off x="548640" y="1186746"/>
            <a:ext cx="7315200" cy="5644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4800" b="1" dirty="0">
                <a:solidFill>
                  <a:schemeClr val="bg1"/>
                </a:solidFill>
                <a:latin typeface="Hind Siliguri" panose="02000000000000000000" pitchFamily="2" charset="0"/>
                <a:cs typeface="Hind Siliguri" panose="02000000000000000000" pitchFamily="2" charset="0"/>
              </a:rPr>
              <a:t>ধন্যবাদ!</a:t>
            </a:r>
            <a:endParaRPr lang="en-US" sz="4800" dirty="0">
              <a:latin typeface="Hind Siliguri" panose="02000000000000000000" pitchFamily="2" charset="0"/>
              <a:cs typeface="Hind Siliguri" panose="02000000000000000000" pitchFamily="2" charset="0"/>
            </a:endParaRPr>
          </a:p>
        </p:txBody>
      </p:sp>
      <p:sp>
        <p:nvSpPr>
          <p:cNvPr id="4" name="Info card"/>
          <p:cNvSpPr/>
          <p:nvPr/>
        </p:nvSpPr>
        <p:spPr>
          <a:xfrm>
            <a:off x="548640" y="2289289"/>
            <a:ext cx="5669280" cy="2008391"/>
          </a:xfrm>
          <a:prstGeom prst="roundRect">
            <a:avLst>
              <a:gd name="adj" fmla="val 6667"/>
            </a:avLst>
          </a:prstGeom>
          <a:solidFill>
            <a:schemeClr val="tx1"/>
          </a:solidFill>
          <a:ln/>
        </p:spPr>
      </p:sp>
      <p:grpSp>
        <p:nvGrpSpPr>
          <p:cNvPr id="10" name="Group 9">
            <a:extLst>
              <a:ext uri="{FF2B5EF4-FFF2-40B4-BE49-F238E27FC236}">
                <a16:creationId xmlns:a16="http://schemas.microsoft.com/office/drawing/2014/main" id="{45B3FE14-8100-0A95-D686-F16CC98EBC49}"/>
              </a:ext>
            </a:extLst>
          </p:cNvPr>
          <p:cNvGrpSpPr/>
          <p:nvPr/>
        </p:nvGrpSpPr>
        <p:grpSpPr>
          <a:xfrm>
            <a:off x="822960" y="2468880"/>
            <a:ext cx="5212080" cy="1551848"/>
            <a:chOff x="822960" y="2468880"/>
            <a:chExt cx="5212080" cy="1551848"/>
          </a:xfrm>
        </p:grpSpPr>
        <p:sp>
          <p:nvSpPr>
            <p:cNvPr id="5" name="Info name"/>
            <p:cNvSpPr txBox="1"/>
            <p:nvPr/>
          </p:nvSpPr>
          <p:spPr>
            <a:xfrm>
              <a:off x="822960" y="2468880"/>
              <a:ext cx="5212080" cy="27432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t"/>
            <a:lstStyle/>
            <a:p>
              <a:pPr marL="0" indent="0">
                <a:buNone/>
              </a:pPr>
              <a:r>
                <a:rPr lang="en-US" sz="2400" b="1" dirty="0">
                  <a:solidFill>
                    <a:schemeClr val="bg1"/>
                  </a:solidFill>
                  <a:latin typeface="Hind Siliguri" panose="02000000000000000000" pitchFamily="2" charset="0"/>
                  <a:cs typeface="Hind Siliguri" panose="02000000000000000000" pitchFamily="2" charset="0"/>
                </a:rPr>
                <a:t>মোঃ রুহুল আমিন</a:t>
              </a:r>
              <a:endParaRPr lang="en-US" sz="2400" dirty="0">
                <a:latin typeface="Hind Siliguri" panose="02000000000000000000" pitchFamily="2" charset="0"/>
                <a:cs typeface="Hind Siliguri" panose="02000000000000000000" pitchFamily="2" charset="0"/>
              </a:endParaRPr>
            </a:p>
          </p:txBody>
        </p:sp>
        <p:sp>
          <p:nvSpPr>
            <p:cNvPr id="6" name="Info designation"/>
            <p:cNvSpPr txBox="1"/>
            <p:nvPr/>
          </p:nvSpPr>
          <p:spPr>
            <a:xfrm>
              <a:off x="822960" y="2879702"/>
              <a:ext cx="5212080" cy="18288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t"/>
            <a:lstStyle/>
            <a:p>
              <a:pPr marL="0" indent="0">
                <a:buNone/>
              </a:pPr>
              <a:r>
                <a:rPr lang="en-US" sz="1600" dirty="0">
                  <a:solidFill>
                    <a:schemeClr val="bg1"/>
                  </a:solidFill>
                  <a:latin typeface="Hind Siliguri" panose="02000000000000000000" pitchFamily="2" charset="0"/>
                  <a:cs typeface="Hind Siliguri" panose="02000000000000000000" pitchFamily="2" charset="0"/>
                </a:rPr>
                <a:t>জুনিয়র ইন্সট্রাক্টর (টেক / কম্পিউটার)</a:t>
              </a:r>
              <a:endParaRPr lang="en-US" sz="1600" dirty="0">
                <a:latin typeface="Hind Siliguri" panose="02000000000000000000" pitchFamily="2" charset="0"/>
                <a:cs typeface="Hind Siliguri" panose="02000000000000000000" pitchFamily="2" charset="0"/>
              </a:endParaRPr>
            </a:p>
          </p:txBody>
        </p:sp>
        <p:sp>
          <p:nvSpPr>
            <p:cNvPr id="7" name="Info institute"/>
            <p:cNvSpPr txBox="1"/>
            <p:nvPr/>
          </p:nvSpPr>
          <p:spPr>
            <a:xfrm>
              <a:off x="822960" y="3199084"/>
              <a:ext cx="5212080" cy="18288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t"/>
            <a:lstStyle/>
            <a:p>
              <a:pPr marL="0" indent="0">
                <a:buNone/>
              </a:pPr>
              <a:r>
                <a:rPr lang="en-US" sz="1600" dirty="0">
                  <a:solidFill>
                    <a:schemeClr val="bg1"/>
                  </a:solidFill>
                  <a:latin typeface="Hind Siliguri" panose="02000000000000000000" pitchFamily="2" charset="0"/>
                  <a:cs typeface="Hind Siliguri" panose="02000000000000000000" pitchFamily="2" charset="0"/>
                </a:rPr>
                <a:t>কুষ্টিয়া সরকারী পলিটেকনিক ইনস্টিটিউট, কুষ্টিয়া।</a:t>
              </a:r>
              <a:endParaRPr lang="en-US" sz="1600" dirty="0">
                <a:latin typeface="Hind Siliguri" panose="02000000000000000000" pitchFamily="2" charset="0"/>
                <a:cs typeface="Hind Siliguri" panose="02000000000000000000" pitchFamily="2" charset="0"/>
              </a:endParaRPr>
            </a:p>
          </p:txBody>
        </p:sp>
        <p:sp>
          <p:nvSpPr>
            <p:cNvPr id="8" name="Info institute">
              <a:extLst>
                <a:ext uri="{FF2B5EF4-FFF2-40B4-BE49-F238E27FC236}">
                  <a16:creationId xmlns:a16="http://schemas.microsoft.com/office/drawing/2014/main" id="{6F284F27-B9E0-09A3-6E54-7E9BA5299E5E}"/>
                </a:ext>
              </a:extLst>
            </p:cNvPr>
            <p:cNvSpPr txBox="1"/>
            <p:nvPr/>
          </p:nvSpPr>
          <p:spPr>
            <a:xfrm>
              <a:off x="822960" y="3518466"/>
              <a:ext cx="5212080" cy="18288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t"/>
            <a:lstStyle/>
            <a:p>
              <a:pPr marL="0" indent="0">
                <a:buNone/>
              </a:pPr>
              <a:r>
                <a:rPr lang="en-US" sz="1600" dirty="0" err="1">
                  <a:solidFill>
                    <a:schemeClr val="bg1"/>
                  </a:solidFill>
                  <a:latin typeface="Hind Siliguri" panose="02000000000000000000" pitchFamily="2" charset="0"/>
                  <a:cs typeface="Hind Siliguri" panose="02000000000000000000" pitchFamily="2" charset="0"/>
                </a:rPr>
                <a:t>মোবাইল</a:t>
              </a:r>
              <a:r>
                <a:rPr lang="en-US" sz="1600" dirty="0">
                  <a:solidFill>
                    <a:schemeClr val="bg1"/>
                  </a:solidFill>
                  <a:latin typeface="Hind Siliguri" panose="02000000000000000000" pitchFamily="2" charset="0"/>
                  <a:cs typeface="Hind Siliguri" panose="02000000000000000000" pitchFamily="2" charset="0"/>
                </a:rPr>
                <a:t> </a:t>
              </a:r>
              <a:r>
                <a:rPr lang="en-US" sz="1600" dirty="0" err="1">
                  <a:solidFill>
                    <a:schemeClr val="bg1"/>
                  </a:solidFill>
                  <a:latin typeface="Hind Siliguri" panose="02000000000000000000" pitchFamily="2" charset="0"/>
                  <a:cs typeface="Hind Siliguri" panose="02000000000000000000" pitchFamily="2" charset="0"/>
                </a:rPr>
                <a:t>নংঃ</a:t>
              </a:r>
              <a:r>
                <a:rPr lang="en-US" sz="1600" dirty="0">
                  <a:solidFill>
                    <a:schemeClr val="bg1"/>
                  </a:solidFill>
                  <a:latin typeface="Hind Siliguri" panose="02000000000000000000" pitchFamily="2" charset="0"/>
                  <a:cs typeface="Hind Siliguri" panose="02000000000000000000" pitchFamily="2" charset="0"/>
                </a:rPr>
                <a:t> ০১৮২৩২০৮৫৩৩</a:t>
              </a:r>
              <a:endParaRPr lang="en-US" sz="1600" dirty="0">
                <a:latin typeface="Hind Siliguri" panose="02000000000000000000" pitchFamily="2" charset="0"/>
                <a:cs typeface="Hind Siliguri" panose="02000000000000000000" pitchFamily="2" charset="0"/>
              </a:endParaRPr>
            </a:p>
          </p:txBody>
        </p:sp>
        <p:sp>
          <p:nvSpPr>
            <p:cNvPr id="9" name="Info institute">
              <a:extLst>
                <a:ext uri="{FF2B5EF4-FFF2-40B4-BE49-F238E27FC236}">
                  <a16:creationId xmlns:a16="http://schemas.microsoft.com/office/drawing/2014/main" id="{A16120F7-0E8F-FCDF-6F81-176B0F5D7992}"/>
                </a:ext>
              </a:extLst>
            </p:cNvPr>
            <p:cNvSpPr txBox="1"/>
            <p:nvPr/>
          </p:nvSpPr>
          <p:spPr>
            <a:xfrm>
              <a:off x="822960" y="3837848"/>
              <a:ext cx="5212080" cy="18288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t"/>
            <a:lstStyle/>
            <a:p>
              <a:pPr marL="0" indent="0">
                <a:buNone/>
              </a:pPr>
              <a:r>
                <a:rPr lang="en-US" sz="1600" dirty="0">
                  <a:solidFill>
                    <a:schemeClr val="bg1"/>
                  </a:solidFill>
                  <a:latin typeface="Hind Siliguri" panose="02000000000000000000" pitchFamily="2" charset="0"/>
                  <a:cs typeface="Hind Siliguri" panose="02000000000000000000" pitchFamily="2" charset="0"/>
                </a:rPr>
                <a:t>ই-</a:t>
              </a:r>
              <a:r>
                <a:rPr lang="en-US" sz="1600" dirty="0" err="1">
                  <a:solidFill>
                    <a:schemeClr val="bg1"/>
                  </a:solidFill>
                  <a:latin typeface="Hind Siliguri" panose="02000000000000000000" pitchFamily="2" charset="0"/>
                  <a:cs typeface="Hind Siliguri" panose="02000000000000000000" pitchFamily="2" charset="0"/>
                </a:rPr>
                <a:t>মেইলঃ</a:t>
              </a:r>
              <a:r>
                <a:rPr lang="en-US" sz="1600" dirty="0">
                  <a:solidFill>
                    <a:schemeClr val="bg1"/>
                  </a:solidFill>
                  <a:latin typeface="Hind Siliguri" panose="02000000000000000000" pitchFamily="2" charset="0"/>
                  <a:cs typeface="Hind Siliguri" panose="02000000000000000000" pitchFamily="2" charset="0"/>
                </a:rPr>
                <a:t> ruhul.computer12@gmail.com</a:t>
              </a:r>
              <a:endParaRPr lang="en-US" sz="1600" dirty="0">
                <a:latin typeface="Hind Siliguri" panose="02000000000000000000" pitchFamily="2" charset="0"/>
                <a:cs typeface="Hind Siliguri" panose="02000000000000000000" pitchFamily="2" charset="0"/>
              </a:endParaRPr>
            </a:p>
          </p:txBody>
        </p:sp>
      </p:grpSp>
    </p:spTree>
  </p:cSld>
  <p:clrMapOvr>
    <a:masterClrMapping/>
  </p:clrMapOvr>
</p:sld>
</file>

<file path=ppt/theme/theme1.xml><?xml version="1.0" encoding="utf-8"?>
<a:theme xmlns:a="http://schemas.openxmlformats.org/drawingml/2006/main" name="Java Beginner">
  <a:themeElements>
    <a:clrScheme name="Java Beginner">
      <a:dk1>
        <a:srgbClr val="1F2933"/>
      </a:dk1>
      <a:lt1>
        <a:srgbClr val="FFFFFF"/>
      </a:lt1>
      <a:dk2>
        <a:srgbClr val="0B3C5D"/>
      </a:dk2>
      <a:lt2>
        <a:srgbClr val="EEF3F8"/>
      </a:lt2>
      <a:accent1>
        <a:srgbClr val="E76F00"/>
      </a:accent1>
      <a:accent2>
        <a:srgbClr val="0B3C5D"/>
      </a:accent2>
      <a:accent3>
        <a:srgbClr val="2A9D8F"/>
      </a:accent3>
      <a:accent4>
        <a:srgbClr val="F4A261"/>
      </a:accent4>
      <a:accent5>
        <a:srgbClr val="5C6BC0"/>
      </a:accent5>
      <a:accent6>
        <a:srgbClr val="6B7280"/>
      </a:accent6>
      <a:hlink>
        <a:srgbClr val="0B3C5D"/>
      </a:hlink>
      <a:folHlink>
        <a:srgbClr val="6B7280"/>
      </a:folHlink>
    </a:clrScheme>
    <a:fontScheme name="Java Beginner">
      <a:majorFont>
        <a:latin typeface="Nirmala UI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Nirmala U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28</TotalTime>
  <Words>1835</Words>
  <Application>Microsoft Office PowerPoint</Application>
  <PresentationFormat>On-screen Show (16:9)</PresentationFormat>
  <Paragraphs>367</Paragraphs>
  <Slides>16</Slides>
  <Notes>16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16</vt:i4>
      </vt:variant>
    </vt:vector>
  </HeadingPairs>
  <TitlesOfParts>
    <vt:vector size="21" baseType="lpstr">
      <vt:lpstr>Arial</vt:lpstr>
      <vt:lpstr>Hind Siliguri</vt:lpstr>
      <vt:lpstr>Monaco</vt:lpstr>
      <vt:lpstr>Nirmala UI</vt:lpstr>
      <vt:lpstr>Java Beginner</vt:lpstr>
      <vt:lpstr>PowerPoint Presentation</vt:lpstr>
      <vt:lpstr>কী কী লাগবে? রিকোয়ারমেন্ট</vt:lpstr>
      <vt:lpstr>সফটওয়্যার ও এনভায়রনমেন্ট</vt:lpstr>
      <vt:lpstr>সেটআপের ধাপ</vt:lpstr>
      <vt:lpstr>প্রথম জাভা প্রোগ্রাম</vt:lpstr>
      <vt:lpstr>যোগফল নির্ণয়</vt:lpstr>
      <vt:lpstr>আয়তক্ষেত্রের ক্ষেত্রফল</vt:lpstr>
      <vt:lpstr>বর্গের ক্ষেত্রফল</vt:lpstr>
      <vt:lpstr>সমকোণী ত্রিভুজের ক্ষেত্রফল</vt:lpstr>
      <vt:lpstr>Celsius → Fahrenheit</vt:lpstr>
      <vt:lpstr>মিনিট → ঘণ্টা ও মিনিট</vt:lpstr>
      <vt:lpstr>তিনটি সংখ্যার গড়</vt:lpstr>
      <vt:lpstr>বৃত্তের ক্ষেত্রফল</vt:lpstr>
      <vt:lpstr>আয়তক্ষেত্রের পরিসীমা</vt:lpstr>
      <vt:lpstr>Kilometer → Meter</vt:lpstr>
      <vt:lpstr>PowerPoint Presentation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জাভা প্রোগ্রামিং – নতুনদের জন্য</dc:title>
  <dc:subject>PptxGenJS Presentation</dc:subject>
  <dc:creator>মোঃ রুহুল আমিন</dc:creator>
  <cp:lastModifiedBy>Ruhul Amin</cp:lastModifiedBy>
  <cp:revision>23</cp:revision>
  <dcterms:created xsi:type="dcterms:W3CDTF">2026-10-06T03:16:53Z</dcterms:created>
  <dcterms:modified xsi:type="dcterms:W3CDTF">2026-10-06T03:51:41Z</dcterms:modified>
</cp:coreProperties>
</file>