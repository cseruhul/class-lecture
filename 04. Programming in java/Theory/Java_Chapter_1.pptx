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2" d="100"/>
          <a:sy n="112" d="100"/>
        </p:scale>
        <p:origin x="43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2880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5468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80559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644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32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5820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8408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109960" y="6199632"/>
            <a:ext cx="77724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835640" y="594360"/>
            <a:ext cx="59436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835640" y="1554480"/>
            <a:ext cx="59436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835640" y="2514600"/>
            <a:ext cx="59436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835640" y="3474720"/>
            <a:ext cx="59436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835640" y="4434840"/>
            <a:ext cx="594360" cy="22860"/>
          </a:xfrm>
          <a:prstGeom prst="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777240"/>
            <a:ext cx="1325880" cy="132588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758952"/>
            <a:ext cx="1325880" cy="1325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5600" b="1" dirty="0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868680"/>
            <a:ext cx="2011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 dirty="0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CHAPTER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1438221"/>
            <a:ext cx="84124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3100" b="1" dirty="0" err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জাভা</a:t>
            </a:r>
            <a:r>
              <a:rPr sz="31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প্রোগ্রামিং-এর ধারণা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419242"/>
            <a:ext cx="5029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Overview of 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107655"/>
            <a:ext cx="914400" cy="54864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3412020"/>
            <a:ext cx="80467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 dirty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Introduction • History • Features • JVM • Applications
Programming Style • Conventions • Java Program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75921"/>
            <a:ext cx="6400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Based on the uploaded BTEB-style chapter 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715000"/>
            <a:ext cx="5029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 dirty="0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LEARN  •  CODE  •  BUILD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7446F69-4A19-8265-B4C1-11B2A0F9E578}"/>
              </a:ext>
            </a:extLst>
          </p:cNvPr>
          <p:cNvSpPr txBox="1"/>
          <p:nvPr/>
        </p:nvSpPr>
        <p:spPr>
          <a:xfrm>
            <a:off x="2331720" y="514546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43B"/>
                </a:solidFill>
                <a:latin typeface="Hind Siliguri" panose="02000000000000000000" pitchFamily="2" charset="0"/>
                <a:ea typeface="Calibri" pitchFamily="34" charset="-122"/>
                <a:cs typeface="Hind Siliguri" panose="02000000000000000000" pitchFamily="2" charset="0"/>
              </a:rPr>
              <a:t>Md. Ruhul Amin  •  Junior Instructor, CST  •  Kushtia Government Polytechnic Institute</a:t>
            </a:r>
            <a:endParaRPr lang="en-US" sz="12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 •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শিখনফল (Learning Outcomes)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এই অধ্যায় শেষে শিক্ষার্থীরা Java-এর ভিত্তি ও প্রোগ্রাম কাঠামো ব্যাখ্যা করতে পারবে।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075688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কী ও কেন ব্যবহার করা হয় তা ব্যাখ্যা করা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98648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3008376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3008376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ইতিহাস ও বিকাশের প্রধান ধাপগুলো বর্ণনা করা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31335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3941063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941063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প্রধান বৈশিষ্ট্যগুলো শনাক্ত ও ব্যাখ্যা করা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64024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4873752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4873752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JVM, Bytecode ও Platform Independence-এর সম্পর্ক বোঝা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1965960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799" y="2075688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7" y="2075688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বিভিন্ন ব্যবহারক্ষেত্র ও application style আলাদা করা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2898648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799" y="3008376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3008376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Programming style, naming convention ও comments অনুসরণ করা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3831335"/>
            <a:ext cx="5166360" cy="71323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799" y="3941063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7" y="3941063"/>
            <a:ext cx="41605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Java program-এর মৌলিক structure শনাক্ত করা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 • CHAPTER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অধ্যায়ের রোডম্যাপ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Java program বোঝার জন্য ধারণা → বৈশিষ্ট্য → পরিবেশ → প্রয়োগ → structure—এই flow অনুসরণ করা হবে।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206654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4144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83464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প্রাথমিক ধারণা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39312" y="206654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44144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3464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কীভাবে তৈরি ও বিকশিত হলো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3952" y="206654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4144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3464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গুরুত্বপূর্ণ বৈশিষ্ট্য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92024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08592" y="206654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44144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83464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JDK, path, compile &amp;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" y="403250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40740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80060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থেকে machine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88620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39312" y="403250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40740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480060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Console, GUI, Applet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8620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3952" y="403250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40740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Conventions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80060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Style, naming &amp; comments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886200"/>
            <a:ext cx="2514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8592" y="4032504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4407408"/>
            <a:ext cx="2148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800600"/>
            <a:ext cx="2148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program-এর অংশগুলো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কী?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object-oriented ও platform-independent programming language হিসেবে Java-এর পরিচিতি।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657600" cy="342900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004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108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Programming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301752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Object-Oriented
Portable
Platform Independent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93392"/>
            <a:ext cx="6583680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63240"/>
                </a:solidFill>
                <a:latin typeface="Hind Siligur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 জনপ্রিয় high-level programming language</a:t>
            </a:r>
          </a:p>
          <a:p>
            <a:pPr>
              <a:spcAft>
                <a:spcPts val="500"/>
              </a:spcAft>
              <a:defRPr sz="1800">
                <a:solidFill>
                  <a:srgbClr val="263240"/>
                </a:solidFill>
                <a:latin typeface="Hind Siligur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 বিভিন্ন ধরনের software ও application তৈরিতে ব্যবহৃত</a:t>
            </a:r>
          </a:p>
          <a:p>
            <a:pPr>
              <a:spcAft>
                <a:spcPts val="500"/>
              </a:spcAft>
              <a:defRPr sz="1800">
                <a:solidFill>
                  <a:srgbClr val="263240"/>
                </a:solidFill>
                <a:latin typeface="Hind Siligur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 Object-oriented design-এর ওপর জোর দেয়</a:t>
            </a:r>
          </a:p>
          <a:p>
            <a:pPr>
              <a:spcAft>
                <a:spcPts val="500"/>
              </a:spcAft>
              <a:defRPr sz="1800">
                <a:solidFill>
                  <a:srgbClr val="263240"/>
                </a:solidFill>
                <a:latin typeface="Hind Siligur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•  Bytecode ও JVM-এর মাধ্যমে platform independence অর্জন করে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5074920"/>
            <a:ext cx="2011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09160" y="5074920"/>
            <a:ext cx="73152" cy="86868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5239512"/>
            <a:ext cx="15544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687567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1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•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5074920"/>
            <a:ext cx="2011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03720" y="5074920"/>
            <a:ext cx="73152" cy="86868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0" y="5239512"/>
            <a:ext cx="15544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687567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•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5074920"/>
            <a:ext cx="2011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98280" y="5074920"/>
            <a:ext cx="73152" cy="86868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26880" y="5239512"/>
            <a:ext cx="15544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Portable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687567"/>
            <a:ext cx="1554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neutral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 •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ইতিহাস — সংক্ষিপ্ত টাইমলাইন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PDF-এর বর্ণনা অনুযায়ী Java-এর শুরুর দিকের গুরুত্বপূর্ণ ঘটনাগুলো।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0058400" cy="54864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" y="3108960"/>
            <a:ext cx="320040" cy="3200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19" y="237743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Programming
Paradigms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3566160"/>
            <a:ext cx="20574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Modular • Top-down • Bottom-up • Structured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108960"/>
            <a:ext cx="320040" cy="3200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0" y="237743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Simula 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566160"/>
            <a:ext cx="20574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Object-oriented ধারণার গুরুত্বপূর্ণ পূর্বসূরি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108960"/>
            <a:ext cx="320040" cy="3200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237743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1991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566160"/>
            <a:ext cx="20574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James Gosling-এর নেতৃত্বে নতুন ভাষার কাজ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108960"/>
            <a:ext cx="320040" cy="3200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3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0574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প্রাথমিকভাবে Oak নামে পরিচিত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108960"/>
            <a:ext cx="320040" cy="3200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0" y="2377439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HotJava /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566160"/>
            <a:ext cx="205740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Web-এর জন্য browser-oriented প্রয়োগ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0584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পরবর্তী পর্যায়ে Java-এর version/JDK releases ধারাবাহিকভাবে প্রকাশিত হয়।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 •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জন্ম: Oak থেকে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 James Gosling, Oak এবং Web-oriented HotJava-এর উল্লেখ রয়েছে।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2918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73152" cy="196596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28346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James Gosling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834640" cy="11887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1991 সালে Sun Microsystems-এ নতুন programming language development-এর নেতৃত্বে ছিলেন।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2918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73152" cy="196596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039112"/>
            <a:ext cx="28346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87168"/>
            <a:ext cx="2834640" cy="11887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ভাষাটির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প্রাথমিক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নাম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ছিল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Oak।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পরে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Java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নাম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গ্রহণ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করা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400" b="0" dirty="0" err="1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হয়</a:t>
            </a:r>
            <a:r>
              <a:rPr sz="1400" b="0" dirty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74519"/>
            <a:ext cx="32918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83879" y="1874519"/>
            <a:ext cx="73152" cy="196596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39112"/>
            <a:ext cx="28346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HotJava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87168"/>
            <a:ext cx="2834640" cy="11887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Web browser ও applet-কেন্দ্রিক প্রয়োগের সঙ্গে Java-এর বিস্তার ঘটে।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709160"/>
            <a:ext cx="1417320" cy="68580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" y="4828032"/>
            <a:ext cx="1280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Need for a new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82803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2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709160"/>
            <a:ext cx="1417320" cy="685800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9392" y="4828032"/>
            <a:ext cx="1280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82803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2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709160"/>
            <a:ext cx="1417320" cy="685800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9792" y="4828032"/>
            <a:ext cx="1280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82803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2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4709160"/>
            <a:ext cx="1417320" cy="68580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31552" y="4828032"/>
            <a:ext cx="1280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Web / Applications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 •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Version / JDK বিবর্তনের ধারণা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 JDK 1.01, 1.02, 1.1, 1.2, 1.3, 1.4, 1.5 এবং Java 2-এর মতো releases-এর উল্লেখ আছে।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233172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" y="2395728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1.01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7" y="2971800"/>
            <a:ext cx="100584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8"/>
            <a:ext cx="1874519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প্রাথমিক development kit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03120"/>
            <a:ext cx="233172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0752" y="2395728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1.1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2971800"/>
            <a:ext cx="100584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94760" y="3218688"/>
            <a:ext cx="1874519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ক্রমাগত উন্নয়ন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2103120"/>
            <a:ext cx="233172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9671" y="2395728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1.2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3447" y="2971800"/>
            <a:ext cx="100584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79" y="3218688"/>
            <a:ext cx="1874519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2 নামের ব্যবহার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2103120"/>
            <a:ext cx="233172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08591" y="2395728"/>
            <a:ext cx="20116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9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1.3–1.5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2367" y="2971800"/>
            <a:ext cx="100584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72599" y="3218688"/>
            <a:ext cx="1874519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পরবর্তী ধারাবাহিক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মূল শিক্ষা: Java ecosystem-এর development kit ও runtime tooling সময়ের সঙ্গে ধাপে ধাপে বিকশিত হয়েছে।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বৈশিষ্ট্য — এক নজরে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PDF-এর তালিকা অনুসারে প্রধান বৈশিষ্ট্যগুলো।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82296" cy="62179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 Oriented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Object-based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82296" cy="62179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Compiled + Interpreted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65960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দুই-ধাপের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79191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2679191"/>
            <a:ext cx="82296" cy="62179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770632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Independent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70632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JVM-এর মাধ্যমে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679191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09360" y="2679191"/>
            <a:ext cx="82296" cy="62179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2770632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70632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সহজে platform বদলানো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83863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3483863"/>
            <a:ext cx="82296" cy="621792"/>
          </a:xfrm>
          <a:prstGeom prst="rect">
            <a:avLst/>
          </a:prstGeom>
          <a:solidFill>
            <a:srgbClr val="37965F"/>
          </a:solidFill>
          <a:ln>
            <a:solidFill>
              <a:srgbClr val="37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3575303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Highly Efficient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575303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দক্ষ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483863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09360" y="3483863"/>
            <a:ext cx="82296" cy="621792"/>
          </a:xfrm>
          <a:prstGeom prst="rect">
            <a:avLst/>
          </a:prstGeom>
          <a:solidFill>
            <a:srgbClr val="7752B4"/>
          </a:solidFill>
          <a:ln>
            <a:solidFill>
              <a:srgbClr val="7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3575303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Simple / Small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575303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সহজ, সংক্ষিপ্ত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288536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4288536"/>
            <a:ext cx="82296" cy="62179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4379975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Robust &amp; Secure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379975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নিরাপদ ও নির্ভরযোগ্য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288536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09360" y="4288536"/>
            <a:ext cx="82296" cy="62179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37960" y="4379975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&amp; Extensible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379975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runtime-এ সম্প্রসারণ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093208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5800" y="5093208"/>
            <a:ext cx="82296" cy="62179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4400" y="5184648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Distributed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8464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network-oriented 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093208"/>
            <a:ext cx="521208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09360" y="5093208"/>
            <a:ext cx="82296" cy="62179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37960" y="5184648"/>
            <a:ext cx="24231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Multithreaded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18464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একাধিক কাজ একসঙ্গে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 Oriented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একটি object-oriented language; class, object এবং OOP principles-এর ওপর ভিত্তি করে design করা যায়।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 Oriented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একটি object-oriented language; class, object এবং OOP principles-এর ওপর ভিত্তি করে design করা যায়।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Object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Inheritance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032504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80" y="4032504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10565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05656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Polymorphism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690872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97880" y="4690872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6480" y="4764024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64024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Encapsulation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Both Compiled &amp; Interpreted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source code প্রথমে compiler দ্বারা bytecode-এ রূপান্তরিত হয়; পরে JVM-side interpreter/processing-এর মাধ্যমে machine execution-এর দিকে যায়।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Both Compiled &amp; Interpreted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source code প্রথমে compiler দ্বারা bytecode-এ রূপান্তরিত হয়; পরে JVM-side interpreter/processing-এর মাধ্যমে machine execution-এর দিকে যায়।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032504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80" y="4032504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10565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05656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4690872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97880" y="4690872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6480" y="4764024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764024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Machine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bytecode বিভিন্ন platform-এর জন্য সংশ্লিষ্ট JVM/Interpreter ব্যবহার করে চালানো যায়—এটাই 'write once, run on different platforms' ধারণার ভিত্তি।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Independent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bytecode বিভিন্ন platform-এর জন্য সংশ্লিষ্ট JVM/Interpreter ব্যবহার করে চালানো যায়—এটাই 'write once, run on different platforms' ধারণার ভিত্তি।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Linux / Unix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Solaris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032504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97880" y="4032504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10565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05656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ও bytecode নির্দিষ্ট machine architecture-এর ওপর সরাসরি নির্ভরশীল না হওয়ায় এক platform থেকে অন্য platform-এ নেওয়া তুলনামূলক সহজ।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Portable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ও bytecode নির্দিষ্ট machine architecture-এর ওপর সরাসরি নির্ভরশীল না হওয়ায় এক platform থেকে অন্য platform-এ নেওয়া তুলনামূলক সহজ।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Portability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Highly 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 Java-এর efficiency-কে compiled/interpreted execution এবং runtime environment-এর সঙ্গে যুক্ত করেছে।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Highly 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 Java-এর efficiency-কে compiled/interpreted execution এবং runtime environment-এর সঙ্গে যুক্ত করেছে।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37965F"/>
          </a:solidFill>
          <a:ln>
            <a:solidFill>
              <a:srgbClr val="37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7965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Compile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37965F"/>
          </a:solidFill>
          <a:ln>
            <a:solidFill>
              <a:srgbClr val="37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7965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37965F"/>
          </a:solidFill>
          <a:ln>
            <a:solidFill>
              <a:srgbClr val="37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7965F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Runtime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Simple, Familiar &amp;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C/C++-এর সঙ্গে পরিচিত syntax-এর অনেক মিল থাকায় শেখা সহজ; ভাষাটিকে তুলনামূলক simple ও small হিসেবে উপস্থাপন করা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Simple, Familiar &amp;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C/C++-এর সঙ্গে পরিচিত syntax-এর অনেক মিল থাকায় শেখা সহজ; ভাষাটিকে তুলনামূলক simple ও small হিসেবে উপস্থাপন করা হয়েছে।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7752B4"/>
          </a:solidFill>
          <a:ln>
            <a:solidFill>
              <a:srgbClr val="7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7752B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Familiar syntax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7752B4"/>
          </a:solidFill>
          <a:ln>
            <a:solidFill>
              <a:srgbClr val="7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7752B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Simple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7752B4"/>
          </a:solidFill>
          <a:ln>
            <a:solidFill>
              <a:srgbClr val="77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7752B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Small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Robust &amp;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Exception handling, runtime checks এবং security-related design-এর মাধ্যমে Java-কে robust ও secure হিসেবে বর্ণনা করা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Robust &amp; 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Exception handling, runtime checks এবং security-related design-এর মাধ্যমে Java-কে robust ও secure হিসেবে বর্ণনা করা হয়েছে।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Reliability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Exception handling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&amp; Extensible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Runtime-এ class/object-এর সঙ্গে কাজ ও program-কে প্রয়োজন অনুযায়ী সম্প্রসারণের ধারণা Java-এর dynamic nature-এর সঙ্গে যুক্ত।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&amp; Extensible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Runtime-এ class/object-এর সঙ্গে কাজ ও program-কে প্রয়োজন অনুযায়ী সম্প্রসারণের ধারণা Java-এর dynamic nature-এর সঙ্গে যুক্ত।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Dynamic loading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Extensible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Network environment-এ কাজ করার জন্য Java-এর networking support ও distributed application ধারণা উল্লেখ করা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Distributed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Network environment-এ কাজ করার জন্য Java-এর networking support ও distributed application ধারণা উল্লেখ করা হয়েছে।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Distributed objects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 • JAVA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Multithreaded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application-এ একাধিক কাজ/থ্রেড সমান্তরালভাবে চালানোর সুবিধাকে Java-এর multithreaded বৈশিষ্ট্য হিসেবে দেখানো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520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206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Multithreaded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16052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একই application-এ একাধিক কাজ/থ্রেড সমান্তরালভাবে চালানোর সুবিধাকে Java-এর multithreaded বৈশিষ্ট্য হিসেবে দেখানো হয়েছে।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97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057400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97880" y="2057400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1305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Thread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715768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97880" y="2715768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2788920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8892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Thread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374136"/>
            <a:ext cx="5349240" cy="4846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3374136"/>
            <a:ext cx="109728" cy="484632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3447288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44728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Thread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 • JVM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Virtual Machine (JVM)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source → bytecode → JVM → machine code: portability-এর মূল ধারণা।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645920" cy="10058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2971800"/>
            <a:ext cx="149961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 Code
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30175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10000"/>
          </a:bodyPr>
          <a:lstStyle/>
          <a:p>
            <a:pPr algn="ctr"/>
            <a:r>
              <a:rPr sz="24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743200"/>
            <a:ext cx="1645920" cy="1005840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4952" y="2971800"/>
            <a:ext cx="149961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Compiler
javac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0175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10000"/>
          </a:bodyPr>
          <a:lstStyle/>
          <a:p>
            <a:pPr algn="ctr"/>
            <a:r>
              <a:rPr sz="24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743200"/>
            <a:ext cx="1645920" cy="1005840"/>
          </a:xfrm>
          <a:prstGeom prst="round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0952" y="2971800"/>
            <a:ext cx="149961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
.class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30175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10000"/>
          </a:bodyPr>
          <a:lstStyle/>
          <a:p>
            <a:pPr algn="ctr"/>
            <a:r>
              <a:rPr sz="24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743200"/>
            <a:ext cx="1645920" cy="1005840"/>
          </a:xfrm>
          <a:prstGeom prst="round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16952" y="2971800"/>
            <a:ext cx="149961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JVM / Interpreter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0175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10000"/>
          </a:bodyPr>
          <a:lstStyle/>
          <a:p>
            <a:pPr algn="ctr"/>
            <a:r>
              <a:rPr sz="24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743200"/>
            <a:ext cx="1645920" cy="10058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02952" y="2971800"/>
            <a:ext cx="149961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Machine Code
Real Machine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17720"/>
            <a:ext cx="3108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4617720"/>
            <a:ext cx="73152" cy="96012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4782312"/>
            <a:ext cx="26517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230368"/>
            <a:ext cx="2651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 code → Bytecode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617720"/>
            <a:ext cx="3108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80" y="4617720"/>
            <a:ext cx="73152" cy="96012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4782312"/>
            <a:ext cx="26517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230368"/>
            <a:ext cx="2651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→ JVM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617720"/>
            <a:ext cx="3108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38160" y="4617720"/>
            <a:ext cx="73152" cy="9601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4782312"/>
            <a:ext cx="26517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230368"/>
            <a:ext cx="2651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Platform-specific machine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 • JVM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Independence — একই Bytecode, ভিন্ন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PDF-এর diagram-এর ধারণা: একই .class bytecode বিভিন্ন platform-এর interpreter/JVM দিয়ে চালানো যায়।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00600" y="1783080"/>
            <a:ext cx="2560320" cy="777240"/>
          </a:xfrm>
          <a:prstGeom prst="round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7760" y="1938528"/>
            <a:ext cx="2286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 Code
Filename.class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71800"/>
            <a:ext cx="2514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Windows
Interpreter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703320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ctr"/>
            <a:r>
              <a:rPr sz="22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2514600" cy="658368"/>
          </a:xfrm>
          <a:prstGeom prst="round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31596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Windows
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971800"/>
            <a:ext cx="2514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312724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Solaris
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03320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ctr"/>
            <a:r>
              <a:rPr sz="22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160520"/>
            <a:ext cx="2514600" cy="658368"/>
          </a:xfrm>
          <a:prstGeom prst="round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00600" y="431596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Solaris
Computer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971800"/>
            <a:ext cx="2514600" cy="658368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312724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Macintosh
Interpreter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703320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ctr"/>
            <a:r>
              <a:rPr sz="22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160520"/>
            <a:ext cx="2514600" cy="658368"/>
          </a:xfrm>
          <a:prstGeom prst="round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0" y="4315968"/>
            <a:ext cx="2331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77500" lnSpcReduction="20000"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Mac
Computer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57800"/>
            <a:ext cx="85039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Key takeaway: Platform-specific অংশটি runtime environment-এ handled হয়।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 •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Windows-এ Java Environment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 environment setup-এর চারটি ধাপ দেখানো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487168" cy="26060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3591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80360"/>
            <a:ext cx="21488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47872"/>
            <a:ext cx="2148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Development Kit 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148840"/>
            <a:ext cx="2487168" cy="26060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66744" y="23591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880360"/>
            <a:ext cx="21488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Path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547872"/>
            <a:ext cx="2148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DOS prompt-এ path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148840"/>
            <a:ext cx="2487168" cy="26060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83096" y="23591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880360"/>
            <a:ext cx="21488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547872"/>
            <a:ext cx="2148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Text editor-এ source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148840"/>
            <a:ext cx="2487168" cy="26060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99448" y="23591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880360"/>
            <a:ext cx="21488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Compile &amp;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547872"/>
            <a:ext cx="21488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javac দিয়ে compile, java দিয়ে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9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Setup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65192"/>
            <a:ext cx="8138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8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 →  PATH  →  Coding  →  javac  →  java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 •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— Java Development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development-এর জন্য compiler, interpreter/runtime এবং documentation-related tools-এর সমষ্টিগত environment।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39112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32887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 code → Bytecode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39112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interpreter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7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74519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59" y="2039112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javadoc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59" y="2039112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Documentation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532887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 থেকে HTML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47287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3611879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11879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Native header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05655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Native method-এর জন্য header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47287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79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611879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05655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Bytecode/class information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447287"/>
            <a:ext cx="3337560" cy="126187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3611879"/>
            <a:ext cx="1051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3611879"/>
            <a:ext cx="1737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Debugger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105655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debugging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 •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Path Setting ও Command Line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PDF-এ DOS prompt-এ PATH set করার উদাহরণ এবং compile/run command দেখানো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44200" cy="123444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C:\jdk 1.3\bin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12848"/>
            <a:ext cx="52120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PATH-এর মধ্যে Java executable-এর অবস্থান যুক্ত করা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10744200" cy="1874519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3703320"/>
            <a:ext cx="9326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C:\jdk 1.3\bin&gt; javac start.java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15968"/>
            <a:ext cx="9326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C:\jdk 1.3\bin&gt; java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675887"/>
            <a:ext cx="1097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11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Compile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4288536"/>
            <a:ext cx="1097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11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 •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ব্যবহারক্ষেত্র (Applications)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 console, GUI এবং applet-সহ বিভিন্ন application context-এর কথা বলা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6636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3152" cy="155448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Console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47091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Text-based interaction; সাধারণত command/terminal-এ কাজ করে।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74519"/>
            <a:ext cx="516636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73152" cy="155448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2039112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GUI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7091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Graphical User Interface; Button, TextField ইত্যাদি component ব্যবহার করা যায়।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16636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73152" cy="155448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1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Applet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61688"/>
            <a:ext cx="47091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HTML page-এর embedded environment-এ Java program চালানোর ঐতিহাসিক পদ্ধতি।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749039"/>
            <a:ext cx="516636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55080" y="3749039"/>
            <a:ext cx="73152" cy="1554480"/>
          </a:xfrm>
          <a:prstGeom prst="rect">
            <a:avLst/>
          </a:prstGeom>
          <a:solidFill>
            <a:srgbClr val="3269BE"/>
          </a:solidFill>
          <a:ln>
            <a:solidFill>
              <a:srgbClr val="32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3913631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Web /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61688"/>
            <a:ext cx="47091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Network-oriented ও distributed application-এর জন্য Java ব্যবহারের ধারণা।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058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শিক্ষণ টিপ: প্রথমে Console → তারপর GUI → তারপর network/distributed ধারণায় এগোনো সহজ।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 •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Console বনাম GUI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দুই ধরনের application style-এর মৌলিক পার্থক্য।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1206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73152" cy="324612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084832"/>
            <a:ext cx="46634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Console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4663440" cy="24688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Text-based input/output
• Keyboard/terminal-কেন্দ্রিক
• সাধারণত graphical component নেই
• Program output দ্রুত পরীক্ষা করা যায়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120640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73152" cy="324612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084832"/>
            <a:ext cx="46634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GUI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32888"/>
            <a:ext cx="4663440" cy="246887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• Graphical interface
• Window, Button, TextField ইত্যাদি
• User interaction visual
• Interface-এর মাধ্যমে application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440680"/>
            <a:ext cx="14630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5440680"/>
            <a:ext cx="14630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3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GUI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09 • STYLE &amp;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Style &amp;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Readable, consistent এবং maintainable code লেখার জন্য naming ও indentation convention গুরুত্বপূর্ণ।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7472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73152" cy="3520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Naming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3017520" cy="2743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প্রথম অক্ষর Capital; একাধিক শব্দ হলে প্রতিটি শব্দের শুরু Capital.
Example:
CapitalizedEveryWord
MyClass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7472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0832" y="1874519"/>
            <a:ext cx="73152" cy="352044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2" y="2039112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Constant Naming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487168"/>
            <a:ext cx="3017520" cy="2743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Capital letters এবং প্রয়োজনে underscore ব্যবহার।
Example:
CAPITALIZE_WITH_UNDERSCORE
MY_CONSTANT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7472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73152" cy="35204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2039112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Method /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87168"/>
            <a:ext cx="3017520" cy="2743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সাধারণত প্রথম শব্দ lowercase; পরের শব্দের শুরু Capital.
Example:
startWithLowercaseAndCapitalizeOtherWords
myMethod
myField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09 • STYLE &amp;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Program-এর অংশকে ব্যাখ্যা, document বা temporarily exclude করার জন্য comments ব্যবহার করা হয়।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44200" cy="31546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9601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// This is a single line comment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96012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sum = sum + x;   // This is a single line 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75887"/>
            <a:ext cx="960120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/* This program is used to find out
   the summation of a series */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49240"/>
            <a:ext cx="30632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5349240"/>
            <a:ext cx="73152" cy="713232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5513831"/>
            <a:ext cx="26060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//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961888"/>
            <a:ext cx="2606040" cy="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25000" lnSpcReduction="20000"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Single-line comment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5349240"/>
            <a:ext cx="30632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26280" y="5349240"/>
            <a:ext cx="73152" cy="713232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80" y="5513831"/>
            <a:ext cx="26060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/*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961888"/>
            <a:ext cx="2606040" cy="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25000" lnSpcReduction="20000"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Multi-line comment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5349240"/>
            <a:ext cx="30632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38160" y="5349240"/>
            <a:ext cx="73152" cy="713232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66760" y="5513831"/>
            <a:ext cx="26060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961888"/>
            <a:ext cx="2606040" cy="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25000" lnSpcReduction="20000"/>
          </a:bodyPr>
          <a:lstStyle/>
          <a:p>
            <a:pPr algn="l"/>
            <a:r>
              <a:rPr sz="11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Readability &amp; 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 •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Program-এর মৌলিক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অধ্যায়ের structure diagram অনুযায়ী একটি Java program-এ কয়েকটি section থাকতে পারে; কিছু section optional।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810512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1856231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Documentation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37943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58568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7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Package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285999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06624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8992" y="2752344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Import statements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734056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54680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992" y="3200400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182112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02736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" y="3648456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Inheritance statements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630168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50791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1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Interface statements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078224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98848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8992" y="4544568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 class 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526280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46904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" y="4992624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main() method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974336"/>
            <a:ext cx="3200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 lnSpcReduction="20000"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394960"/>
            <a:ext cx="47091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8992" y="5440680"/>
            <a:ext cx="4343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Other methods calling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1828800"/>
            <a:ext cx="4526280" cy="388620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95160" y="2148840"/>
            <a:ext cx="3931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743200"/>
            <a:ext cx="3337560" cy="23317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 lnSpcReduction="10000"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Documentation
↓
Package / Import
↓
Class
↓
main()
↓
Other methods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 •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একটি Basic Java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 Myfirstjava ধরনের sample structure দিয়ে class, main method ও System.out.println দেখানো হয়েছে।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400800" cy="38862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5715000" cy="2926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9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public class Myfirstjava
{
    public static void main(String args[])
    {
        System.out.println("I love Bangladesh");
  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28800"/>
            <a:ext cx="3886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79" y="1828800"/>
            <a:ext cx="73152" cy="10058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26679" y="1993392"/>
            <a:ext cx="3429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441448"/>
            <a:ext cx="3429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declaration / class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063240"/>
            <a:ext cx="3886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79" y="3063240"/>
            <a:ext cx="73152" cy="1005840"/>
          </a:xfrm>
          <a:prstGeom prst="rect">
            <a:avLst/>
          </a:prstGeom>
          <a:solidFill>
            <a:srgbClr val="26A69A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6679" y="3227832"/>
            <a:ext cx="3429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675888"/>
            <a:ext cx="3429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 entry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97680"/>
            <a:ext cx="3886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79" y="4297680"/>
            <a:ext cx="73152" cy="100584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26679" y="4462272"/>
            <a:ext cx="3429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6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println()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910328"/>
            <a:ext cx="3429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200" b="0">
                <a:solidFill>
                  <a:srgbClr val="26324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Output statement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 •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 Structure-এর গুরুত্বপূর্ণ অংশ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অধ্যায়ের package, import, inheritance এবং interface statement-এর উদাহরণ।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4420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1325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84248"/>
            <a:ext cx="3291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package mypackage;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984248"/>
            <a:ext cx="5257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Program-এ classes/interfaces organize করার জন্য।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74420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3044952"/>
            <a:ext cx="1325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035808"/>
            <a:ext cx="3291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import java.awt.*;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035808"/>
            <a:ext cx="5257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অন্য package-এর class ব্যবহার করার জন্য।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4420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4096511"/>
            <a:ext cx="1325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Inheritance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87368"/>
            <a:ext cx="3291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A extends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087368"/>
            <a:ext cx="5257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এক class থেকে অন্য class-এ inheritance।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1074420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5148071"/>
            <a:ext cx="13258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138927"/>
            <a:ext cx="3291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5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 A extends B implements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138927"/>
            <a:ext cx="5257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Interface implement করার syntax।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 •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main() Method — কেন গুরুত্বপূর্ণ?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উৎস অধ্যায় main class ও main() method-কে Java program-এর execution context-এর সঙ্গে যুক্ত করেছে।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749039" cy="3246120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3200400" cy="10515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rm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public static void main
(String args[])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77639"/>
            <a:ext cx="2926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4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 entry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828800"/>
            <a:ext cx="6309360" cy="53035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1645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4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3931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Access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487168"/>
            <a:ext cx="6309360" cy="53035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2578608"/>
            <a:ext cx="1645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4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78608"/>
            <a:ext cx="3931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Class-level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145536"/>
            <a:ext cx="6309360" cy="53035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3236976"/>
            <a:ext cx="1645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400" b="1">
                <a:solidFill>
                  <a:srgbClr val="26A69A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void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36976"/>
            <a:ext cx="3931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No return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03904"/>
            <a:ext cx="6309360" cy="53035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3895344"/>
            <a:ext cx="1645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400" b="1">
                <a:solidFill>
                  <a:srgbClr val="3269BE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895344"/>
            <a:ext cx="3931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Method 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462272"/>
            <a:ext cx="6309360" cy="53035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0" y="4553712"/>
            <a:ext cx="1645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lnSpcReduction="10000"/>
          </a:bodyPr>
          <a:lstStyle/>
          <a:p>
            <a:pPr algn="l"/>
            <a:r>
              <a:rPr sz="1400" b="1">
                <a:solidFill>
                  <a:srgbClr val="7752B4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String args[]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553712"/>
            <a:ext cx="3931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Command-line arguments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11 •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অধ্যায় ১ — 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পরবর্তী অধ্যায়ে যাওয়ার আগে এই ৮টি বিষয় পরিষ্কার থাকা উচিত।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পরিচিতি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96596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66744" y="213055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48716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Java-এর ইতিহাস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96596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83096" y="213055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8716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10টি প্রধান বৈশিষ্ট্য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96596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99448" y="213055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48716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Bytecode ও JVM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" y="354787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90448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Platform independence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338328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66744" y="354787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390448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85000" lnSpcReduction="10000"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JDK / PATH / Compile /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338328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83096" y="354787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90448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Programming convention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3383280"/>
            <a:ext cx="2487168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99448" y="3547872"/>
            <a:ext cx="502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100" b="1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904488"/>
            <a:ext cx="21031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4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 structure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5074920"/>
            <a:ext cx="8138160" cy="658368"/>
          </a:xfrm>
          <a:prstGeom prst="round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40280" y="5230368"/>
            <a:ext cx="7680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Concept → Code → Compile → Run → Understand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200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000" b="1" dirty="0">
                <a:solidFill>
                  <a:srgbClr val="E22D2D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12 •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2700" b="1" dirty="0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Classroom Practice /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শিক্ষার্থীদের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দিয়ে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ধারণাগুলো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active recall </a:t>
            </a:r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করানো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যেতে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পারে</a:t>
            </a:r>
            <a:r>
              <a:rPr sz="1300" b="0" dirty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27632"/>
            <a:ext cx="914400" cy="45720"/>
          </a:xfrm>
          <a:prstGeom prst="rect">
            <a:avLst/>
          </a:prstGeom>
          <a:solidFill>
            <a:srgbClr val="F28F31"/>
          </a:solidFill>
          <a:ln>
            <a:solidFill>
              <a:srgbClr val="F28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1. Java-কে platform independent বলা হয় কেন?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947672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2. Source code ও bytecode-এর পার্থক্য কী?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0048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3. JVM-এর ভূমিকা কী?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70048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4. Java-এর পাঁচটি feature লিখো।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11296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5. Console ও GUI application-এর পার্থক্য বলো।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511296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630168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6. javac এবং java command-এর কাজ কী?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52544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471416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7. Class naming ও constant naming convention কী?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52544"/>
            <a:ext cx="516636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4471416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l"/>
            <a:r>
              <a:rPr sz="1300" b="1">
                <a:solidFill>
                  <a:srgbClr val="0B1626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8. একটি Java program-এর প্রধান sectionগুলো লেখো।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18520" cy="10972"/>
          </a:xfrm>
          <a:prstGeom prst="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6565392"/>
            <a:ext cx="6858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 fontScale="92500"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Source: Uploaded Java Chapter 1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6"/>
          </a:solidFill>
          <a:ln>
            <a:solidFill>
              <a:srgbClr val="0B1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ধন্যবাদ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2000" b="1">
                <a:solidFill>
                  <a:srgbClr val="F28F31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Java Programming • 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2788920"/>
            <a:ext cx="2011680" cy="64008"/>
          </a:xfrm>
          <a:prstGeom prst="rect">
            <a:avLst/>
          </a:prstGeom>
          <a:solidFill>
            <a:srgbClr val="E22D2D"/>
          </a:solidFill>
          <a:ln>
            <a:solidFill>
              <a:srgbClr val="E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337560"/>
            <a:ext cx="8869680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2300" b="0">
                <a:solidFill>
                  <a:srgbClr val="E2E8F0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Learn the concept.
Understand the flow.
Then write the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715000"/>
            <a:ext cx="5943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rm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Hind Siliguri" panose="02000000000000000000" pitchFamily="2" charset="0"/>
                <a:cs typeface="Hind Siliguri" panose="02000000000000000000" pitchFamily="2" charset="0"/>
              </a:rPr>
              <a:t>Based on the uploaded chapter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2460</Words>
  <Application>Microsoft Office PowerPoint</Application>
  <PresentationFormat>Widescreen</PresentationFormat>
  <Paragraphs>545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– Chapter 1: Overview of Java</dc:title>
  <dc:subject>Professional classroom presentation based on uploaded Java Chapter 1 PDF</dc:subject>
  <dc:creator>Md. Ruhul Amin</dc:creator>
  <cp:keywords>Java, BTEB, Programming, JVM, JDK, OOP, Chapter 1</cp:keywords>
  <dc:description>generated using python-pptx</dc:description>
  <cp:lastModifiedBy>Ruhul Amin</cp:lastModifiedBy>
  <cp:revision>2</cp:revision>
  <dcterms:created xsi:type="dcterms:W3CDTF">2013-01-27T09:14:16Z</dcterms:created>
  <dcterms:modified xsi:type="dcterms:W3CDTF">2026-10-05T03:26:00Z</dcterms:modified>
  <cp:category/>
</cp:coreProperties>
</file>