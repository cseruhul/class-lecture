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A490D-AB58-4408-AB5A-A91389B0E213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BD390-FE5E-4CA5-ACD0-C9F327C20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53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BD390-FE5E-4CA5-ACD0-C9F327C20D7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36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99CD3C-A5A4-B5FE-FA82-F0970F7DE5FD}"/>
              </a:ext>
            </a:extLst>
          </p:cNvPr>
          <p:cNvSpPr txBox="1"/>
          <p:nvPr userDrawn="1"/>
        </p:nvSpPr>
        <p:spPr>
          <a:xfrm>
            <a:off x="2184375" y="6423496"/>
            <a:ext cx="424507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Deot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052560" y="0"/>
            <a:ext cx="315468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332720" y="1005840"/>
            <a:ext cx="1874519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418320" y="6035040"/>
            <a:ext cx="274320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3657600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685800"/>
            <a:ext cx="201168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অধ্যায় — ০২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7589520" cy="1120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ডেটা টাইপ এবং
ভেরিয়েবল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971800"/>
            <a:ext cx="621792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BFDBFE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Data Types and Variables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94760"/>
            <a:ext cx="20574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826764"/>
            <a:ext cx="2057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17720"/>
            <a:ext cx="3657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621792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• Computer Science &amp; Technology
Kushtia Government Polytechnic Institute, Kushtia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5440680"/>
            <a:ext cx="30175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LEARN • CODE • SUCCEED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49752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300274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আজকের শেখার লক্ষ্য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7988" y="6428232"/>
            <a:ext cx="30489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50749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1673351"/>
            <a:ext cx="4709159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Data Type কী এবং কেন দরকার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67128"/>
            <a:ext cx="4709159" cy="281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প্রোগ্রামে কোন ধরনের data কীভাবে সংরক্ষণ ও ব্যবহার করা হয় তা বোঝা।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673351"/>
            <a:ext cx="50292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37760" y="1705355"/>
            <a:ext cx="50292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0749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64008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9088" y="1673351"/>
            <a:ext cx="4709159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Data Type শ্রেণিবিন্যাস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67128"/>
            <a:ext cx="4709159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Primitive, Non-Primitive/User Defined এবং Literals-এর ধারণা আলাদা করা।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61320" y="1673351"/>
            <a:ext cx="50292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61320" y="1705355"/>
            <a:ext cx="50292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57600"/>
            <a:ext cx="50749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4360" y="3657600"/>
            <a:ext cx="64008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528" y="3822191"/>
            <a:ext cx="4709159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315968"/>
            <a:ext cx="4709159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byte, short, int, long, float, double, char, boolean—প্রতিটির ব্যবহার ও range।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822191"/>
            <a:ext cx="50292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37760" y="3854196"/>
            <a:ext cx="50292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57600"/>
            <a:ext cx="50749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17920" y="3657600"/>
            <a:ext cx="64008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19088" y="3822191"/>
            <a:ext cx="4709159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315968"/>
            <a:ext cx="4709159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Declaration, naming convention, scope, lifetime এবং dynamic initialization।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61320" y="3822191"/>
            <a:ext cx="50292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561320" y="3854196"/>
            <a:ext cx="50292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10B98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00B80C-1CBF-E9DC-B216-D016E5C28B56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77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359265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Data Type কেন গুরুত্বপূর্ণ?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9592" y="6428232"/>
            <a:ext cx="3032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69848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একটি variable-এর ভেতরে কী ধরনের value রাখা হবে—তা Data Type নির্ধারণ করে।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3337560" cy="2514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64008" cy="2514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2404872"/>
            <a:ext cx="29718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898648"/>
            <a:ext cx="2971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Data type </a:t>
            </a:r>
            <a:r>
              <a:rPr sz="14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অনুযায়ী</a:t>
            </a:r>
            <a:r>
              <a:rPr sz="14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value </a:t>
            </a:r>
            <a:r>
              <a:rPr sz="14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সংরক্ষণের</a:t>
            </a:r>
            <a:r>
              <a:rPr sz="14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জন্য</a:t>
            </a:r>
            <a:r>
              <a:rPr sz="14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প্রয়োজনীয়</a:t>
            </a:r>
            <a:r>
              <a:rPr sz="14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memory </a:t>
            </a:r>
            <a:r>
              <a:rPr sz="14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নির্ধারিত</a:t>
            </a:r>
            <a:r>
              <a:rPr sz="14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হয়</a:t>
            </a:r>
            <a:r>
              <a:rPr sz="14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240280"/>
            <a:ext cx="3337560" cy="25146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34840" y="2240280"/>
            <a:ext cx="64008" cy="2514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36007" y="2404872"/>
            <a:ext cx="29718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898648"/>
            <a:ext cx="2971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একটি value কীভাবে interpret করা হবে—তা data type-এর সঙ্গে সম্পর্কিত।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240280"/>
            <a:ext cx="3337560" cy="25146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83879" y="2240280"/>
            <a:ext cx="64008" cy="2514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5048" y="2404872"/>
            <a:ext cx="29718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98648"/>
            <a:ext cx="2971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কোন ধরনের operation করা যাবে, সেটিও data type দ্বারা প্রভাবিত হয়।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74920"/>
            <a:ext cx="10835640" cy="12161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" y="5184648"/>
            <a:ext cx="1050645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26207"/>
            <a:ext cx="1768176" cy="1069524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int num = 10;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double price = 99.50;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char grade = 'A';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boolean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passed = true;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3758E6-3822-BB6E-AE7D-F6E497345B14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464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494879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Data Type — প্রধান শ্রেণিবিন্যাস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1576" y="6428232"/>
            <a:ext cx="3113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6984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পাঠ্যবই অনুযায়ী Java-তে Data Type-কে প্রধানত তিনভাবে দেখা হয়েছে: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874519"/>
            <a:ext cx="2788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09160" y="1874519"/>
            <a:ext cx="64008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10328" y="2039112"/>
            <a:ext cx="242316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DATA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423160"/>
            <a:ext cx="242316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63240"/>
            <a:ext cx="3063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306324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" y="3227832"/>
            <a:ext cx="269748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 / Built-in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450591" y="2651760"/>
            <a:ext cx="3648457" cy="4114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60520" y="3063240"/>
            <a:ext cx="3063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60520" y="3063240"/>
            <a:ext cx="6400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61688" y="3227832"/>
            <a:ext cx="269748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Non-Primitive / User Defined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696712" y="2651760"/>
            <a:ext cx="402336" cy="4114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83879" y="3063240"/>
            <a:ext cx="3063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83879" y="306324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85048" y="3227832"/>
            <a:ext cx="269748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Literals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9048" y="2651760"/>
            <a:ext cx="3621024" cy="4114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0120" y="4343400"/>
            <a:ext cx="91440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437540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Numeric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38528" y="4343400"/>
            <a:ext cx="123444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38528" y="4375404"/>
            <a:ext cx="123444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Non-Numeric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343400"/>
            <a:ext cx="822960" cy="38404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43400" y="4375404"/>
            <a:ext cx="82296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Array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0368" y="4343400"/>
            <a:ext cx="914400" cy="38404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30368" y="437540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String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343400"/>
            <a:ext cx="822960" cy="38404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08776" y="4375404"/>
            <a:ext cx="82296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95744" y="4343400"/>
            <a:ext cx="1097280" cy="38404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95744" y="4375404"/>
            <a:ext cx="109728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Interface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4343400"/>
            <a:ext cx="914400" cy="38404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66760" y="437540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Numeric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45168" y="4343400"/>
            <a:ext cx="1051560" cy="38404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345168" y="4375404"/>
            <a:ext cx="105156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Character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69880" y="4343400"/>
            <a:ext cx="914400" cy="38404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469880" y="437540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Boolean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66360"/>
            <a:ext cx="105156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মূল ধারণা: Primitive হলো language-এর built-in type; Non-Primitive হলো reference/user-defined structure; Literal হলো source code-এ সরাসরি লেখা নির্দিষ্ট value.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2EF1C9-25C9-B96F-3DB0-32C9B71A9886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906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605005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 Data Types — ৮টি Built-in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7988" y="6428232"/>
            <a:ext cx="30489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1463040"/>
            <a:ext cx="6400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162763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21408"/>
            <a:ext cx="21488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8 bit
ছোট পূর্ণসংখ্যা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2788920"/>
            <a:ext cx="91440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8952" y="282092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46304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47288" y="1463040"/>
            <a:ext cx="6400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48456" y="162763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2121408"/>
            <a:ext cx="21488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16 bit
পূর্ণসংখ্যা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2788920"/>
            <a:ext cx="91440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11880" y="282092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0216" y="146304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0216" y="1463040"/>
            <a:ext cx="64008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01384" y="162763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121408"/>
            <a:ext cx="21488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32 bit
সাধারণ পূর্ণসংখ্যা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8" y="2788920"/>
            <a:ext cx="91440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4808" y="282092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0EA5E9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146304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153144" y="1463040"/>
            <a:ext cx="64008" cy="1783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54312" y="162763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121408"/>
            <a:ext cx="21488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64 bit
বড় পূর্ণসংখ্যা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17736" y="2788920"/>
            <a:ext cx="91440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17736" y="282092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70332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94360" y="3703320"/>
            <a:ext cx="6400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5528" y="386791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float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4361688"/>
            <a:ext cx="21488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32 bit
দশমিক সংখ্যা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" y="5029200"/>
            <a:ext cx="91440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58952" y="506120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47288" y="370332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447288" y="3703320"/>
            <a:ext cx="64008" cy="1783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48456" y="386791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double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48456" y="4361688"/>
            <a:ext cx="21488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64 bit
আরও precision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11880" y="5029200"/>
            <a:ext cx="91440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11880" y="506120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DC2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0216" y="370332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300216" y="3703320"/>
            <a:ext cx="64008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501384" y="386791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char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4361688"/>
            <a:ext cx="21488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16 bit
একটি Unicode character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64808" y="5029200"/>
            <a:ext cx="91440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64808" y="506120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10B98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53144" y="370332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153144" y="3703320"/>
            <a:ext cx="64008" cy="1783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354312" y="386791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boolean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54312" y="4361688"/>
            <a:ext cx="21488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—
true / false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17736" y="5029200"/>
            <a:ext cx="91440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317736" y="506120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65A7DC-17E4-592C-A7D3-17F4CFC6E1A4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906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441819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Numeric Data Types — দুই ভাগ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180" y="6428232"/>
            <a:ext cx="30970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66360" cy="3474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64008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1764792"/>
            <a:ext cx="4800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Integral / Integer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58568"/>
            <a:ext cx="4800600" cy="130497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পূর্ণসংখ্যা সংরক্ষণ করে
byte • short • int • long
উদাহরণ: 10, 20, -84, 2500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00200"/>
            <a:ext cx="5166360" cy="3474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64008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0528" y="1764792"/>
            <a:ext cx="4800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Floating-Point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258568"/>
            <a:ext cx="4800600" cy="130497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দশমিক বা ভগ্নাংশধর্মী মান সংরক্ষণ করে
float • double
উদাহরণ: 3.14, 5.67, 0.8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40680"/>
            <a:ext cx="1005840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Numeric → Integral + Floating Point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FE1DDA-62E8-70F5-D568-56AAF7A910E7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906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07863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Integer Types — Memory ও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9592" y="6428232"/>
            <a:ext cx="3032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1234440" cy="548640"/>
          </a:xfrm>
          <a:prstGeom prst="rect">
            <a:avLst/>
          </a:prstGeom>
          <a:solidFill>
            <a:srgbClr val="121C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" y="1600200"/>
            <a:ext cx="1088136" cy="2662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508760"/>
            <a:ext cx="1325880" cy="548640"/>
          </a:xfrm>
          <a:prstGeom prst="rect">
            <a:avLst/>
          </a:prstGeom>
          <a:solidFill>
            <a:srgbClr val="121C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01952" y="1600200"/>
            <a:ext cx="1179576" cy="2662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508760"/>
            <a:ext cx="3840480" cy="548640"/>
          </a:xfrm>
          <a:prstGeom prst="rect">
            <a:avLst/>
          </a:prstGeom>
          <a:solidFill>
            <a:srgbClr val="121C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7832" y="1600200"/>
            <a:ext cx="3694176" cy="2662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Signed Range (সংক্ষেপে)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508760"/>
            <a:ext cx="4663440" cy="548640"/>
          </a:xfrm>
          <a:prstGeom prst="rect">
            <a:avLst/>
          </a:prstGeom>
          <a:solidFill>
            <a:srgbClr val="121C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68312" y="1600200"/>
            <a:ext cx="4517136" cy="2662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Typical 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057400"/>
            <a:ext cx="1234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" y="2194560"/>
            <a:ext cx="108813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057400"/>
            <a:ext cx="13258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01952" y="2194560"/>
            <a:ext cx="117957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8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057400"/>
            <a:ext cx="38404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27832" y="2194560"/>
            <a:ext cx="369417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−128 থেকে 127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2057400"/>
            <a:ext cx="4663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68312" y="2194560"/>
            <a:ext cx="451713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কম memory-এর ছোট integer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807208"/>
            <a:ext cx="1234440" cy="74980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7512" y="2944368"/>
            <a:ext cx="108813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short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2807208"/>
            <a:ext cx="1325880" cy="74980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01952" y="2944368"/>
            <a:ext cx="117957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16 bit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2807208"/>
            <a:ext cx="3840480" cy="74980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27832" y="2944368"/>
            <a:ext cx="369417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−32,768 থেকে 32,767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2807208"/>
            <a:ext cx="4663440" cy="74980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68312" y="2944368"/>
            <a:ext cx="451713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মাঝারি range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557015"/>
            <a:ext cx="1234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7512" y="3694176"/>
            <a:ext cx="108813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3557015"/>
            <a:ext cx="13258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901952" y="3694176"/>
            <a:ext cx="117957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32 bit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3557015"/>
            <a:ext cx="38404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27832" y="3694176"/>
            <a:ext cx="369417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−2³¹ থেকে 2³¹−1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3557015"/>
            <a:ext cx="4663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68312" y="3694176"/>
            <a:ext cx="451713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সাধারণ integer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306824"/>
            <a:ext cx="1234440" cy="74980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7512" y="4443984"/>
            <a:ext cx="108813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long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4306824"/>
            <a:ext cx="1325880" cy="74980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901952" y="4443984"/>
            <a:ext cx="117957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64 bit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54680" y="4306824"/>
            <a:ext cx="3840480" cy="74980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227832" y="4443984"/>
            <a:ext cx="369417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−2⁶³ থেকে 2⁶³−1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60" y="4306824"/>
            <a:ext cx="4663440" cy="74980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068312" y="4443984"/>
            <a:ext cx="4517136" cy="255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বড় integer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394960"/>
            <a:ext cx="1069848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পাঠ্যবইয়ের টেবিলে boolean-এর size হিসেবে 1 এবং char-এর জন্য 16 bit উল্লেখ করা হয়েছে; Java implementation-এ memory representation আলাদা হতে পারে।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58FC14-BAE3-1F31-97D3-0BF73749684E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906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65250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Floating-Point Types — float ও double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180" y="6428232"/>
            <a:ext cx="30970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257800" cy="3337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64008" cy="3337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1719072"/>
            <a:ext cx="489204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float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12848"/>
            <a:ext cx="4892040" cy="130497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32 bit
দশমিক/ভগ্নাংশ মানের জন্য।
উদাহরণ: 0.8f, 23.5f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257800" cy="3337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64008" cy="3337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4807" y="1719072"/>
            <a:ext cx="489204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double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212848"/>
            <a:ext cx="4892040" cy="130497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64 bit
float-এর তুলনায় বেশি precision।
উদাহরণ: 3.14159, 1.7E308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257800"/>
            <a:ext cx="10561320" cy="868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1832" y="5367528"/>
            <a:ext cx="1023213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4302" y="5415866"/>
            <a:ext cx="1646348" cy="56169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float  value1 = 65.0f;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double value2 = 65.0;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B3D6D8-45B8-CAD3-3618-422C43657188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906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607249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boolean ও char — Non-Numeric Primitive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4782" y="6428232"/>
            <a:ext cx="3080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257800" cy="3611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64008" cy="3611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1719072"/>
            <a:ext cx="489204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boolean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12848"/>
            <a:ext cx="4892040" cy="145886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শুধু দুইটি logical value:
true
false
Condition / decision তৈরিতে ব্যবহৃত হয়।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754880" cy="868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" y="4270248"/>
            <a:ext cx="442569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99431"/>
            <a:ext cx="1768176" cy="56169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boolean passed = true;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boolean adult = false;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257800" cy="3611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63640" y="1554480"/>
            <a:ext cx="64008" cy="3611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64807" y="1719072"/>
            <a:ext cx="489204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char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2212848"/>
            <a:ext cx="4892040" cy="12280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একটি single character সংরক্ষণ করে।
Unicode character হিসেবে ব্যবহৃত হয়।
উদাহরণ: 'A', 'b', '7'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160520"/>
            <a:ext cx="4754880" cy="868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56831" y="4270248"/>
            <a:ext cx="442569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99431"/>
            <a:ext cx="1080489" cy="56169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char ch1 = 'A';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char ch2 = 65;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005952-3534-5644-2D2D-01703A581490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464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33671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Non-Primitive / User-Defined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2416" y="6428232"/>
            <a:ext cx="2904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6984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পাঠ্যবইয়ে Non-Primitive Types হিসেবে উল্লেখ করা হয়েছে: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64008" cy="2377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15768"/>
            <a:ext cx="214884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Text / sequence of characters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05740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02152" y="2057400"/>
            <a:ext cx="64008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03320" y="222199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Array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15768"/>
            <a:ext cx="21488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একাধিক value একসঙ্গে রাখে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205740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18504" y="205740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19672" y="222199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715768"/>
            <a:ext cx="21488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Object তৈরির blueprint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205740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34856" y="2057400"/>
            <a:ext cx="64008" cy="2377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36024" y="2221992"/>
            <a:ext cx="21488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Interface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715768"/>
            <a:ext cx="214884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Class-এর আচরণ/contract নির্ধারণে ব্যবহৃত abstraction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3327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Primitive-এর মতো সরাসরি value না রেখে এগুলো সাধারণত reference-based structure হিসেবে কাজ করে।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9184C1-378C-2C0B-B833-34C37254CABE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2167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LITERALS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85769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Literals — Code-এর ভেতরের সরাসরি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1652" y="6428232"/>
            <a:ext cx="2712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6984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Literal হলো এমন একটি নির্দিষ্ট value, যা source code-এ সরাসরি লেখা থাকে।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24871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64008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7" y="2313432"/>
            <a:ext cx="2121408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Integer Literal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07208"/>
            <a:ext cx="2121408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10, 20, 100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148840"/>
            <a:ext cx="24871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93008" y="2148840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94176" y="2313432"/>
            <a:ext cx="2121408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Decimal Literal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807208"/>
            <a:ext cx="2121408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3.14, 5.67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2148840"/>
            <a:ext cx="24871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45936" y="2148840"/>
            <a:ext cx="64008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47104" y="2313432"/>
            <a:ext cx="2121408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Binary Literal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807208"/>
            <a:ext cx="2121408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0b1010, 0b1100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3" y="2148840"/>
            <a:ext cx="24871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98863" y="2148840"/>
            <a:ext cx="64008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00032" y="2313432"/>
            <a:ext cx="2121408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Octal Literal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807208"/>
            <a:ext cx="2121408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0123, 0765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657600"/>
            <a:ext cx="24871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" y="3657600"/>
            <a:ext cx="64008" cy="1188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7" y="3822191"/>
            <a:ext cx="2121408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Long Literal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315968"/>
            <a:ext cx="2121408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10L, 20L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3008" y="3657600"/>
            <a:ext cx="24871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3008" y="3657600"/>
            <a:ext cx="64008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94176" y="3822191"/>
            <a:ext cx="2121408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Character Literal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94176" y="4315968"/>
            <a:ext cx="2121408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'A', 'b', '5'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45936" y="3657600"/>
            <a:ext cx="24871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45936" y="3657600"/>
            <a:ext cx="64008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47104" y="3822191"/>
            <a:ext cx="2121408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Boolean Literal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4315968"/>
            <a:ext cx="2121408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true, false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98863" y="3657600"/>
            <a:ext cx="24871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198863" y="3657600"/>
            <a:ext cx="64008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00032" y="3822191"/>
            <a:ext cx="2121408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String Literal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4315968"/>
            <a:ext cx="2121408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"Hello", "Java"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7EFB07-7191-27E5-66E2-299696535D00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2167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LITERALS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638668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Numeric Literals — বিভিন্নভাবে সংখ্যা লেখা যায়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7224" y="6428232"/>
            <a:ext cx="2856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1764792"/>
            <a:ext cx="28803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Decimal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58568"/>
            <a:ext cx="288036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সাধারণ সংখ্যা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278892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60020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80559" y="1600200"/>
            <a:ext cx="64008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1727" y="1764792"/>
            <a:ext cx="28803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Binary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2258568"/>
            <a:ext cx="288036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base-2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194560"/>
            <a:ext cx="278892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0b1010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0020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0" y="1600200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0768" y="1764792"/>
            <a:ext cx="28803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Octal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258568"/>
            <a:ext cx="288036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base-8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194560"/>
            <a:ext cx="278892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56616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1520" y="3566160"/>
            <a:ext cx="6400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2688" y="3730752"/>
            <a:ext cx="28803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Hexadecimal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224528"/>
            <a:ext cx="288036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base-16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160520"/>
            <a:ext cx="278892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0xFF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56616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480559" y="3566160"/>
            <a:ext cx="64008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81727" y="3730752"/>
            <a:ext cx="28803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7" y="4224528"/>
            <a:ext cx="288036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long literal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4160520"/>
            <a:ext cx="278892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20L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56616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29600" y="3566160"/>
            <a:ext cx="64008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30768" y="3730752"/>
            <a:ext cx="28803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Floating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4224528"/>
            <a:ext cx="288036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decimal value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160520"/>
            <a:ext cx="278892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3.14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577840"/>
            <a:ext cx="103327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Literal-এর format দেখে compiler value-এর ধরন বুঝতে পারে।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3C42E3-3231-490D-D741-7520F576B7BB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2167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LITERALS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29023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Character, Boolean ও String Literals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8828" y="6428232"/>
            <a:ext cx="28405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2148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1618488"/>
            <a:ext cx="4791455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1768176" cy="81560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char grade = 'A';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boolean passed = true;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String name = "Java";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120640" cy="2148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9088" y="1673351"/>
            <a:ext cx="4754879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মনে রাখুন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67128"/>
            <a:ext cx="4754879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Character → single quotes: 'A'
String → double quotes: "Java"
Boolean → true / 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3327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Literal-এর value এবং variable-এর data type একসঙ্গে কাজ করে।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754880"/>
            <a:ext cx="6675120" cy="1143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7792" y="4864608"/>
            <a:ext cx="634593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076974"/>
            <a:ext cx="1484445" cy="81560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int num = 10;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double pi = 3.14159;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char ch = 'A';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66B68E-5968-8703-45FC-04C1BC1EB0C6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3869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95277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 কী?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0812" y="6428232"/>
            <a:ext cx="2920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69848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 হলো memory-তে data রাখার জন্য একটি named location / container।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331720"/>
            <a:ext cx="411480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0160" y="2578608"/>
            <a:ext cx="13716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54680"/>
            <a:ext cx="82296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154680"/>
            <a:ext cx="10972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154680"/>
            <a:ext cx="73152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86200"/>
            <a:ext cx="29260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name →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331720"/>
            <a:ext cx="5166360" cy="2331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25312" y="2441448"/>
            <a:ext cx="483717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770632"/>
            <a:ext cx="1710468" cy="56169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int age = 25;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String name = "Ruhul";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257800"/>
            <a:ext cx="832104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Data Type + Variable Name + 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FEF398-ADD7-A717-A4D5-5668A9BCBB95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3869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613821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 Declaration — Syntax ও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7224" y="6428232"/>
            <a:ext cx="2856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486400" cy="2148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1618488"/>
            <a:ext cx="515721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2515176" cy="81560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DataType VariableName;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DataType VariableName = value;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508760"/>
            <a:ext cx="4709160" cy="2148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37960" y="1508760"/>
            <a:ext cx="64008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39128" y="1673351"/>
            <a:ext cx="434340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উদাহরণ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2167128"/>
            <a:ext cx="4343400" cy="11510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 radius;
float price;
double area;
boolean passed;
char grade;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1051560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Declaration-এর সময় variable-এর data type নির্ধারণ করা হয়। পরে variable-এর মাধ্যমে সেই value ব্যবহার করা যায়।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892040"/>
            <a:ext cx="813816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76272" y="5001768"/>
            <a:ext cx="780897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330952"/>
            <a:ext cx="2899896" cy="56169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int radius = 10;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double area = 3.14159 * radius * radius;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C304D-9F52-9514-39C1-F9047028A5C3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3869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64449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Multiple Variables একসঙ্গে Declare করা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2416" y="6428232"/>
            <a:ext cx="2904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21945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1618488"/>
            <a:ext cx="4791455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1340175" cy="1069524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int length, width;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float PI, Area;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double d;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boolean b;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074920" cy="21945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9088" y="1673351"/>
            <a:ext cx="4709159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Comma (,) ব্যবহার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67128"/>
            <a:ext cx="4709159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একই data type-এর একাধিক variable একই statement-এ declare করা যায়।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8288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উদাহরণ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26280"/>
            <a:ext cx="64008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7552" y="4636008"/>
            <a:ext cx="607161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65192"/>
            <a:ext cx="1817870" cy="307777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int a = 10, b = 20, c = 30;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160520"/>
            <a:ext cx="3520440" cy="1417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35240" y="416052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36408" y="432511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4818888"/>
            <a:ext cx="315468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একই type-এর logically related variable হলে grouped declaration ব্যবহার করা যেতে পারে।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FB9163-D020-434A-8A02-7122ACE6D8DD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3869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434606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 Naming Convention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8828" y="6428232"/>
            <a:ext cx="28405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69848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ভেরিয়েবলের নামকরণে পাঠ্যবইয়ে কয়েকটি গুরুত্বপূর্ণ নিয়ম উল্লেখ করা হয়েছে: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424160" cy="193540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F2937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অক্ষর (a–z, A–Z), digit (0–9), underscore (_) ব্যবহার করা যায়।</a:t>
            </a:r>
          </a:p>
          <a:p>
            <a:pPr>
              <a:spcAft>
                <a:spcPts val="700"/>
              </a:spcAft>
              <a:defRPr sz="1550">
                <a:solidFill>
                  <a:srgbClr val="1F2937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নামের শুরুতে digit ব্যবহার করা যায় না।</a:t>
            </a:r>
          </a:p>
          <a:p>
            <a:pPr>
              <a:spcAft>
                <a:spcPts val="700"/>
              </a:spcAft>
              <a:defRPr sz="1550">
                <a:solidFill>
                  <a:srgbClr val="1F2937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Variable name-এর মাঝে space রাখা যায় না।</a:t>
            </a:r>
          </a:p>
          <a:p>
            <a:pPr>
              <a:spcAft>
                <a:spcPts val="700"/>
              </a:spcAft>
              <a:defRPr sz="1550">
                <a:solidFill>
                  <a:srgbClr val="1F2937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Java case-sensitive: RollNo, rollno, RollNo1 আলাদা identifier।</a:t>
            </a:r>
          </a:p>
          <a:p>
            <a:pPr>
              <a:spcAft>
                <a:spcPts val="700"/>
              </a:spcAft>
              <a:defRPr sz="1550">
                <a:solidFill>
                  <a:srgbClr val="1F2937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Keyword-কে variable name হিসেবে ব্যবহার করা যায় না।</a:t>
            </a:r>
          </a:p>
          <a:p>
            <a:pPr>
              <a:spcAft>
                <a:spcPts val="700"/>
              </a:spcAft>
              <a:defRPr sz="1550">
                <a:solidFill>
                  <a:srgbClr val="1F2937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অর্থবহ নাম ব্যবহার করা ভালো—যেমন: radius, totalMarks, studentName।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577840"/>
            <a:ext cx="914400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5609844"/>
            <a:ext cx="9144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10B98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596128"/>
            <a:ext cx="484632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studentName   total_marks   rollNo1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577840"/>
            <a:ext cx="1051560" cy="38404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5609844"/>
            <a:ext cx="105156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DC2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INVALID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596128"/>
            <a:ext cx="27432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1stName   roll no   class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1A2A8C-B5A2-0E5D-51B9-B8556F210A2B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25386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SCOPE &amp; LIFETIME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97791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Scope — Variable কোথায় ব্যবহার করা যাবে?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2416" y="6428232"/>
            <a:ext cx="2904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166360" cy="3383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64008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1719072"/>
            <a:ext cx="480060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12848"/>
            <a:ext cx="48006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কোন variable program-এর কোন অংশে access / ব্যবহার করা যাবে—তার পরিধি।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166360" cy="33832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64008" cy="3383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0528" y="1719072"/>
            <a:ext cx="4800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Type Modifiers-এর প্রসঙ্গ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212848"/>
            <a:ext cx="4800600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পাঠ্যবইয়ে scope আলোচনায় abstract, final, native, static, synchronized, transient, volatile ইত্যাদি modifier-এর নাম উল্লেখ করা হয়েছে।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33272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Scope = কোথায় variable visible / accessible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A83386-680D-58A0-1363-722C43DCD19A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25386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SCOPE &amp; LIFETIME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59159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Lifetime — Variable কতক্ষণ বেঁচে থাকে?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4018" y="6428232"/>
            <a:ext cx="28886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6984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Variable-এর Lifetime হলো variable-এর value memory-তে কত সময় পর্যন্ত বিদ্যমান থাকতে পারে।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3246120"/>
            <a:ext cx="99669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97280" y="29260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128016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" y="3749039"/>
            <a:ext cx="2286000" cy="2662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Declaration / initialization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92608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128016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9" y="3749039"/>
            <a:ext cx="2286000" cy="2662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Scope-এর মধ্যে ব্যবহার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292608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9560" y="2331720"/>
            <a:ext cx="128016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749039"/>
            <a:ext cx="2286000" cy="2662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Scope / execution শেষ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00600"/>
            <a:ext cx="10424160" cy="8686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480060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" y="4965192"/>
            <a:ext cx="100584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সহজভাবে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5458968"/>
            <a:ext cx="10058400" cy="2662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যে context-এ variable তৈরি হয়েছে, সেই context-এর নিয়ম অনুযায়ী তার access ও lifetime নির্ধারিত হয়।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E79E04-686B-9756-B4C0-2D39C5293115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3869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13794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Dynamic Initialization of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7988" y="6428232"/>
            <a:ext cx="30489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698480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Dynamic initialization অর্থ—variable-এর value declaration-এর সময় fixed literal না দিয়ে expression / runtime result থেকে নির্ধারিত হওয়া।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4846320" cy="2651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532888"/>
            <a:ext cx="451713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936218" cy="1577355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int x;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x = 10;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int y = 20;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int z = x + y;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423160"/>
            <a:ext cx="5074920" cy="26517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89320" y="2423160"/>
            <a:ext cx="64008" cy="2651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0488" y="2587752"/>
            <a:ext cx="4709159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কীভাবে বুঝবেন?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081528"/>
            <a:ext cx="4709159" cy="132036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আগে variable declare হতে পারে
• পরে value assign করা যায়
• expression-এর result variable-এ রাখা যায়
এতে program execution-এর সময় value নির্ধারণের flexibility পাওয়া যায়।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40680"/>
            <a:ext cx="1005840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Declaration → Initialization → Use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68411A-F8B8-B7F1-E82C-342C34BB802A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7259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65571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 নজরে — Data Types বনাম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7224" y="6428232"/>
            <a:ext cx="2856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212080" cy="3566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64008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162763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Data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21408"/>
            <a:ext cx="484632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Value-এর ধরন নির্ধারণ করে
• Primitive / Non-Primitive
• Memory ও operations-এর সঙ্গে সম্পর্কিত
• উদাহরণ: int, double, char, boolean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212080" cy="35661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64008" cy="3566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4807" y="162763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121408"/>
            <a:ext cx="484632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Named storage location
• Declaration ও initialization দরকার
• Naming rules মানতে হয়
• Scope ও lifetime আছে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5349240"/>
            <a:ext cx="141732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0" y="5381244"/>
            <a:ext cx="141732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DATA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358384"/>
            <a:ext cx="45720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5349240"/>
            <a:ext cx="1325880" cy="38404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83480" y="5381244"/>
            <a:ext cx="132588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VARIABLE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358384"/>
            <a:ext cx="45720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5349240"/>
            <a:ext cx="1143000" cy="38404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6600" y="5381244"/>
            <a:ext cx="11430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VALUE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FDBF1F-77C4-3037-AD2B-594B95DDCB43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6014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42969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Classroom Practice — Code দেখে বলুন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12798" y="6428232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4008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1527048"/>
            <a:ext cx="6071616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3055388" cy="233910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public class Demo {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    public static void main(String[] args) {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        int age = 25;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        double price = 99.50;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        char grade = 'A';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        boolean passed = true;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        String name = "Ruhul";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    }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417320"/>
            <a:ext cx="3931920" cy="43891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06640" y="1417320"/>
            <a:ext cx="64008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07808" y="1581912"/>
            <a:ext cx="356616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প্রশ্ন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075688"/>
            <a:ext cx="3566160" cy="215135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1. কোনগুলো Primitive?
2. কোনটি Non-Primitive?
3. কোনগুলো Integer / Floating?
4. কোন variable-এর value true?
5. কোন literal single quotes-এ?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E3C7B4-46EB-5826-63EE-89B7872DB398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509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336342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Quick Check — ৫টি প্রশ্ন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77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14400" y="6428232"/>
            <a:ext cx="2984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0561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1527048"/>
            <a:ext cx="10058400" cy="2970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১. Java-এর Primitive Data Type কয়টি?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13432"/>
            <a:ext cx="1056132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10058400" cy="2970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২. int ও long-এর মধ্যে প্রধান পার্থক্য কী?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09544"/>
            <a:ext cx="10561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58400" cy="2970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৩. 'A' এবং "A" — এদের data type এক কি?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05656"/>
            <a:ext cx="1056132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4215384"/>
            <a:ext cx="10058400" cy="2970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৪. Variable naming-এ digit কোথায় ব্যবহার করা যায় না?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01768"/>
            <a:ext cx="10561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5111496"/>
            <a:ext cx="10058400" cy="2970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৫. Dynamic initialization বলতে কী বোঝায়?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7722AD-5497-3E5F-0904-4463F33F71EC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7432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CHAPTER 02 •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6400800" cy="52014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আজকের মূল বিষয়গুলো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7498079" cy="137114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2E8F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Data Types → Primitive / Non-Primitive / Literals</a:t>
            </a:r>
          </a:p>
          <a:p>
            <a:pPr>
              <a:spcAft>
                <a:spcPts val="700"/>
              </a:spcAft>
              <a:defRPr sz="1700">
                <a:solidFill>
                  <a:srgbClr val="E2E8F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Primitive → byte, short, int, long, float, double, char, boolean</a:t>
            </a:r>
          </a:p>
          <a:p>
            <a:pPr>
              <a:spcAft>
                <a:spcPts val="700"/>
              </a:spcAft>
              <a:defRPr sz="1700">
                <a:solidFill>
                  <a:srgbClr val="E2E8F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Variables → declaration, naming, scope, lifetime</a:t>
            </a:r>
          </a:p>
          <a:p>
            <a:pPr>
              <a:spcAft>
                <a:spcPts val="700"/>
              </a:spcAft>
              <a:defRPr sz="1700">
                <a:solidFill>
                  <a:srgbClr val="E2E8F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Dynamic initialization → execution-dependent value assignment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645920"/>
            <a:ext cx="2743200" cy="3246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03920" y="1645920"/>
            <a:ext cx="64008" cy="3246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05088" y="1810512"/>
            <a:ext cx="237744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5088" y="2304288"/>
            <a:ext cx="2377440" cy="17974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এই chapter-এর concept ব্যবহার করে ছোট Java programs লিখুন।
Practice:
• variable declaration
• arithmetic
• type-based values
•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32120"/>
            <a:ext cx="274320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ধন্যবাদ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623560"/>
            <a:ext cx="31089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LEARN • CODE • SUCCEED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280237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CBD5E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02 • Data Types &amp;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06386" y="6428232"/>
            <a:ext cx="30649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CBD5E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A1187-6FF3-B895-A6B1-294F829E0569}"/>
              </a:ext>
            </a:extLst>
          </p:cNvPr>
          <p:cNvSpPr txBox="1"/>
          <p:nvPr/>
        </p:nvSpPr>
        <p:spPr>
          <a:xfrm>
            <a:off x="3616012" y="6473952"/>
            <a:ext cx="42867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Md. Ruhul Amin 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Junior Instructor (Dept. Of  CST)</a:t>
            </a:r>
            <a:r>
              <a:rPr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• </a:t>
            </a:r>
            <a:r>
              <a:rPr lang="en-US" sz="850" dirty="0" err="1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Kushtia</a:t>
            </a:r>
            <a:r>
              <a:rPr lang="en-US" sz="850" dirty="0">
                <a:solidFill>
                  <a:srgbClr val="FF000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Govt. Polytechnic Institute</a:t>
            </a:r>
            <a:endParaRPr sz="850" dirty="0">
              <a:solidFill>
                <a:srgbClr val="FF0000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2307</Words>
  <Application>Microsoft Office PowerPoint</Application>
  <PresentationFormat>Widescreen</PresentationFormat>
  <Paragraphs>389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Hind Siliguri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 — Chapter 02: Data Types and Variables</dc:title>
  <dc:subject>Professional classroom presentation based on uploaded Bangla textbook chapter</dc:subject>
  <dc:creator>Md. Ruhul Amin</dc:creator>
  <cp:keywords>Java, Data Types, Variables, Primitive, Literals, Scope, Lifetime</cp:keywords>
  <dc:description>generated using python-pptx</dc:description>
  <cp:lastModifiedBy>Ruhul Amin</cp:lastModifiedBy>
  <cp:revision>18</cp:revision>
  <dcterms:created xsi:type="dcterms:W3CDTF">2013-01-27T09:14:16Z</dcterms:created>
  <dcterms:modified xsi:type="dcterms:W3CDTF">2026-10-15T04:07:36Z</dcterms:modified>
  <cp:category/>
</cp:coreProperties>
</file>