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75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457200" y="640080"/>
            <a:ext cx="1097280" cy="1097280"/>
          </a:xfrm>
          <a:prstGeom prst="ellipse">
            <a:avLst/>
          </a:prstGeom>
          <a:solidFill>
            <a:srgbClr val="21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789920" y="5212080"/>
            <a:ext cx="914400" cy="914400"/>
          </a:xfrm>
          <a:prstGeom prst="ellipse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9875520" y="731520"/>
            <a:ext cx="502920" cy="502920"/>
          </a:xfrm>
          <a:prstGeom prst="ellipse">
            <a:avLst/>
          </a:prstGeom>
          <a:solidFill>
            <a:srgbClr val="EB7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97280" y="5394960"/>
            <a:ext cx="640080" cy="640080"/>
          </a:xfrm>
          <a:prstGeom prst="ellipse">
            <a:avLst/>
          </a:prstGeom>
          <a:solidFill>
            <a:srgbClr val="219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40454" y="1554480"/>
            <a:ext cx="528061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কম্পিউটারের ডিভাইসসমূহ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8380" y="2880360"/>
            <a:ext cx="450475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>
                <a:solidFill>
                  <a:srgbClr val="E1EEFA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ইনপুট • আউটপুট • I/O • মেমোরি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7082" y="4937760"/>
            <a:ext cx="204735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শিক্ষামূলক উপস্থাপনা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8607" y="4160520"/>
            <a:ext cx="426430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Bengali"/>
              </a:defRPr>
            </a:pPr>
            <a:r>
              <a:rPr lang="en-US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মোঃ</a:t>
            </a:r>
            <a:r>
              <a:rPr lang="en-US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lang="en-US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রুহুল</a:t>
            </a:r>
            <a:r>
              <a:rPr lang="en-US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lang="en-US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আমিন</a:t>
            </a:r>
            <a:r>
              <a:rPr lang="en-US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(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জুনিয়র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ইন্সট্রাক্টর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93728" y="91440"/>
            <a:ext cx="477406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কম্পিউটারের ৫টি আউটপুট ডিভাইস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1904" y="804672"/>
            <a:ext cx="28777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F6973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সংযুক্ত ছবিটি ব্যবহার করে সাজানো হয়েছে</a:t>
            </a:r>
          </a:p>
        </p:txBody>
      </p:sp>
      <p:pic>
        <p:nvPicPr>
          <p:cNvPr id="6" name="Picture 5" descr="ChatGPT Image Oct 4, 2026, 10_18_37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11365992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93887" y="6519672"/>
            <a:ext cx="174759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কম্পিউটার হার্ডওয়্যার ও ডিভাইসসমূহ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22156" y="91440"/>
            <a:ext cx="431720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কম্পিউটারের ৫টি ইনপুট ডিভাইস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1904" y="804672"/>
            <a:ext cx="28777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F6973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সংযুক্ত ছবিটি ব্যবহার করে সাজানো হয়েছে</a:t>
            </a:r>
          </a:p>
        </p:txBody>
      </p:sp>
      <p:pic>
        <p:nvPicPr>
          <p:cNvPr id="6" name="Picture 5" descr="ChatGPT Image Oct 4, 2026, 10_18_44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11365992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97093" y="6519672"/>
            <a:ext cx="174438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কম্পিউটার হার্ডওয়্যার ও ডিভাইসসমূহ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74254" y="91440"/>
            <a:ext cx="42130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ইনপুট–আউটপুট (I/O) ডিভাইস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96833" y="804672"/>
            <a:ext cx="316785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F6973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একই সঙ্গে তথ্য গ্রহণ ও প্রদান করতে পারে—চিত্রসহ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5204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pic>
        <p:nvPicPr>
          <p:cNvPr id="8" name="Picture 7" descr="touch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433896"/>
            <a:ext cx="3118104" cy="13258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12648" y="1344168"/>
            <a:ext cx="347472" cy="347472"/>
          </a:xfrm>
          <a:prstGeom prst="ellipse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8528" y="2741488"/>
            <a:ext cx="90922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09DA6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টাচস্ক্রিন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098104"/>
            <a:ext cx="3191256" cy="446276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150">
                <a:solidFill>
                  <a:srgbClr val="232D37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ইনপুট: স্পর্শের নির্দেশ গ্রহণ</a:t>
            </a:r>
            <a:br>
              <a:rPr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আউটপুট: স্ক্রিনে তথ্য প্রদর্শন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234440"/>
            <a:ext cx="35204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pic>
        <p:nvPicPr>
          <p:cNvPr id="13" name="Picture 12" descr="mf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1415215"/>
            <a:ext cx="3118104" cy="1325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42132" y="2722807"/>
            <a:ext cx="1904688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19D6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মাল্টিফাংশন প্রিন্টার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079423"/>
            <a:ext cx="3191256" cy="446276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150">
                <a:solidFill>
                  <a:srgbClr val="232D37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ইনপুট: স্ক্যান করে তথ্য নেয়</a:t>
            </a:r>
            <a:br>
              <a:rPr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আউটপুট: কাগজে প্রিন্ট করে</a:t>
            </a:r>
          </a:p>
        </p:txBody>
      </p:sp>
      <p:sp>
        <p:nvSpPr>
          <p:cNvPr id="12" name="Oval 11"/>
          <p:cNvSpPr/>
          <p:nvPr/>
        </p:nvSpPr>
        <p:spPr>
          <a:xfrm>
            <a:off x="4443984" y="1344168"/>
            <a:ext cx="347472" cy="347472"/>
          </a:xfrm>
          <a:prstGeom prst="ellipse">
            <a:avLst/>
          </a:prstGeom>
          <a:solidFill>
            <a:srgbClr val="219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65592" y="1234440"/>
            <a:ext cx="35204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7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pic>
        <p:nvPicPr>
          <p:cNvPr id="18" name="Picture 17" descr="mod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422782"/>
            <a:ext cx="3118104" cy="132588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8275319" y="1344168"/>
            <a:ext cx="347472" cy="347472"/>
          </a:xfrm>
          <a:prstGeom prst="ellipse">
            <a:avLst/>
          </a:prstGeom>
          <a:solidFill>
            <a:srgbClr val="EB7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6615" y="2730374"/>
            <a:ext cx="67839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EB7E1B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মডেম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3086990"/>
            <a:ext cx="3191256" cy="446276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150">
                <a:solidFill>
                  <a:srgbClr val="232D37"/>
                </a:solidFill>
                <a:latin typeface="Noto Sans Bengali"/>
              </a:defRPr>
            </a:pP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ইনপুট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: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নেটওয়ার্ক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থেকে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ডেটা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নেয়</a:t>
            </a:r>
            <a:b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আউটপুট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: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নেটওয়ার্কে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ডেটা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পাঠায়</a:t>
            </a:r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414016" y="3886200"/>
            <a:ext cx="35204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pic>
        <p:nvPicPr>
          <p:cNvPr id="23" name="Picture 22" descr="us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5184" y="4210812"/>
            <a:ext cx="3118104" cy="1325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380589" y="5518404"/>
            <a:ext cx="158729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5C4EAA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USB ফ্ল্যাশ ড্রাইভ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8608" y="5875020"/>
            <a:ext cx="3191256" cy="269304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150">
                <a:solidFill>
                  <a:srgbClr val="232D37"/>
                </a:solidFill>
                <a:latin typeface="Noto Sans Bengali"/>
              </a:defRPr>
            </a:pP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ডেটা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গ্রহণ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,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সংরক্ষণ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ও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কম্পিউটারে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প্রদান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করে</a:t>
            </a:r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2523744" y="3995928"/>
            <a:ext cx="347472" cy="347472"/>
          </a:xfrm>
          <a:prstGeom prst="ellipse">
            <a:avLst/>
          </a:prstGeom>
          <a:solidFill>
            <a:srgbClr val="5C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3886200"/>
            <a:ext cx="35204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pic>
        <p:nvPicPr>
          <p:cNvPr id="28" name="Picture 27" descr="n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187952"/>
            <a:ext cx="3118104" cy="1325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37710" y="5495544"/>
            <a:ext cx="53572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17EBE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NIC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5852160"/>
            <a:ext cx="3191256" cy="269304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 sz="1150">
                <a:solidFill>
                  <a:srgbClr val="232D37"/>
                </a:solidFill>
                <a:latin typeface="Noto Sans Bengali"/>
              </a:defRPr>
            </a:pP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নেটওয়ার্ক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থেকে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ডেটা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গ্রহণ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এবং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নেটওয়ার্কে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ডেটা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প্রেরণ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করে</a:t>
            </a:r>
            <a:endParaRPr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355080" y="3995928"/>
            <a:ext cx="347472" cy="347472"/>
          </a:xfrm>
          <a:prstGeom prst="ellipse">
            <a:avLst/>
          </a:prstGeom>
          <a:solidFill>
            <a:srgbClr val="21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89077" y="6519672"/>
            <a:ext cx="17524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কম্পিউটার হার্ডওয়্যার ও ডিভাইসসমূহ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1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31348" y="91440"/>
            <a:ext cx="389882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১. SSD (Solid State Drive)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14415" y="804672"/>
            <a:ext cx="23326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F6973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দ্রুতগতির আধুনিক স্থায়ী স্টোরেজ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4023360" cy="2331720"/>
          </a:xfrm>
          <a:prstGeom prst="roundRect">
            <a:avLst/>
          </a:prstGeom>
          <a:solidFill>
            <a:srgbClr val="232A32"/>
          </a:solidFill>
          <a:ln>
            <a:solidFill>
              <a:srgbClr val="21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31647" y="1600200"/>
            <a:ext cx="931665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SSD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154680"/>
            <a:ext cx="777240" cy="164592"/>
          </a:xfrm>
          <a:prstGeom prst="rect">
            <a:avLst/>
          </a:prstGeom>
          <a:solidFill>
            <a:srgbClr val="21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83080" y="3154680"/>
            <a:ext cx="777240" cy="164592"/>
          </a:xfrm>
          <a:prstGeom prst="rect">
            <a:avLst/>
          </a:prstGeom>
          <a:solidFill>
            <a:srgbClr val="21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06040" y="3154680"/>
            <a:ext cx="777240" cy="164592"/>
          </a:xfrm>
          <a:prstGeom prst="rect">
            <a:avLst/>
          </a:prstGeom>
          <a:solidFill>
            <a:srgbClr val="21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29000" y="3154680"/>
            <a:ext cx="777240" cy="164592"/>
          </a:xfrm>
          <a:prstGeom prst="rect">
            <a:avLst/>
          </a:prstGeom>
          <a:solidFill>
            <a:srgbClr val="217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74920" y="1234440"/>
            <a:ext cx="63093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76088" y="1371600"/>
            <a:ext cx="8226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7EBE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বিবরণ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1892808"/>
            <a:ext cx="5907024" cy="28238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232D37"/>
                </a:solidFill>
                <a:latin typeface="Noto Sans Bengali"/>
              </a:defRPr>
            </a:pP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• Flash Memory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ব্যবহার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করে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তথ্য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সংরক্ষণ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করে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  <a:b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কোনো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চলমান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যান্ত্রিক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অংশ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নেই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  <a:b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• HDD-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এর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তুলনায়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দ্রুত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এবং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নীরব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  <a:b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বিদ্যু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ৎ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বন্ধ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হলেও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তথ্য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সংরক্ষিত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থাকে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  <a:b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অপারেটিং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সিস্টেম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,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সফটওয়্যার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ও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ফাইল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সংরক্ষণে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ব্যবহৃত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0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হয়</a:t>
            </a:r>
            <a:r>
              <a:rPr sz="20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0681" y="6519672"/>
            <a:ext cx="175079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কম্পিউটার হার্ডওয়্যার ও ডিভাইসসমূহ  • 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EB7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98623" y="91440"/>
            <a:ext cx="296427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২. Hard Disk (HDD)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5523" y="804672"/>
            <a:ext cx="243047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F6973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চৌম্বকীয় ডিস্কভিত্তিক স্থায়ী স্টোরেজ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4023360" cy="2331720"/>
          </a:xfrm>
          <a:prstGeom prst="roundRect">
            <a:avLst/>
          </a:prstGeom>
          <a:solidFill>
            <a:srgbClr val="3C4146"/>
          </a:solidFill>
          <a:ln>
            <a:solidFill>
              <a:srgbClr val="EB7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97280" y="1645919"/>
            <a:ext cx="1678838" cy="1678838"/>
          </a:xfrm>
          <a:prstGeom prst="ellipse">
            <a:avLst/>
          </a:prstGeom>
          <a:solidFill>
            <a:srgbClr val="B4B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820113" y="2368753"/>
            <a:ext cx="201168" cy="201168"/>
          </a:xfrm>
          <a:prstGeom prst="ellipse">
            <a:avLst/>
          </a:prstGeom>
          <a:solidFill>
            <a:srgbClr val="EB7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20440" y="1783080"/>
            <a:ext cx="81624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HDD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234440"/>
            <a:ext cx="63093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7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76088" y="1371600"/>
            <a:ext cx="8226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B7E1B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বিবরণ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1892808"/>
            <a:ext cx="5907024" cy="3370153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232D37"/>
                </a:solidFill>
                <a:latin typeface="Noto Sans Bengali"/>
              </a:defRPr>
            </a:pP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চৌম্বকীয়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প্ল্যাটারে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তথ্য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সংরক্ষণ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করে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  <a:b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সাধারণত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SSD-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এর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তুলনায়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ধীর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,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তবে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কম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খরচে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বড়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ধারণক্ষমতা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পাওয়া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যায়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  <a:b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বিদ্যু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ৎ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বন্ধ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হলেও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তথ্য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থাকে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  <a:b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ছবি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,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ভিডিও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,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সফটওয়্যার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ও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ব্যাকআপ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সংরক্ষণে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ব্যবহৃত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হয়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8695" y="6519672"/>
            <a:ext cx="174278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কম্পিউটার হার্ডওয়্যার ও ডিভাইসসমূহ  • 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4346" y="91440"/>
            <a:ext cx="283282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৩. Cache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0345" y="804672"/>
            <a:ext cx="326082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F6973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CPU-কে দ্রুত তথ্য সরবরাহকারী উচ্চগতির মেমোরি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886200" cy="2148840"/>
          </a:xfrm>
          <a:prstGeom prst="roundRect">
            <a:avLst/>
          </a:prstGeom>
          <a:solidFill>
            <a:srgbClr val="2D303A"/>
          </a:solidFill>
          <a:ln w="38100">
            <a:solidFill>
              <a:srgbClr val="00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43000" y="1874519"/>
            <a:ext cx="3063240" cy="1234440"/>
          </a:xfrm>
          <a:prstGeom prst="rect">
            <a:avLst/>
          </a:prstGeom>
          <a:solidFill>
            <a:srgbClr val="5A5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76352" y="2176272"/>
            <a:ext cx="139653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CACHE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160020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52728" y="160020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609344" y="160020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65960" y="160020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22576" y="160020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679192" y="160020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35808" y="160020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92424" y="160020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749039" y="160020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05656" y="160020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96112" y="338328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52728" y="338328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609344" y="338328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965960" y="338328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322576" y="338328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679192" y="338328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035808" y="338328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392424" y="338328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749039" y="338328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105656" y="3383280"/>
            <a:ext cx="64008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074920" y="1234440"/>
            <a:ext cx="63093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5221224" y="1380744"/>
            <a:ext cx="457200" cy="457200"/>
          </a:xfrm>
          <a:prstGeom prst="ellipse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88152" y="1344168"/>
            <a:ext cx="792205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9DA6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বিবরণ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1892808"/>
            <a:ext cx="58521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D37"/>
                </a:solidFill>
                <a:latin typeface="Noto Sans Bengali"/>
              </a:defRPr>
            </a:pPr>
            <a:r>
              <a:rPr sz="2000">
                <a:latin typeface="Hind Siliguri" panose="02000000000000000000" pitchFamily="2" charset="0"/>
                <a:cs typeface="Hind Siliguri" panose="02000000000000000000" pitchFamily="2" charset="0"/>
              </a:rPr>
              <a:t>• Cache Memory হলো CPU-এর খুব কাছাকাছি থাকা উচ্চগতির মেমোরি।</a:t>
            </a:r>
            <a:br>
              <a:rPr sz="200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sz="2000">
                <a:latin typeface="Hind Siliguri" panose="02000000000000000000" pitchFamily="2" charset="0"/>
                <a:cs typeface="Hind Siliguri" panose="02000000000000000000" pitchFamily="2" charset="0"/>
              </a:rPr>
              <a:t>• CPU-তে বারবার প্রয়োজন হয় এমন ডেটা ও নির্দেশনা সাময়িকভাবে রাখে।</a:t>
            </a:r>
            <a:br>
              <a:rPr sz="200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sz="2000">
                <a:latin typeface="Hind Siliguri" panose="02000000000000000000" pitchFamily="2" charset="0"/>
                <a:cs typeface="Hind Siliguri" panose="02000000000000000000" pitchFamily="2" charset="0"/>
              </a:rPr>
              <a:t>• RAM-এর তুলনায় দ্রুত, তবে ধারণক্ষমতা সাধারণত কম।</a:t>
            </a:r>
            <a:br>
              <a:rPr sz="200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sz="2000">
                <a:latin typeface="Hind Siliguri" panose="02000000000000000000" pitchFamily="2" charset="0"/>
                <a:cs typeface="Hind Siliguri" panose="02000000000000000000" pitchFamily="2" charset="0"/>
              </a:rPr>
              <a:t>• CPU-এর কাজের গতি বাড়াতে ও অপেক্ষার সময় কমাতে সাহায্য করে।</a:t>
            </a:r>
            <a:br>
              <a:rPr sz="200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sz="2000">
                <a:latin typeface="Hind Siliguri" panose="02000000000000000000" pitchFamily="2" charset="0"/>
                <a:cs typeface="Hind Siliguri" panose="02000000000000000000" pitchFamily="2" charset="0"/>
              </a:rPr>
              <a:t>• Cache-এর সাধারণ স্তর: L1, L2 ও L3।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90681" y="6519672"/>
            <a:ext cx="175079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কম্পিউটার হার্ডওয়্যার ও ডিভাইসসমূহ  •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9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Noto Sans Bengali"/>
              </a:defRPr>
            </a:pPr>
            <a:r>
              <a:t>৪. RAM (Random Access Memory)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F6973"/>
                </a:solidFill>
                <a:latin typeface="Noto Sans Bengali"/>
              </a:defRPr>
            </a:pPr>
            <a:r>
              <a:t>কম্পিউটারের অস্থায়ী ও দ্রুত মেমোরি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4023360" cy="1282446"/>
          </a:xfrm>
          <a:prstGeom prst="roundRect">
            <a:avLst/>
          </a:prstGeom>
          <a:solidFill>
            <a:srgbClr val="145A37"/>
          </a:solidFill>
          <a:ln>
            <a:solidFill>
              <a:srgbClr val="00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801368"/>
            <a:ext cx="411480" cy="536295"/>
          </a:xfrm>
          <a:prstGeom prst="rect">
            <a:avLst/>
          </a:prstGeom>
          <a:solidFill>
            <a:srgbClr val="19191E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03020" y="1801368"/>
            <a:ext cx="411480" cy="536295"/>
          </a:xfrm>
          <a:prstGeom prst="rect">
            <a:avLst/>
          </a:prstGeom>
          <a:solidFill>
            <a:srgbClr val="19191E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37360" y="1801368"/>
            <a:ext cx="411480" cy="536295"/>
          </a:xfrm>
          <a:prstGeom prst="rect">
            <a:avLst/>
          </a:prstGeom>
          <a:solidFill>
            <a:srgbClr val="19191E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71700" y="1801368"/>
            <a:ext cx="411480" cy="536295"/>
          </a:xfrm>
          <a:prstGeom prst="rect">
            <a:avLst/>
          </a:prstGeom>
          <a:solidFill>
            <a:srgbClr val="19191E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06040" y="1801368"/>
            <a:ext cx="411480" cy="536295"/>
          </a:xfrm>
          <a:prstGeom prst="rect">
            <a:avLst/>
          </a:prstGeom>
          <a:solidFill>
            <a:srgbClr val="19191E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40380" y="1801368"/>
            <a:ext cx="411480" cy="536295"/>
          </a:xfrm>
          <a:prstGeom prst="rect">
            <a:avLst/>
          </a:prstGeom>
          <a:solidFill>
            <a:srgbClr val="19191E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801368"/>
            <a:ext cx="411480" cy="536295"/>
          </a:xfrm>
          <a:prstGeom prst="rect">
            <a:avLst/>
          </a:prstGeom>
          <a:solidFill>
            <a:srgbClr val="19191E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09060" y="1801368"/>
            <a:ext cx="411480" cy="536295"/>
          </a:xfrm>
          <a:prstGeom prst="rect">
            <a:avLst/>
          </a:prstGeom>
          <a:solidFill>
            <a:srgbClr val="19191E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237890"/>
            <a:ext cx="64008" cy="228600"/>
          </a:xfrm>
          <a:prstGeom prst="rect">
            <a:avLst/>
          </a:prstGeom>
          <a:solidFill>
            <a:srgbClr val="D2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35380" y="3237890"/>
            <a:ext cx="64008" cy="228600"/>
          </a:xfrm>
          <a:prstGeom prst="rect">
            <a:avLst/>
          </a:prstGeom>
          <a:solidFill>
            <a:srgbClr val="D2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447800" y="3237890"/>
            <a:ext cx="64008" cy="228600"/>
          </a:xfrm>
          <a:prstGeom prst="rect">
            <a:avLst/>
          </a:prstGeom>
          <a:solidFill>
            <a:srgbClr val="D2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60220" y="3237890"/>
            <a:ext cx="64008" cy="228600"/>
          </a:xfrm>
          <a:prstGeom prst="rect">
            <a:avLst/>
          </a:prstGeom>
          <a:solidFill>
            <a:srgbClr val="D2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072640" y="3237890"/>
            <a:ext cx="64008" cy="228600"/>
          </a:xfrm>
          <a:prstGeom prst="rect">
            <a:avLst/>
          </a:prstGeom>
          <a:solidFill>
            <a:srgbClr val="D2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85060" y="3237890"/>
            <a:ext cx="64008" cy="228600"/>
          </a:xfrm>
          <a:prstGeom prst="rect">
            <a:avLst/>
          </a:prstGeom>
          <a:solidFill>
            <a:srgbClr val="D2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97480" y="3237890"/>
            <a:ext cx="64008" cy="228600"/>
          </a:xfrm>
          <a:prstGeom prst="rect">
            <a:avLst/>
          </a:prstGeom>
          <a:solidFill>
            <a:srgbClr val="D2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09900" y="3237890"/>
            <a:ext cx="64008" cy="228600"/>
          </a:xfrm>
          <a:prstGeom prst="rect">
            <a:avLst/>
          </a:prstGeom>
          <a:solidFill>
            <a:srgbClr val="D2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22320" y="3237890"/>
            <a:ext cx="64008" cy="228600"/>
          </a:xfrm>
          <a:prstGeom prst="rect">
            <a:avLst/>
          </a:prstGeom>
          <a:solidFill>
            <a:srgbClr val="D2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34740" y="3237890"/>
            <a:ext cx="64008" cy="228600"/>
          </a:xfrm>
          <a:prstGeom prst="rect">
            <a:avLst/>
          </a:prstGeom>
          <a:solidFill>
            <a:srgbClr val="D2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947160" y="3237890"/>
            <a:ext cx="64008" cy="228600"/>
          </a:xfrm>
          <a:prstGeom prst="rect">
            <a:avLst/>
          </a:prstGeom>
          <a:solidFill>
            <a:srgbClr val="D2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59580" y="3237890"/>
            <a:ext cx="64008" cy="228600"/>
          </a:xfrm>
          <a:prstGeom prst="rect">
            <a:avLst/>
          </a:prstGeom>
          <a:solidFill>
            <a:srgbClr val="D2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132588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9DA6"/>
                </a:solidFill>
                <a:latin typeface="Arial"/>
              </a:defRPr>
            </a:pPr>
            <a:r>
              <a:t>RAM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74920" y="1234440"/>
            <a:ext cx="63093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76088" y="1371600"/>
            <a:ext cx="58795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DA6"/>
                </a:solidFill>
                <a:latin typeface="Noto Sans Bengali"/>
              </a:defRPr>
            </a:pPr>
            <a:r>
              <a:t>বিবরণ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6088" y="1892808"/>
            <a:ext cx="5907024" cy="304698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Noto Sans Bengali"/>
              </a:defRPr>
            </a:pPr>
            <a:r>
              <a:rPr sz="2400">
                <a:latin typeface="Hind Siliguri" panose="02000000000000000000" pitchFamily="2" charset="0"/>
                <a:cs typeface="Hind Siliguri" panose="02000000000000000000" pitchFamily="2" charset="0"/>
              </a:rPr>
              <a:t>• CPU চলমান প্রোগ্রামের প্রয়োজনীয় তথ্য RAM-এ রাখে।</a:t>
            </a:r>
            <a:br>
              <a:rPr sz="240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sz="2400">
                <a:latin typeface="Hind Siliguri" panose="02000000000000000000" pitchFamily="2" charset="0"/>
                <a:cs typeface="Hind Siliguri" panose="02000000000000000000" pitchFamily="2" charset="0"/>
              </a:rPr>
              <a:t>• এটি Volatile Memory—বিদ্যুৎ বন্ধ হলে তথ্য মুছে যায়।</a:t>
            </a:r>
            <a:br>
              <a:rPr sz="240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sz="2400">
                <a:latin typeface="Hind Siliguri" panose="02000000000000000000" pitchFamily="2" charset="0"/>
                <a:cs typeface="Hind Siliguri" panose="02000000000000000000" pitchFamily="2" charset="0"/>
              </a:rPr>
              <a:t>• RAM বেশি হলে একসঙ্গে বেশি কাজ স্বচ্ছন্দে করা যায়।</a:t>
            </a:r>
            <a:br>
              <a:rPr sz="240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sz="2400">
                <a:latin typeface="Hind Siliguri" panose="02000000000000000000" pitchFamily="2" charset="0"/>
                <a:cs typeface="Hind Siliguri" panose="02000000000000000000" pitchFamily="2" charset="0"/>
              </a:rPr>
              <a:t>• কম্পিউটারের গতি ও multitasking-এ গুরুত্বপূর্ণ ভূমিকা রাখে।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519672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Noto Sans Bengali"/>
              </a:defRPr>
            </a:pPr>
            <a:r>
              <a:t>কম্পিউটার হার্ডওয়্যার ও ডিভাইসসমূহ  • 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5C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33190" y="91440"/>
            <a:ext cx="449514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৫. ROM (Read Only Memory)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42331" y="804672"/>
            <a:ext cx="327685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F6973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স্থায়ী নির্দেশনা ও ফার্মওয়্যার সংরক্ষণের মেমোরি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508760"/>
            <a:ext cx="3291840" cy="1965960"/>
          </a:xfrm>
          <a:prstGeom prst="roundRect">
            <a:avLst/>
          </a:prstGeom>
          <a:solidFill>
            <a:srgbClr val="2D303A"/>
          </a:solidFill>
          <a:ln>
            <a:solidFill>
              <a:srgbClr val="5C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17320" y="1920240"/>
            <a:ext cx="2560320" cy="1142999"/>
          </a:xfrm>
          <a:prstGeom prst="rect">
            <a:avLst/>
          </a:prstGeom>
          <a:solidFill>
            <a:srgbClr val="5A5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73939" y="2039112"/>
            <a:ext cx="104708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rial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ROM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600200"/>
            <a:ext cx="54864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60170" y="1600200"/>
            <a:ext cx="54864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805940" y="1600200"/>
            <a:ext cx="54864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51710" y="1600200"/>
            <a:ext cx="54864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97480" y="1600200"/>
            <a:ext cx="54864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143250" y="1600200"/>
            <a:ext cx="54864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89020" y="1600200"/>
            <a:ext cx="54864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034790" y="1600200"/>
            <a:ext cx="54864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3246120"/>
            <a:ext cx="54864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60170" y="3246120"/>
            <a:ext cx="54864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805940" y="3246120"/>
            <a:ext cx="54864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251710" y="3246120"/>
            <a:ext cx="54864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697480" y="3246120"/>
            <a:ext cx="54864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143250" y="3246120"/>
            <a:ext cx="54864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89020" y="3246120"/>
            <a:ext cx="54864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034790" y="3246120"/>
            <a:ext cx="54864" cy="146304"/>
          </a:xfrm>
          <a:prstGeom prst="rect">
            <a:avLst/>
          </a:prstGeom>
          <a:solidFill>
            <a:srgbClr val="DCA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74920" y="1234440"/>
            <a:ext cx="63093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76088" y="1371600"/>
            <a:ext cx="8226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C4EAA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বিবরণ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1892808"/>
            <a:ext cx="5907024" cy="304698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defRPr sz="1400">
                <a:solidFill>
                  <a:srgbClr val="232D37"/>
                </a:solidFill>
                <a:latin typeface="Noto Sans Bengali"/>
              </a:defRPr>
            </a:pP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• Non-volatile Memory—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বিদ্যু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ৎ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বন্ধ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হলেও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তথ্য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থাকে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  <a:b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কম্পিউটার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চালুর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প্রাথমিক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নির্দেশনা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/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ফার্মওয়্যার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সংরক্ষণে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ব্যবহৃত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হয়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  <a:b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সাধারণ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ব্যবহারে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RAM-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এর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মতো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ঘন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ঘন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পরিবর্তন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করা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হয়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না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  <a:b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•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স্থায়ী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ও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গুরুত্বপূর্ণ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সিস্টেম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নির্দেশনা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রাখার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জন্য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উপযোগী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5415" y="6519672"/>
            <a:ext cx="178606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কম্পিউটার হার্ডওয়্যার ও ডিভাইসসমূহ  •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30206" y="1508760"/>
            <a:ext cx="1701107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ধন্যবাদ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87879" y="2743200"/>
            <a:ext cx="418576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DCEBF8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ইনপুট • আউটপুট • I/O • মেমোরি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32098" y="4754880"/>
            <a:ext cx="30973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শিক্ষার্থীদের জন্য সহজবোধ্য উপস্থাপনা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496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Hind Siliguri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Student</dc:creator>
  <cp:keywords/>
  <dc:description>generated using python-pptx</dc:description>
  <cp:lastModifiedBy>Ruhul Amin</cp:lastModifiedBy>
  <cp:revision>5</cp:revision>
  <dcterms:created xsi:type="dcterms:W3CDTF">2013-01-27T09:14:16Z</dcterms:created>
  <dcterms:modified xsi:type="dcterms:W3CDTF">2026-10-11T05:06:12Z</dcterms:modified>
  <cp:category/>
</cp:coreProperties>
</file>